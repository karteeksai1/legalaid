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53"/>
  </p:notesMasterIdLst>
  <p:sldIdLst>
    <p:sldId id="256" r:id="rId2"/>
    <p:sldId id="265" r:id="rId3"/>
    <p:sldId id="271" r:id="rId4"/>
    <p:sldId id="262" r:id="rId5"/>
    <p:sldId id="285" r:id="rId6"/>
    <p:sldId id="331" r:id="rId7"/>
    <p:sldId id="332" r:id="rId8"/>
    <p:sldId id="333" r:id="rId9"/>
    <p:sldId id="334" r:id="rId10"/>
    <p:sldId id="335" r:id="rId11"/>
    <p:sldId id="336" r:id="rId12"/>
    <p:sldId id="337" r:id="rId13"/>
    <p:sldId id="338" r:id="rId14"/>
    <p:sldId id="292" r:id="rId15"/>
    <p:sldId id="288" r:id="rId16"/>
    <p:sldId id="293" r:id="rId17"/>
    <p:sldId id="294" r:id="rId18"/>
    <p:sldId id="295" r:id="rId19"/>
    <p:sldId id="296" r:id="rId20"/>
    <p:sldId id="298" r:id="rId21"/>
    <p:sldId id="300" r:id="rId22"/>
    <p:sldId id="299" r:id="rId23"/>
    <p:sldId id="297" r:id="rId24"/>
    <p:sldId id="301" r:id="rId25"/>
    <p:sldId id="304" r:id="rId26"/>
    <p:sldId id="302" r:id="rId27"/>
    <p:sldId id="303" r:id="rId28"/>
    <p:sldId id="305" r:id="rId29"/>
    <p:sldId id="306" r:id="rId30"/>
    <p:sldId id="307" r:id="rId31"/>
    <p:sldId id="308" r:id="rId32"/>
    <p:sldId id="310" r:id="rId33"/>
    <p:sldId id="309" r:id="rId34"/>
    <p:sldId id="275" r:id="rId35"/>
    <p:sldId id="284" r:id="rId36"/>
    <p:sldId id="286" r:id="rId37"/>
    <p:sldId id="287" r:id="rId38"/>
    <p:sldId id="339" r:id="rId39"/>
    <p:sldId id="274" r:id="rId40"/>
    <p:sldId id="258" r:id="rId41"/>
    <p:sldId id="261" r:id="rId42"/>
    <p:sldId id="277" r:id="rId43"/>
    <p:sldId id="289" r:id="rId44"/>
    <p:sldId id="290" r:id="rId45"/>
    <p:sldId id="278" r:id="rId46"/>
    <p:sldId id="291" r:id="rId47"/>
    <p:sldId id="264" r:id="rId48"/>
    <p:sldId id="340" r:id="rId49"/>
    <p:sldId id="341" r:id="rId50"/>
    <p:sldId id="342" r:id="rId51"/>
    <p:sldId id="343" r:id="rId52"/>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0B72430-518F-4982-BF95-4BCC9A276E81}" v="74" dt="2026-08-14T02:29:02.67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721" autoAdjust="0"/>
    <p:restoredTop sz="94660"/>
  </p:normalViewPr>
  <p:slideViewPr>
    <p:cSldViewPr snapToGrid="0">
      <p:cViewPr varScale="1">
        <p:scale>
          <a:sx n="97" d="100"/>
          <a:sy n="97" d="100"/>
        </p:scale>
        <p:origin x="77" y="451"/>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microsoft.com/office/2016/11/relationships/changesInfo" Target="changesInfos/changesInfo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yanth gorijala" userId="80907336ff1e1936" providerId="LiveId" clId="{96AAB6AE-BD4F-4917-ABC1-62BDE855677A}"/>
    <pc:docChg chg="undo custSel addSld delSld modSld">
      <pc:chgData name="jayanth gorijala" userId="80907336ff1e1936" providerId="LiveId" clId="{96AAB6AE-BD4F-4917-ABC1-62BDE855677A}" dt="2026-08-14T02:29:14.206" v="944" actId="113"/>
      <pc:docMkLst>
        <pc:docMk/>
      </pc:docMkLst>
      <pc:sldChg chg="modSp mod">
        <pc:chgData name="jayanth gorijala" userId="80907336ff1e1936" providerId="LiveId" clId="{96AAB6AE-BD4F-4917-ABC1-62BDE855677A}" dt="2026-08-05T04:05:27.804" v="107" actId="14100"/>
        <pc:sldMkLst>
          <pc:docMk/>
          <pc:sldMk cId="2352704343" sldId="261"/>
        </pc:sldMkLst>
        <pc:grpChg chg="mod">
          <ac:chgData name="jayanth gorijala" userId="80907336ff1e1936" providerId="LiveId" clId="{96AAB6AE-BD4F-4917-ABC1-62BDE855677A}" dt="2026-08-05T04:05:27.804" v="107" actId="14100"/>
          <ac:grpSpMkLst>
            <pc:docMk/>
            <pc:sldMk cId="2352704343" sldId="261"/>
            <ac:grpSpMk id="6" creationId="{00000000-0000-0000-0000-000000000000}"/>
          </ac:grpSpMkLst>
        </pc:grpChg>
      </pc:sldChg>
      <pc:sldChg chg="modSp mod">
        <pc:chgData name="jayanth gorijala" userId="80907336ff1e1936" providerId="LiveId" clId="{96AAB6AE-BD4F-4917-ABC1-62BDE855677A}" dt="2026-08-05T05:18:04.040" v="690" actId="14100"/>
        <pc:sldMkLst>
          <pc:docMk/>
          <pc:sldMk cId="2705968976" sldId="262"/>
        </pc:sldMkLst>
        <pc:spChg chg="mod">
          <ac:chgData name="jayanth gorijala" userId="80907336ff1e1936" providerId="LiveId" clId="{96AAB6AE-BD4F-4917-ABC1-62BDE855677A}" dt="2026-08-05T05:17:42.809" v="687" actId="1076"/>
          <ac:spMkLst>
            <pc:docMk/>
            <pc:sldMk cId="2705968976" sldId="262"/>
            <ac:spMk id="3" creationId="{00000000-0000-0000-0000-000000000000}"/>
          </ac:spMkLst>
        </pc:spChg>
        <pc:graphicFrameChg chg="mod modGraphic">
          <ac:chgData name="jayanth gorijala" userId="80907336ff1e1936" providerId="LiveId" clId="{96AAB6AE-BD4F-4917-ABC1-62BDE855677A}" dt="2026-08-05T05:18:04.040" v="690" actId="14100"/>
          <ac:graphicFrameMkLst>
            <pc:docMk/>
            <pc:sldMk cId="2705968976" sldId="262"/>
            <ac:graphicFrameMk id="4" creationId="{4BEA85CC-5C78-4F14-92F4-463B844E7A15}"/>
          </ac:graphicFrameMkLst>
        </pc:graphicFrameChg>
      </pc:sldChg>
      <pc:sldChg chg="modSp mod">
        <pc:chgData name="jayanth gorijala" userId="80907336ff1e1936" providerId="LiveId" clId="{96AAB6AE-BD4F-4917-ABC1-62BDE855677A}" dt="2026-08-05T05:23:38.130" v="776" actId="20577"/>
        <pc:sldMkLst>
          <pc:docMk/>
          <pc:sldMk cId="2352704343" sldId="264"/>
        </pc:sldMkLst>
        <pc:spChg chg="mod">
          <ac:chgData name="jayanth gorijala" userId="80907336ff1e1936" providerId="LiveId" clId="{96AAB6AE-BD4F-4917-ABC1-62BDE855677A}" dt="2026-08-05T05:23:38.130" v="776" actId="20577"/>
          <ac:spMkLst>
            <pc:docMk/>
            <pc:sldMk cId="2352704343" sldId="264"/>
            <ac:spMk id="5" creationId="{00000000-0000-0000-0000-000000000000}"/>
          </ac:spMkLst>
        </pc:spChg>
      </pc:sldChg>
      <pc:sldChg chg="modSp mod">
        <pc:chgData name="jayanth gorijala" userId="80907336ff1e1936" providerId="LiveId" clId="{96AAB6AE-BD4F-4917-ABC1-62BDE855677A}" dt="2026-08-05T05:18:57.042" v="694" actId="2711"/>
        <pc:sldMkLst>
          <pc:docMk/>
          <pc:sldMk cId="3823749122" sldId="285"/>
        </pc:sldMkLst>
        <pc:graphicFrameChg chg="mod modGraphic">
          <ac:chgData name="jayanth gorijala" userId="80907336ff1e1936" providerId="LiveId" clId="{96AAB6AE-BD4F-4917-ABC1-62BDE855677A}" dt="2026-08-05T05:18:57.042" v="694" actId="2711"/>
          <ac:graphicFrameMkLst>
            <pc:docMk/>
            <pc:sldMk cId="3823749122" sldId="285"/>
            <ac:graphicFrameMk id="4" creationId="{4BEA85CC-5C78-4F14-92F4-463B844E7A15}"/>
          </ac:graphicFrameMkLst>
        </pc:graphicFrameChg>
      </pc:sldChg>
      <pc:sldChg chg="modSp mod">
        <pc:chgData name="jayanth gorijala" userId="80907336ff1e1936" providerId="LiveId" clId="{96AAB6AE-BD4F-4917-ABC1-62BDE855677A}" dt="2026-08-05T04:08:20.585" v="125"/>
        <pc:sldMkLst>
          <pc:docMk/>
          <pc:sldMk cId="1270799473" sldId="288"/>
        </pc:sldMkLst>
        <pc:spChg chg="mod">
          <ac:chgData name="jayanth gorijala" userId="80907336ff1e1936" providerId="LiveId" clId="{96AAB6AE-BD4F-4917-ABC1-62BDE855677A}" dt="2026-08-05T04:08:20.585" v="125"/>
          <ac:spMkLst>
            <pc:docMk/>
            <pc:sldMk cId="1270799473" sldId="288"/>
            <ac:spMk id="5" creationId="{683DD10F-A689-4472-9FC5-DBC27D12912B}"/>
          </ac:spMkLst>
        </pc:spChg>
      </pc:sldChg>
      <pc:sldChg chg="addSp delSp modSp mod">
        <pc:chgData name="jayanth gorijala" userId="80907336ff1e1936" providerId="LiveId" clId="{96AAB6AE-BD4F-4917-ABC1-62BDE855677A}" dt="2026-08-13T15:12:20.516" v="926" actId="14100"/>
        <pc:sldMkLst>
          <pc:docMk/>
          <pc:sldMk cId="1095823154" sldId="290"/>
        </pc:sldMkLst>
        <pc:spChg chg="mod">
          <ac:chgData name="jayanth gorijala" userId="80907336ff1e1936" providerId="LiveId" clId="{96AAB6AE-BD4F-4917-ABC1-62BDE855677A}" dt="2026-08-05T04:47:38.826" v="311" actId="1076"/>
          <ac:spMkLst>
            <pc:docMk/>
            <pc:sldMk cId="1095823154" sldId="290"/>
            <ac:spMk id="4" creationId="{7795385E-399B-4A50-8CAD-30132567A358}"/>
          </ac:spMkLst>
        </pc:spChg>
        <pc:picChg chg="add del mod">
          <ac:chgData name="jayanth gorijala" userId="80907336ff1e1936" providerId="LiveId" clId="{96AAB6AE-BD4F-4917-ABC1-62BDE855677A}" dt="2026-08-13T15:12:06.562" v="922" actId="21"/>
          <ac:picMkLst>
            <pc:docMk/>
            <pc:sldMk cId="1095823154" sldId="290"/>
            <ac:picMk id="5" creationId="{523C0F15-91A8-3566-EA8B-F4B77BB5BFC9}"/>
          </ac:picMkLst>
        </pc:picChg>
        <pc:picChg chg="add mod">
          <ac:chgData name="jayanth gorijala" userId="80907336ff1e1936" providerId="LiveId" clId="{96AAB6AE-BD4F-4917-ABC1-62BDE855677A}" dt="2026-08-13T15:12:20.516" v="926" actId="14100"/>
          <ac:picMkLst>
            <pc:docMk/>
            <pc:sldMk cId="1095823154" sldId="290"/>
            <ac:picMk id="6" creationId="{A2F3A2E6-8599-3380-DFE4-664687078284}"/>
          </ac:picMkLst>
        </pc:picChg>
      </pc:sldChg>
      <pc:sldChg chg="modSp mod">
        <pc:chgData name="jayanth gorijala" userId="80907336ff1e1936" providerId="LiveId" clId="{96AAB6AE-BD4F-4917-ABC1-62BDE855677A}" dt="2026-08-05T04:25:45.270" v="272" actId="20577"/>
        <pc:sldMkLst>
          <pc:docMk/>
          <pc:sldMk cId="1896927938" sldId="292"/>
        </pc:sldMkLst>
        <pc:spChg chg="mod">
          <ac:chgData name="jayanth gorijala" userId="80907336ff1e1936" providerId="LiveId" clId="{96AAB6AE-BD4F-4917-ABC1-62BDE855677A}" dt="2026-08-05T04:25:45.270" v="272" actId="20577"/>
          <ac:spMkLst>
            <pc:docMk/>
            <pc:sldMk cId="1896927938" sldId="292"/>
            <ac:spMk id="5" creationId="{02A6B061-580E-44CA-A7DA-E7D66321B948}"/>
          </ac:spMkLst>
        </pc:spChg>
      </pc:sldChg>
      <pc:sldChg chg="modSp mod">
        <pc:chgData name="jayanth gorijala" userId="80907336ff1e1936" providerId="LiveId" clId="{96AAB6AE-BD4F-4917-ABC1-62BDE855677A}" dt="2026-08-05T04:09:51.908" v="151" actId="20577"/>
        <pc:sldMkLst>
          <pc:docMk/>
          <pc:sldMk cId="3293556369" sldId="293"/>
        </pc:sldMkLst>
        <pc:spChg chg="mod">
          <ac:chgData name="jayanth gorijala" userId="80907336ff1e1936" providerId="LiveId" clId="{96AAB6AE-BD4F-4917-ABC1-62BDE855677A}" dt="2026-08-05T04:09:51.908" v="151" actId="20577"/>
          <ac:spMkLst>
            <pc:docMk/>
            <pc:sldMk cId="3293556369" sldId="293"/>
            <ac:spMk id="5" creationId="{98644E7E-1BBC-678D-FDCB-5301DFF074D1}"/>
          </ac:spMkLst>
        </pc:spChg>
      </pc:sldChg>
      <pc:sldChg chg="modSp mod">
        <pc:chgData name="jayanth gorijala" userId="80907336ff1e1936" providerId="LiveId" clId="{96AAB6AE-BD4F-4917-ABC1-62BDE855677A}" dt="2026-08-05T04:10:34.504" v="157"/>
        <pc:sldMkLst>
          <pc:docMk/>
          <pc:sldMk cId="3593484044" sldId="294"/>
        </pc:sldMkLst>
        <pc:spChg chg="mod">
          <ac:chgData name="jayanth gorijala" userId="80907336ff1e1936" providerId="LiveId" clId="{96AAB6AE-BD4F-4917-ABC1-62BDE855677A}" dt="2026-08-05T04:10:34.504" v="157"/>
          <ac:spMkLst>
            <pc:docMk/>
            <pc:sldMk cId="3593484044" sldId="294"/>
            <ac:spMk id="5" creationId="{6099413E-30C6-D42D-C811-D8C24B3A968A}"/>
          </ac:spMkLst>
        </pc:spChg>
      </pc:sldChg>
      <pc:sldChg chg="modSp mod">
        <pc:chgData name="jayanth gorijala" userId="80907336ff1e1936" providerId="LiveId" clId="{96AAB6AE-BD4F-4917-ABC1-62BDE855677A}" dt="2026-08-05T04:11:40.585" v="163" actId="255"/>
        <pc:sldMkLst>
          <pc:docMk/>
          <pc:sldMk cId="472838786" sldId="295"/>
        </pc:sldMkLst>
        <pc:spChg chg="mod">
          <ac:chgData name="jayanth gorijala" userId="80907336ff1e1936" providerId="LiveId" clId="{96AAB6AE-BD4F-4917-ABC1-62BDE855677A}" dt="2026-08-05T04:11:40.585" v="163" actId="255"/>
          <ac:spMkLst>
            <pc:docMk/>
            <pc:sldMk cId="472838786" sldId="295"/>
            <ac:spMk id="5" creationId="{91EC8F1C-5106-3D17-0D23-3168470E27D0}"/>
          </ac:spMkLst>
        </pc:spChg>
      </pc:sldChg>
      <pc:sldChg chg="modSp mod">
        <pc:chgData name="jayanth gorijala" userId="80907336ff1e1936" providerId="LiveId" clId="{96AAB6AE-BD4F-4917-ABC1-62BDE855677A}" dt="2026-08-05T04:12:29.644" v="169" actId="255"/>
        <pc:sldMkLst>
          <pc:docMk/>
          <pc:sldMk cId="419865556" sldId="296"/>
        </pc:sldMkLst>
        <pc:spChg chg="mod">
          <ac:chgData name="jayanth gorijala" userId="80907336ff1e1936" providerId="LiveId" clId="{96AAB6AE-BD4F-4917-ABC1-62BDE855677A}" dt="2026-08-05T04:12:29.644" v="169" actId="255"/>
          <ac:spMkLst>
            <pc:docMk/>
            <pc:sldMk cId="419865556" sldId="296"/>
            <ac:spMk id="5" creationId="{36282912-30D9-2FAB-4921-5652C086AD15}"/>
          </ac:spMkLst>
        </pc:spChg>
      </pc:sldChg>
      <pc:sldChg chg="modSp mod">
        <pc:chgData name="jayanth gorijala" userId="80907336ff1e1936" providerId="LiveId" clId="{96AAB6AE-BD4F-4917-ABC1-62BDE855677A}" dt="2026-08-05T04:15:58.792" v="198" actId="255"/>
        <pc:sldMkLst>
          <pc:docMk/>
          <pc:sldMk cId="321432192" sldId="297"/>
        </pc:sldMkLst>
        <pc:spChg chg="mod">
          <ac:chgData name="jayanth gorijala" userId="80907336ff1e1936" providerId="LiveId" clId="{96AAB6AE-BD4F-4917-ABC1-62BDE855677A}" dt="2026-08-05T04:15:58.792" v="198" actId="255"/>
          <ac:spMkLst>
            <pc:docMk/>
            <pc:sldMk cId="321432192" sldId="297"/>
            <ac:spMk id="5" creationId="{F71473F3-7B0C-63B8-F188-9334DA08D361}"/>
          </ac:spMkLst>
        </pc:spChg>
      </pc:sldChg>
      <pc:sldChg chg="modSp mod">
        <pc:chgData name="jayanth gorijala" userId="80907336ff1e1936" providerId="LiveId" clId="{96AAB6AE-BD4F-4917-ABC1-62BDE855677A}" dt="2026-08-05T04:26:12.020" v="274" actId="14100"/>
        <pc:sldMkLst>
          <pc:docMk/>
          <pc:sldMk cId="99168096" sldId="298"/>
        </pc:sldMkLst>
        <pc:spChg chg="mod">
          <ac:chgData name="jayanth gorijala" userId="80907336ff1e1936" providerId="LiveId" clId="{96AAB6AE-BD4F-4917-ABC1-62BDE855677A}" dt="2026-08-05T04:26:12.020" v="274" actId="14100"/>
          <ac:spMkLst>
            <pc:docMk/>
            <pc:sldMk cId="99168096" sldId="298"/>
            <ac:spMk id="5" creationId="{1D69C10E-766F-1A18-8DD3-C1335D08A4DF}"/>
          </ac:spMkLst>
        </pc:spChg>
      </pc:sldChg>
      <pc:sldChg chg="modSp mod">
        <pc:chgData name="jayanth gorijala" userId="80907336ff1e1936" providerId="LiveId" clId="{96AAB6AE-BD4F-4917-ABC1-62BDE855677A}" dt="2026-08-05T04:15:02.269" v="191" actId="1076"/>
        <pc:sldMkLst>
          <pc:docMk/>
          <pc:sldMk cId="1390982130" sldId="299"/>
        </pc:sldMkLst>
        <pc:spChg chg="mod">
          <ac:chgData name="jayanth gorijala" userId="80907336ff1e1936" providerId="LiveId" clId="{96AAB6AE-BD4F-4917-ABC1-62BDE855677A}" dt="2026-08-05T04:15:02.269" v="191" actId="1076"/>
          <ac:spMkLst>
            <pc:docMk/>
            <pc:sldMk cId="1390982130" sldId="299"/>
            <ac:spMk id="5" creationId="{DA024131-AFB9-60CD-6E6A-DC8903F31C44}"/>
          </ac:spMkLst>
        </pc:spChg>
      </pc:sldChg>
      <pc:sldChg chg="modSp mod">
        <pc:chgData name="jayanth gorijala" userId="80907336ff1e1936" providerId="LiveId" clId="{96AAB6AE-BD4F-4917-ABC1-62BDE855677A}" dt="2026-08-05T04:26:05.235" v="273" actId="14100"/>
        <pc:sldMkLst>
          <pc:docMk/>
          <pc:sldMk cId="2686508875" sldId="300"/>
        </pc:sldMkLst>
        <pc:spChg chg="mod">
          <ac:chgData name="jayanth gorijala" userId="80907336ff1e1936" providerId="LiveId" clId="{96AAB6AE-BD4F-4917-ABC1-62BDE855677A}" dt="2026-08-05T04:26:05.235" v="273" actId="14100"/>
          <ac:spMkLst>
            <pc:docMk/>
            <pc:sldMk cId="2686508875" sldId="300"/>
            <ac:spMk id="5" creationId="{1ADE225F-7859-B4C3-2CEF-250C6940DDEF}"/>
          </ac:spMkLst>
        </pc:spChg>
      </pc:sldChg>
      <pc:sldChg chg="modSp mod">
        <pc:chgData name="jayanth gorijala" userId="80907336ff1e1936" providerId="LiveId" clId="{96AAB6AE-BD4F-4917-ABC1-62BDE855677A}" dt="2026-08-05T04:16:45.661" v="205" actId="255"/>
        <pc:sldMkLst>
          <pc:docMk/>
          <pc:sldMk cId="4274125836" sldId="301"/>
        </pc:sldMkLst>
        <pc:spChg chg="mod">
          <ac:chgData name="jayanth gorijala" userId="80907336ff1e1936" providerId="LiveId" clId="{96AAB6AE-BD4F-4917-ABC1-62BDE855677A}" dt="2026-08-05T04:16:45.661" v="205" actId="255"/>
          <ac:spMkLst>
            <pc:docMk/>
            <pc:sldMk cId="4274125836" sldId="301"/>
            <ac:spMk id="5" creationId="{3DC2972F-A9AA-8F1A-AB60-2C15DCE0A050}"/>
          </ac:spMkLst>
        </pc:spChg>
      </pc:sldChg>
      <pc:sldChg chg="modSp mod">
        <pc:chgData name="jayanth gorijala" userId="80907336ff1e1936" providerId="LiveId" clId="{96AAB6AE-BD4F-4917-ABC1-62BDE855677A}" dt="2026-08-05T04:18:16.598" v="220"/>
        <pc:sldMkLst>
          <pc:docMk/>
          <pc:sldMk cId="4052717744" sldId="302"/>
        </pc:sldMkLst>
        <pc:spChg chg="mod">
          <ac:chgData name="jayanth gorijala" userId="80907336ff1e1936" providerId="LiveId" clId="{96AAB6AE-BD4F-4917-ABC1-62BDE855677A}" dt="2026-08-05T04:18:16.598" v="220"/>
          <ac:spMkLst>
            <pc:docMk/>
            <pc:sldMk cId="4052717744" sldId="302"/>
            <ac:spMk id="5" creationId="{59BA8BCD-27A3-7D9D-B432-69EEDC526631}"/>
          </ac:spMkLst>
        </pc:spChg>
      </pc:sldChg>
      <pc:sldChg chg="modSp mod">
        <pc:chgData name="jayanth gorijala" userId="80907336ff1e1936" providerId="LiveId" clId="{96AAB6AE-BD4F-4917-ABC1-62BDE855677A}" dt="2026-08-05T04:18:57.311" v="226" actId="255"/>
        <pc:sldMkLst>
          <pc:docMk/>
          <pc:sldMk cId="47534657" sldId="303"/>
        </pc:sldMkLst>
        <pc:spChg chg="mod">
          <ac:chgData name="jayanth gorijala" userId="80907336ff1e1936" providerId="LiveId" clId="{96AAB6AE-BD4F-4917-ABC1-62BDE855677A}" dt="2026-08-05T04:18:57.311" v="226" actId="255"/>
          <ac:spMkLst>
            <pc:docMk/>
            <pc:sldMk cId="47534657" sldId="303"/>
            <ac:spMk id="5" creationId="{7B22B213-2ED2-CB68-4EC7-C43856C2CDB9}"/>
          </ac:spMkLst>
        </pc:spChg>
      </pc:sldChg>
      <pc:sldChg chg="modSp mod">
        <pc:chgData name="jayanth gorijala" userId="80907336ff1e1936" providerId="LiveId" clId="{96AAB6AE-BD4F-4917-ABC1-62BDE855677A}" dt="2026-08-05T04:17:41.763" v="215" actId="14100"/>
        <pc:sldMkLst>
          <pc:docMk/>
          <pc:sldMk cId="4108425363" sldId="304"/>
        </pc:sldMkLst>
        <pc:spChg chg="mod">
          <ac:chgData name="jayanth gorijala" userId="80907336ff1e1936" providerId="LiveId" clId="{96AAB6AE-BD4F-4917-ABC1-62BDE855677A}" dt="2026-08-05T04:17:41.763" v="215" actId="14100"/>
          <ac:spMkLst>
            <pc:docMk/>
            <pc:sldMk cId="4108425363" sldId="304"/>
            <ac:spMk id="5" creationId="{DDA655D6-A5AD-FFB6-31D3-AAB58D45C968}"/>
          </ac:spMkLst>
        </pc:spChg>
      </pc:sldChg>
      <pc:sldChg chg="modSp mod">
        <pc:chgData name="jayanth gorijala" userId="80907336ff1e1936" providerId="LiveId" clId="{96AAB6AE-BD4F-4917-ABC1-62BDE855677A}" dt="2026-08-05T04:19:51.228" v="234" actId="255"/>
        <pc:sldMkLst>
          <pc:docMk/>
          <pc:sldMk cId="3480692734" sldId="305"/>
        </pc:sldMkLst>
        <pc:spChg chg="mod">
          <ac:chgData name="jayanth gorijala" userId="80907336ff1e1936" providerId="LiveId" clId="{96AAB6AE-BD4F-4917-ABC1-62BDE855677A}" dt="2026-08-05T04:19:51.228" v="234" actId="255"/>
          <ac:spMkLst>
            <pc:docMk/>
            <pc:sldMk cId="3480692734" sldId="305"/>
            <ac:spMk id="5" creationId="{B718C06B-AFFB-0209-88F1-B9C631B77D3A}"/>
          </ac:spMkLst>
        </pc:spChg>
      </pc:sldChg>
      <pc:sldChg chg="modSp mod">
        <pc:chgData name="jayanth gorijala" userId="80907336ff1e1936" providerId="LiveId" clId="{96AAB6AE-BD4F-4917-ABC1-62BDE855677A}" dt="2026-08-05T04:20:34.836" v="239" actId="255"/>
        <pc:sldMkLst>
          <pc:docMk/>
          <pc:sldMk cId="2365940749" sldId="306"/>
        </pc:sldMkLst>
        <pc:spChg chg="mod">
          <ac:chgData name="jayanth gorijala" userId="80907336ff1e1936" providerId="LiveId" clId="{96AAB6AE-BD4F-4917-ABC1-62BDE855677A}" dt="2026-08-05T04:20:34.836" v="239" actId="255"/>
          <ac:spMkLst>
            <pc:docMk/>
            <pc:sldMk cId="2365940749" sldId="306"/>
            <ac:spMk id="5" creationId="{8897A9ED-22D9-719B-7903-EFA41126120A}"/>
          </ac:spMkLst>
        </pc:spChg>
      </pc:sldChg>
      <pc:sldChg chg="modSp mod">
        <pc:chgData name="jayanth gorijala" userId="80907336ff1e1936" providerId="LiveId" clId="{96AAB6AE-BD4F-4917-ABC1-62BDE855677A}" dt="2026-08-05T04:21:12.459" v="244" actId="255"/>
        <pc:sldMkLst>
          <pc:docMk/>
          <pc:sldMk cId="826459763" sldId="307"/>
        </pc:sldMkLst>
        <pc:spChg chg="mod">
          <ac:chgData name="jayanth gorijala" userId="80907336ff1e1936" providerId="LiveId" clId="{96AAB6AE-BD4F-4917-ABC1-62BDE855677A}" dt="2026-08-05T04:21:12.459" v="244" actId="255"/>
          <ac:spMkLst>
            <pc:docMk/>
            <pc:sldMk cId="826459763" sldId="307"/>
            <ac:spMk id="5" creationId="{86E83BB3-84D1-91F1-221B-0DC86ADF08EC}"/>
          </ac:spMkLst>
        </pc:spChg>
      </pc:sldChg>
      <pc:sldChg chg="modSp mod">
        <pc:chgData name="jayanth gorijala" userId="80907336ff1e1936" providerId="LiveId" clId="{96AAB6AE-BD4F-4917-ABC1-62BDE855677A}" dt="2026-08-05T04:21:50.356" v="250" actId="255"/>
        <pc:sldMkLst>
          <pc:docMk/>
          <pc:sldMk cId="765979916" sldId="308"/>
        </pc:sldMkLst>
        <pc:spChg chg="mod">
          <ac:chgData name="jayanth gorijala" userId="80907336ff1e1936" providerId="LiveId" clId="{96AAB6AE-BD4F-4917-ABC1-62BDE855677A}" dt="2026-08-05T04:21:50.356" v="250" actId="255"/>
          <ac:spMkLst>
            <pc:docMk/>
            <pc:sldMk cId="765979916" sldId="308"/>
            <ac:spMk id="5" creationId="{2F3FEBC4-76AB-C057-2A1E-7908CC9D0C8B}"/>
          </ac:spMkLst>
        </pc:spChg>
      </pc:sldChg>
      <pc:sldChg chg="modSp mod">
        <pc:chgData name="jayanth gorijala" userId="80907336ff1e1936" providerId="LiveId" clId="{96AAB6AE-BD4F-4917-ABC1-62BDE855677A}" dt="2026-08-13T15:09:35.740" v="917" actId="113"/>
        <pc:sldMkLst>
          <pc:docMk/>
          <pc:sldMk cId="2980488242" sldId="309"/>
        </pc:sldMkLst>
        <pc:spChg chg="mod">
          <ac:chgData name="jayanth gorijala" userId="80907336ff1e1936" providerId="LiveId" clId="{96AAB6AE-BD4F-4917-ABC1-62BDE855677A}" dt="2026-08-13T15:09:35.740" v="917" actId="113"/>
          <ac:spMkLst>
            <pc:docMk/>
            <pc:sldMk cId="2980488242" sldId="309"/>
            <ac:spMk id="5" creationId="{11D586B0-C5DF-803E-3591-5EBD826A7952}"/>
          </ac:spMkLst>
        </pc:spChg>
      </pc:sldChg>
      <pc:sldChg chg="modSp mod">
        <pc:chgData name="jayanth gorijala" userId="80907336ff1e1936" providerId="LiveId" clId="{96AAB6AE-BD4F-4917-ABC1-62BDE855677A}" dt="2026-08-13T14:53:54.158" v="851" actId="1076"/>
        <pc:sldMkLst>
          <pc:docMk/>
          <pc:sldMk cId="1970360610" sldId="310"/>
        </pc:sldMkLst>
        <pc:spChg chg="mod">
          <ac:chgData name="jayanth gorijala" userId="80907336ff1e1936" providerId="LiveId" clId="{96AAB6AE-BD4F-4917-ABC1-62BDE855677A}" dt="2026-08-13T14:53:54.158" v="851" actId="1076"/>
          <ac:spMkLst>
            <pc:docMk/>
            <pc:sldMk cId="1970360610" sldId="310"/>
            <ac:spMk id="5" creationId="{F4F17813-7835-B1AF-00AB-9C51B96009E5}"/>
          </ac:spMkLst>
        </pc:spChg>
      </pc:sldChg>
      <pc:sldChg chg="modSp mod">
        <pc:chgData name="jayanth gorijala" userId="80907336ff1e1936" providerId="LiveId" clId="{96AAB6AE-BD4F-4917-ABC1-62BDE855677A}" dt="2026-08-05T05:19:39.648" v="698" actId="2711"/>
        <pc:sldMkLst>
          <pc:docMk/>
          <pc:sldMk cId="2338698491" sldId="331"/>
        </pc:sldMkLst>
        <pc:graphicFrameChg chg="mod modGraphic">
          <ac:chgData name="jayanth gorijala" userId="80907336ff1e1936" providerId="LiveId" clId="{96AAB6AE-BD4F-4917-ABC1-62BDE855677A}" dt="2026-08-05T05:19:39.648" v="698" actId="2711"/>
          <ac:graphicFrameMkLst>
            <pc:docMk/>
            <pc:sldMk cId="2338698491" sldId="331"/>
            <ac:graphicFrameMk id="4" creationId="{4BEA85CC-5C78-4F14-92F4-463B844E7A15}"/>
          </ac:graphicFrameMkLst>
        </pc:graphicFrameChg>
      </pc:sldChg>
      <pc:sldChg chg="modSp mod">
        <pc:chgData name="jayanth gorijala" userId="80907336ff1e1936" providerId="LiveId" clId="{96AAB6AE-BD4F-4917-ABC1-62BDE855677A}" dt="2026-08-05T05:20:07.867" v="702" actId="2711"/>
        <pc:sldMkLst>
          <pc:docMk/>
          <pc:sldMk cId="994116644" sldId="332"/>
        </pc:sldMkLst>
        <pc:graphicFrameChg chg="mod modGraphic">
          <ac:chgData name="jayanth gorijala" userId="80907336ff1e1936" providerId="LiveId" clId="{96AAB6AE-BD4F-4917-ABC1-62BDE855677A}" dt="2026-08-05T05:20:07.867" v="702" actId="2711"/>
          <ac:graphicFrameMkLst>
            <pc:docMk/>
            <pc:sldMk cId="994116644" sldId="332"/>
            <ac:graphicFrameMk id="4" creationId="{4BEA85CC-5C78-4F14-92F4-463B844E7A15}"/>
          </ac:graphicFrameMkLst>
        </pc:graphicFrameChg>
      </pc:sldChg>
      <pc:sldChg chg="modSp mod">
        <pc:chgData name="jayanth gorijala" userId="80907336ff1e1936" providerId="LiveId" clId="{96AAB6AE-BD4F-4917-ABC1-62BDE855677A}" dt="2026-08-05T05:20:45.730" v="706" actId="2711"/>
        <pc:sldMkLst>
          <pc:docMk/>
          <pc:sldMk cId="751466210" sldId="333"/>
        </pc:sldMkLst>
        <pc:graphicFrameChg chg="mod modGraphic">
          <ac:chgData name="jayanth gorijala" userId="80907336ff1e1936" providerId="LiveId" clId="{96AAB6AE-BD4F-4917-ABC1-62BDE855677A}" dt="2026-08-05T05:20:45.730" v="706" actId="2711"/>
          <ac:graphicFrameMkLst>
            <pc:docMk/>
            <pc:sldMk cId="751466210" sldId="333"/>
            <ac:graphicFrameMk id="4" creationId="{4BEA85CC-5C78-4F14-92F4-463B844E7A15}"/>
          </ac:graphicFrameMkLst>
        </pc:graphicFrameChg>
      </pc:sldChg>
      <pc:sldChg chg="modSp mod">
        <pc:chgData name="jayanth gorijala" userId="80907336ff1e1936" providerId="LiveId" clId="{96AAB6AE-BD4F-4917-ABC1-62BDE855677A}" dt="2026-08-05T05:06:57.417" v="569" actId="2711"/>
        <pc:sldMkLst>
          <pc:docMk/>
          <pc:sldMk cId="1642520769" sldId="334"/>
        </pc:sldMkLst>
        <pc:graphicFrameChg chg="mod modGraphic">
          <ac:chgData name="jayanth gorijala" userId="80907336ff1e1936" providerId="LiveId" clId="{96AAB6AE-BD4F-4917-ABC1-62BDE855677A}" dt="2026-08-05T05:06:57.417" v="569" actId="2711"/>
          <ac:graphicFrameMkLst>
            <pc:docMk/>
            <pc:sldMk cId="1642520769" sldId="334"/>
            <ac:graphicFrameMk id="4" creationId="{4BEA85CC-5C78-4F14-92F4-463B844E7A15}"/>
          </ac:graphicFrameMkLst>
        </pc:graphicFrameChg>
      </pc:sldChg>
      <pc:sldChg chg="modSp mod">
        <pc:chgData name="jayanth gorijala" userId="80907336ff1e1936" providerId="LiveId" clId="{96AAB6AE-BD4F-4917-ABC1-62BDE855677A}" dt="2026-08-05T05:10:48.858" v="600" actId="20577"/>
        <pc:sldMkLst>
          <pc:docMk/>
          <pc:sldMk cId="2840549537" sldId="335"/>
        </pc:sldMkLst>
        <pc:graphicFrameChg chg="mod modGraphic">
          <ac:chgData name="jayanth gorijala" userId="80907336ff1e1936" providerId="LiveId" clId="{96AAB6AE-BD4F-4917-ABC1-62BDE855677A}" dt="2026-08-05T05:10:48.858" v="600" actId="20577"/>
          <ac:graphicFrameMkLst>
            <pc:docMk/>
            <pc:sldMk cId="2840549537" sldId="335"/>
            <ac:graphicFrameMk id="4" creationId="{4BEA85CC-5C78-4F14-92F4-463B844E7A15}"/>
          </ac:graphicFrameMkLst>
        </pc:graphicFrameChg>
      </pc:sldChg>
      <pc:sldChg chg="modSp mod">
        <pc:chgData name="jayanth gorijala" userId="80907336ff1e1936" providerId="LiveId" clId="{96AAB6AE-BD4F-4917-ABC1-62BDE855677A}" dt="2026-08-05T05:13:06.764" v="637" actId="20577"/>
        <pc:sldMkLst>
          <pc:docMk/>
          <pc:sldMk cId="4123033169" sldId="336"/>
        </pc:sldMkLst>
        <pc:graphicFrameChg chg="mod modGraphic">
          <ac:chgData name="jayanth gorijala" userId="80907336ff1e1936" providerId="LiveId" clId="{96AAB6AE-BD4F-4917-ABC1-62BDE855677A}" dt="2026-08-05T05:13:06.764" v="637" actId="20577"/>
          <ac:graphicFrameMkLst>
            <pc:docMk/>
            <pc:sldMk cId="4123033169" sldId="336"/>
            <ac:graphicFrameMk id="4" creationId="{4BEA85CC-5C78-4F14-92F4-463B844E7A15}"/>
          </ac:graphicFrameMkLst>
        </pc:graphicFrameChg>
      </pc:sldChg>
      <pc:sldChg chg="modSp mod">
        <pc:chgData name="jayanth gorijala" userId="80907336ff1e1936" providerId="LiveId" clId="{96AAB6AE-BD4F-4917-ABC1-62BDE855677A}" dt="2026-08-05T05:15:25.520" v="674" actId="20577"/>
        <pc:sldMkLst>
          <pc:docMk/>
          <pc:sldMk cId="3455484775" sldId="337"/>
        </pc:sldMkLst>
        <pc:graphicFrameChg chg="mod modGraphic">
          <ac:chgData name="jayanth gorijala" userId="80907336ff1e1936" providerId="LiveId" clId="{96AAB6AE-BD4F-4917-ABC1-62BDE855677A}" dt="2026-08-05T05:15:25.520" v="674" actId="20577"/>
          <ac:graphicFrameMkLst>
            <pc:docMk/>
            <pc:sldMk cId="3455484775" sldId="337"/>
            <ac:graphicFrameMk id="4" creationId="{4BEA85CC-5C78-4F14-92F4-463B844E7A15}"/>
          </ac:graphicFrameMkLst>
        </pc:graphicFrameChg>
      </pc:sldChg>
      <pc:sldChg chg="modSp mod">
        <pc:chgData name="jayanth gorijala" userId="80907336ff1e1936" providerId="LiveId" clId="{96AAB6AE-BD4F-4917-ABC1-62BDE855677A}" dt="2026-08-13T15:05:35.564" v="883" actId="20577"/>
        <pc:sldMkLst>
          <pc:docMk/>
          <pc:sldMk cId="879579102" sldId="338"/>
        </pc:sldMkLst>
        <pc:graphicFrameChg chg="mod modGraphic">
          <ac:chgData name="jayanth gorijala" userId="80907336ff1e1936" providerId="LiveId" clId="{96AAB6AE-BD4F-4917-ABC1-62BDE855677A}" dt="2026-08-13T15:05:35.564" v="883" actId="20577"/>
          <ac:graphicFrameMkLst>
            <pc:docMk/>
            <pc:sldMk cId="879579102" sldId="338"/>
            <ac:graphicFrameMk id="4" creationId="{4BEA85CC-5C78-4F14-92F4-463B844E7A15}"/>
          </ac:graphicFrameMkLst>
        </pc:graphicFrameChg>
      </pc:sldChg>
      <pc:sldChg chg="modSp mod">
        <pc:chgData name="jayanth gorijala" userId="80907336ff1e1936" providerId="LiveId" clId="{96AAB6AE-BD4F-4917-ABC1-62BDE855677A}" dt="2026-08-05T05:24:42.637" v="799" actId="1076"/>
        <pc:sldMkLst>
          <pc:docMk/>
          <pc:sldMk cId="168637537" sldId="340"/>
        </pc:sldMkLst>
        <pc:spChg chg="mod">
          <ac:chgData name="jayanth gorijala" userId="80907336ff1e1936" providerId="LiveId" clId="{96AAB6AE-BD4F-4917-ABC1-62BDE855677A}" dt="2026-08-05T05:24:42.637" v="799" actId="1076"/>
          <ac:spMkLst>
            <pc:docMk/>
            <pc:sldMk cId="168637537" sldId="340"/>
            <ac:spMk id="5" creationId="{2D371DFB-FC41-070D-6532-8F63F3261693}"/>
          </ac:spMkLst>
        </pc:spChg>
      </pc:sldChg>
      <pc:sldChg chg="modSp mod">
        <pc:chgData name="jayanth gorijala" userId="80907336ff1e1936" providerId="LiveId" clId="{96AAB6AE-BD4F-4917-ABC1-62BDE855677A}" dt="2026-08-05T05:24:32.078" v="797" actId="1076"/>
        <pc:sldMkLst>
          <pc:docMk/>
          <pc:sldMk cId="4182592304" sldId="341"/>
        </pc:sldMkLst>
        <pc:spChg chg="mod">
          <ac:chgData name="jayanth gorijala" userId="80907336ff1e1936" providerId="LiveId" clId="{96AAB6AE-BD4F-4917-ABC1-62BDE855677A}" dt="2026-08-05T05:24:32.078" v="797" actId="1076"/>
          <ac:spMkLst>
            <pc:docMk/>
            <pc:sldMk cId="4182592304" sldId="341"/>
            <ac:spMk id="5" creationId="{259B8250-1B05-DEE5-BE59-8461149B6C20}"/>
          </ac:spMkLst>
        </pc:spChg>
      </pc:sldChg>
      <pc:sldChg chg="modSp mod">
        <pc:chgData name="jayanth gorijala" userId="80907336ff1e1936" providerId="LiveId" clId="{96AAB6AE-BD4F-4917-ABC1-62BDE855677A}" dt="2026-08-05T05:24:37.827" v="798" actId="1076"/>
        <pc:sldMkLst>
          <pc:docMk/>
          <pc:sldMk cId="597631902" sldId="342"/>
        </pc:sldMkLst>
        <pc:spChg chg="mod">
          <ac:chgData name="jayanth gorijala" userId="80907336ff1e1936" providerId="LiveId" clId="{96AAB6AE-BD4F-4917-ABC1-62BDE855677A}" dt="2026-08-05T05:24:37.827" v="798" actId="1076"/>
          <ac:spMkLst>
            <pc:docMk/>
            <pc:sldMk cId="597631902" sldId="342"/>
            <ac:spMk id="5" creationId="{EA64297E-426A-0681-7D99-11E65E463E68}"/>
          </ac:spMkLst>
        </pc:spChg>
      </pc:sldChg>
      <pc:sldChg chg="new del">
        <pc:chgData name="jayanth gorijala" userId="80907336ff1e1936" providerId="LiveId" clId="{96AAB6AE-BD4F-4917-ABC1-62BDE855677A}" dt="2026-08-13T15:58:54.096" v="928" actId="2696"/>
        <pc:sldMkLst>
          <pc:docMk/>
          <pc:sldMk cId="1470652652" sldId="343"/>
        </pc:sldMkLst>
      </pc:sldChg>
      <pc:sldChg chg="addSp delSp modSp add mod">
        <pc:chgData name="jayanth gorijala" userId="80907336ff1e1936" providerId="LiveId" clId="{96AAB6AE-BD4F-4917-ABC1-62BDE855677A}" dt="2026-08-14T02:29:14.206" v="944" actId="113"/>
        <pc:sldMkLst>
          <pc:docMk/>
          <pc:sldMk cId="3352381793" sldId="343"/>
        </pc:sldMkLst>
        <pc:spChg chg="add del">
          <ac:chgData name="jayanth gorijala" userId="80907336ff1e1936" providerId="LiveId" clId="{96AAB6AE-BD4F-4917-ABC1-62BDE855677A}" dt="2026-08-13T15:59:00.735" v="931" actId="22"/>
          <ac:spMkLst>
            <pc:docMk/>
            <pc:sldMk cId="3352381793" sldId="343"/>
            <ac:spMk id="4" creationId="{4104CF74-7872-D7BC-76D1-831780C8155F}"/>
          </ac:spMkLst>
        </pc:spChg>
        <pc:spChg chg="mod">
          <ac:chgData name="jayanth gorijala" userId="80907336ff1e1936" providerId="LiveId" clId="{96AAB6AE-BD4F-4917-ABC1-62BDE855677A}" dt="2026-08-14T02:29:14.206" v="944" actId="113"/>
          <ac:spMkLst>
            <pc:docMk/>
            <pc:sldMk cId="3352381793" sldId="343"/>
            <ac:spMk id="5" creationId="{5993A29F-2C8F-2FE9-7502-A0D6B5B5FC57}"/>
          </ac:spMkLst>
        </pc:spChg>
        <pc:spChg chg="add del mod">
          <ac:chgData name="jayanth gorijala" userId="80907336ff1e1936" providerId="LiveId" clId="{96AAB6AE-BD4F-4917-ABC1-62BDE855677A}" dt="2026-08-13T15:59:11.519" v="935" actId="22"/>
          <ac:spMkLst>
            <pc:docMk/>
            <pc:sldMk cId="3352381793" sldId="343"/>
            <ac:spMk id="7" creationId="{F75C128B-43A3-6189-3152-62DA3D99CEF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1701562563"/>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0431510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3809655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9881508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5065677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sz="3200" b="1">
                <a:latin typeface="Times New Roman" panose="02020603050405020304" pitchFamily="18" charset="0"/>
                <a:cs typeface="Times New Roman" panose="02020603050405020304" pitchFamily="18" charset="0"/>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dirty="0"/>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sz="2400">
                <a:latin typeface="Times New Roman" panose="02020603050405020304" pitchFamily="18" charset="0"/>
                <a:cs typeface="Times New Roman" panose="02020603050405020304" pitchFamily="18" charset="0"/>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dirty="0"/>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userDrawn="1">
  <p:cSld name="SECTION_HEADER">
    <p:spTree>
      <p:nvGrpSpPr>
        <p:cNvPr id="1" name="Shape 13"/>
        <p:cNvGrpSpPr/>
        <p:nvPr/>
      </p:nvGrpSpPr>
      <p:grpSpPr>
        <a:xfrm>
          <a:off x="0" y="0"/>
          <a:ext cx="0" cy="0"/>
          <a:chOff x="0" y="0"/>
          <a:chExt cx="0" cy="0"/>
        </a:xfrm>
      </p:grpSpPr>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
        <p:nvSpPr>
          <p:cNvPr id="4" name="Google Shape;17;p4">
            <a:extLst>
              <a:ext uri="{FF2B5EF4-FFF2-40B4-BE49-F238E27FC236}">
                <a16:creationId xmlns:a16="http://schemas.microsoft.com/office/drawing/2014/main" id="{5BB4826D-B415-48FE-A973-A44EDAD80746}"/>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sz="3200" b="1">
                <a:latin typeface="Times New Roman" panose="02020603050405020304" pitchFamily="18" charset="0"/>
                <a:cs typeface="Times New Roman" panose="02020603050405020304" pitchFamily="18" charset="0"/>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dirty="0"/>
          </a:p>
        </p:txBody>
      </p:sp>
      <p:sp>
        <p:nvSpPr>
          <p:cNvPr id="5" name="Google Shape;18;p4">
            <a:extLst>
              <a:ext uri="{FF2B5EF4-FFF2-40B4-BE49-F238E27FC236}">
                <a16:creationId xmlns:a16="http://schemas.microsoft.com/office/drawing/2014/main" id="{48C3AF3A-D4D2-4FBC-B2BF-AD61BA6907AD}"/>
              </a:ext>
            </a:extLst>
          </p:cNvPr>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sz="2400">
                <a:latin typeface="Times New Roman" panose="02020603050405020304" pitchFamily="18" charset="0"/>
                <a:cs typeface="Times New Roman" panose="02020603050405020304" pitchFamily="18" charset="0"/>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8/13/2026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82633384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dirty="0"/>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dirty="0"/>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50" r:id="rId1"/>
    <p:sldLayoutId id="2147483649" r:id="rId2"/>
    <p:sldLayoutId id="2147483660"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200" b="1" i="0" u="none" strike="noStrike" cap="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000" b="0" i="0" u="none" strike="noStrike" cap="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hyperlink" Target="https://aclanthology.org/2025.emnlp-main.403/?utm_source=chatgpt.com" TargetMode="External"/><Relationship Id="rId2" Type="http://schemas.openxmlformats.org/officeDocument/2006/relationships/hyperlink" Target="https://arxiv.org/abs/2605.10155" TargetMode="External"/><Relationship Id="rId1" Type="http://schemas.openxmlformats.org/officeDocument/2006/relationships/slideLayout" Target="../slideLayouts/slideLayout2.xml"/><Relationship Id="rId6" Type="http://schemas.openxmlformats.org/officeDocument/2006/relationships/hyperlink" Target="https://arxiv.org/abs/2103.06268" TargetMode="External"/><Relationship Id="rId5" Type="http://schemas.openxmlformats.org/officeDocument/2006/relationships/hyperlink" Target="https://arxiv.org/abs/2408.10343" TargetMode="External"/><Relationship Id="rId4" Type="http://schemas.openxmlformats.org/officeDocument/2006/relationships/hyperlink" Target="https://arxiv.org/abs/2308.11462" TargetMode="External"/></Relationships>
</file>

<file path=ppt/slides/_rels/slide48.xml.rels><?xml version="1.0" encoding="UTF-8" standalone="yes"?>
<Relationships xmlns="http://schemas.openxmlformats.org/package/2006/relationships"><Relationship Id="rId3" Type="http://schemas.openxmlformats.org/officeDocument/2006/relationships/hyperlink" Target="https://arxiv.org/abs/2101.00859" TargetMode="External"/><Relationship Id="rId2" Type="http://schemas.openxmlformats.org/officeDocument/2006/relationships/hyperlink" Target="https://arxiv.org/abs/2106.01869" TargetMode="External"/><Relationship Id="rId1" Type="http://schemas.openxmlformats.org/officeDocument/2006/relationships/slideLayout" Target="../slideLayouts/slideLayout2.xml"/><Relationship Id="rId6" Type="http://schemas.openxmlformats.org/officeDocument/2006/relationships/hyperlink" Target="https://arxiv.org/abs/2104.08671" TargetMode="External"/><Relationship Id="rId5" Type="http://schemas.openxmlformats.org/officeDocument/2006/relationships/hyperlink" Target="https://aclanthology.org/2020.lrec-1.155/" TargetMode="External"/><Relationship Id="rId4" Type="http://schemas.openxmlformats.org/officeDocument/2006/relationships/hyperlink" Target="https://arxiv.org/abs/2110.00976" TargetMode="External"/></Relationships>
</file>

<file path=ppt/slides/_rels/slide49.xml.rels><?xml version="1.0" encoding="UTF-8" standalone="yes"?>
<Relationships xmlns="http://schemas.openxmlformats.org/package/2006/relationships"><Relationship Id="rId3" Type="http://schemas.openxmlformats.org/officeDocument/2006/relationships/hyperlink" Target="https://arxiv.org/abs/2303.17760" TargetMode="External"/><Relationship Id="rId2" Type="http://schemas.openxmlformats.org/officeDocument/2006/relationships/hyperlink" Target="https://arxiv.org/abs/2308.08155" TargetMode="External"/><Relationship Id="rId1" Type="http://schemas.openxmlformats.org/officeDocument/2006/relationships/slideLayout" Target="../slideLayouts/slideLayout2.xml"/><Relationship Id="rId6" Type="http://schemas.openxmlformats.org/officeDocument/2006/relationships/hyperlink" Target="https://arxiv.org/abs/2303.11366" TargetMode="External"/><Relationship Id="rId5" Type="http://schemas.openxmlformats.org/officeDocument/2006/relationships/hyperlink" Target="https://arxiv.org/abs/2210.03629" TargetMode="External"/><Relationship Id="rId4" Type="http://schemas.openxmlformats.org/officeDocument/2006/relationships/hyperlink" Target="https://arxiv.org/abs/2308.00352" TargetMode="External"/></Relationships>
</file>

<file path=ppt/slides/_rels/slide50.xml.rels><?xml version="1.0" encoding="UTF-8" standalone="yes"?>
<Relationships xmlns="http://schemas.openxmlformats.org/package/2006/relationships"><Relationship Id="rId3" Type="http://schemas.openxmlformats.org/officeDocument/2006/relationships/hyperlink" Target="https://arxiv.org/abs/2401.15884" TargetMode="External"/><Relationship Id="rId2" Type="http://schemas.openxmlformats.org/officeDocument/2006/relationships/hyperlink" Target="https://arxiv.org/abs/2310.11511" TargetMode="External"/><Relationship Id="rId1" Type="http://schemas.openxmlformats.org/officeDocument/2006/relationships/slideLayout" Target="../slideLayouts/slideLayout2.xml"/><Relationship Id="rId6" Type="http://schemas.openxmlformats.org/officeDocument/2006/relationships/hyperlink" Target="https://arxiv.org/abs/1702.08608" TargetMode="External"/><Relationship Id="rId5" Type="http://schemas.openxmlformats.org/officeDocument/2006/relationships/hyperlink" Target="https://arxiv.org/abs/1910.10045" TargetMode="External"/><Relationship Id="rId4" Type="http://schemas.openxmlformats.org/officeDocument/2006/relationships/hyperlink" Target="https://arxiv.org/abs/2401.18059" TargetMode="External"/></Relationships>
</file>

<file path=ppt/slides/_rels/slide51.xml.rels><?xml version="1.0" encoding="UTF-8" standalone="yes"?>
<Relationships xmlns="http://schemas.openxmlformats.org/package/2006/relationships"><Relationship Id="rId3" Type="http://schemas.openxmlformats.org/officeDocument/2006/relationships/hyperlink" Target="https://arxiv.org/abs/2401.15884" TargetMode="External"/><Relationship Id="rId2" Type="http://schemas.openxmlformats.org/officeDocument/2006/relationships/hyperlink" Target="https://arxiv.org/abs/2310.11511" TargetMode="External"/><Relationship Id="rId1" Type="http://schemas.openxmlformats.org/officeDocument/2006/relationships/slideLayout" Target="../slideLayouts/slideLayout2.xml"/><Relationship Id="rId6" Type="http://schemas.openxmlformats.org/officeDocument/2006/relationships/hyperlink" Target="https://aclanthology.org/2021.acl-long.313/?utm_source=chatgpt.com" TargetMode="External"/><Relationship Id="rId5" Type="http://schemas.openxmlformats.org/officeDocument/2006/relationships/hyperlink" Target="https://aclanthology.org/2024.lrec-main.939/" TargetMode="External"/><Relationship Id="rId4" Type="http://schemas.openxmlformats.org/officeDocument/2006/relationships/hyperlink" Target="https://arxiv.org/abs/2401.18059"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E69697CB-D75E-F103-C1BA-93602F1652C9}"/>
              </a:ext>
            </a:extLst>
          </p:cNvPr>
          <p:cNvSpPr txBox="1"/>
          <p:nvPr/>
        </p:nvSpPr>
        <p:spPr>
          <a:xfrm>
            <a:off x="-14102" y="3018355"/>
            <a:ext cx="9144000" cy="707886"/>
          </a:xfrm>
          <a:prstGeom prst="rect">
            <a:avLst/>
          </a:prstGeom>
          <a:noFill/>
        </p:spPr>
        <p:txBody>
          <a:bodyPr wrap="square">
            <a:spAutoFit/>
          </a:bodyPr>
          <a:lstStyle/>
          <a:p>
            <a:pPr marL="9525" algn="ctr">
              <a:spcBef>
                <a:spcPts val="94"/>
              </a:spcBef>
              <a:tabLst>
                <a:tab pos="243840" algn="l"/>
              </a:tabLst>
            </a:pPr>
            <a:r>
              <a:rPr lang="en-US" sz="2000" b="1" dirty="0">
                <a:latin typeface="Times New Roman" panose="02020603050405020304" pitchFamily="18" charset="0"/>
                <a:cs typeface="Times New Roman" panose="02020603050405020304" pitchFamily="18" charset="0"/>
              </a:rPr>
              <a:t>An Explainable Multi-Agent AI Framework for Adversarial Legal Document Review and Vulnerability Analysis</a:t>
            </a:r>
            <a:endParaRPr lang="en-IN" sz="2000" b="1" dirty="0">
              <a:latin typeface="Times New Roman" panose="02020603050405020304" pitchFamily="18" charset="0"/>
              <a:cs typeface="Times New Roman" panose="02020603050405020304" pitchFamily="18" charset="0"/>
            </a:endParaRPr>
          </a:p>
        </p:txBody>
      </p:sp>
      <p:sp>
        <p:nvSpPr>
          <p:cNvPr id="8" name="Google Shape;54;p13">
            <a:extLst>
              <a:ext uri="{FF2B5EF4-FFF2-40B4-BE49-F238E27FC236}">
                <a16:creationId xmlns:a16="http://schemas.microsoft.com/office/drawing/2014/main" id="{652DF3DB-964A-4088-9C3A-BE361E14687A}"/>
              </a:ext>
            </a:extLst>
          </p:cNvPr>
          <p:cNvSpPr txBox="1">
            <a:spLocks/>
          </p:cNvSpPr>
          <p:nvPr/>
        </p:nvSpPr>
        <p:spPr>
          <a:xfrm>
            <a:off x="212138" y="-12625"/>
            <a:ext cx="8719725" cy="1727200"/>
          </a:xfrm>
          <a:prstGeom prst="rect">
            <a:avLst/>
          </a:prstGeom>
        </p:spPr>
        <p:txBody>
          <a:bodyPr spcFirstLastPara="1" wrap="square" lIns="68569" tIns="68569" rIns="68569" bIns="68569" anchor="b" anchorCtr="0">
            <a:noAutofit/>
          </a:bodyPr>
          <a:lstStyle>
            <a:lvl1pPr>
              <a:defRPr>
                <a:latin typeface="+mj-lt"/>
                <a:ea typeface="+mj-ea"/>
                <a:cs typeface="+mj-cs"/>
              </a:defRPr>
            </a:lvl1pPr>
          </a:lstStyle>
          <a:p>
            <a:pPr algn="ctr"/>
            <a:br>
              <a:rPr lang="en-US" sz="1800" b="1" dirty="0">
                <a:latin typeface="Times New Roman" panose="02020603050405020304" pitchFamily="18" charset="0"/>
                <a:cs typeface="Times New Roman" panose="02020603050405020304" pitchFamily="18" charset="0"/>
              </a:rPr>
            </a:br>
            <a:br>
              <a:rPr lang="en-US" sz="1800" b="1" dirty="0">
                <a:latin typeface="Times New Roman" panose="02020603050405020304" pitchFamily="18" charset="0"/>
                <a:cs typeface="Times New Roman" panose="02020603050405020304" pitchFamily="18" charset="0"/>
              </a:rPr>
            </a:br>
            <a:br>
              <a:rPr lang="en-US" sz="18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Gokaraju Rangaraju Institute of Engineering and Technology </a:t>
            </a:r>
            <a:br>
              <a:rPr lang="en-US" sz="2100" b="1" dirty="0">
                <a:latin typeface="Times New Roman" panose="02020603050405020304" pitchFamily="18" charset="0"/>
                <a:cs typeface="Times New Roman" panose="02020603050405020304" pitchFamily="18" charset="0"/>
              </a:rPr>
            </a:br>
            <a:r>
              <a:rPr lang="en-US" sz="2100" b="1" dirty="0">
                <a:latin typeface="Times New Roman" panose="02020603050405020304" pitchFamily="18" charset="0"/>
                <a:cs typeface="Times New Roman" panose="02020603050405020304" pitchFamily="18" charset="0"/>
              </a:rPr>
              <a:t>(Autonomous)</a:t>
            </a:r>
          </a:p>
          <a:p>
            <a:pPr algn="ctr"/>
            <a:br>
              <a:rPr lang="en-US" sz="18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Department of Data Science</a:t>
            </a:r>
            <a:endParaRPr lang="en-US" sz="1800" b="1" dirty="0">
              <a:latin typeface="Times New Roman" panose="02020603050405020304" pitchFamily="18" charset="0"/>
              <a:cs typeface="Times New Roman" panose="02020603050405020304" pitchFamily="18" charset="0"/>
            </a:endParaRPr>
          </a:p>
        </p:txBody>
      </p:sp>
      <p:pic>
        <p:nvPicPr>
          <p:cNvPr id="9" name="Picture 8" descr="Untitled-1 copy">
            <a:extLst>
              <a:ext uri="{FF2B5EF4-FFF2-40B4-BE49-F238E27FC236}">
                <a16:creationId xmlns:a16="http://schemas.microsoft.com/office/drawing/2014/main" id="{EA3F0D3D-023C-4B78-9564-CB1FD4CE51B8}"/>
              </a:ext>
            </a:extLst>
          </p:cNvPr>
          <p:cNvPicPr>
            <a:picLocks noChangeAspect="1" noChangeArrowheads="1"/>
          </p:cNvPicPr>
          <p:nvPr/>
        </p:nvPicPr>
        <p:blipFill>
          <a:blip r:embed="rId2" cstate="print">
            <a:extLst>
              <a:ext uri="{BEBA8EAE-BF5A-486C-A8C5-ECC9F3942E4B}">
                <a14:imgProps xmlns:a14="http://schemas.microsoft.com/office/drawing/2010/main">
                  <a14:imgLayer r:embed="rId3">
                    <a14:imgEffect>
                      <a14:sharpenSoften amount="50000"/>
                    </a14:imgEffect>
                    <a14:imgEffect>
                      <a14:brightnessContrast contrast="-40000"/>
                    </a14:imgEffect>
                  </a14:imgLayer>
                </a14:imgProps>
              </a:ext>
              <a:ext uri="{28A0092B-C50C-407E-A947-70E740481C1C}">
                <a14:useLocalDpi xmlns:a14="http://schemas.microsoft.com/office/drawing/2010/main" val="0"/>
              </a:ext>
            </a:extLst>
          </a:blip>
          <a:srcRect l="25562" t="23018" r="26994" b="21857"/>
          <a:stretch>
            <a:fillRect/>
          </a:stretch>
        </p:blipFill>
        <p:spPr>
          <a:xfrm>
            <a:off x="342900" y="850976"/>
            <a:ext cx="1028700" cy="952424"/>
          </a:xfrm>
          <a:prstGeom prst="rect">
            <a:avLst/>
          </a:prstGeom>
          <a:noFill/>
          <a:extLst>
            <a:ext uri="{909E8E84-426E-40DD-AFC4-6F175D3DCCD1}">
              <a14:hiddenFill xmlns:a14="http://schemas.microsoft.com/office/drawing/2010/main">
                <a:solidFill>
                  <a:srgbClr val="FFFFFF"/>
                </a:solidFill>
              </a14:hiddenFill>
            </a:ext>
          </a:extLst>
        </p:spPr>
      </p:pic>
      <p:sp>
        <p:nvSpPr>
          <p:cNvPr id="11" name="Google Shape;55;p13">
            <a:extLst>
              <a:ext uri="{FF2B5EF4-FFF2-40B4-BE49-F238E27FC236}">
                <a16:creationId xmlns:a16="http://schemas.microsoft.com/office/drawing/2014/main" id="{FC11E751-821E-4B85-8116-BCE73FD80796}"/>
              </a:ext>
            </a:extLst>
          </p:cNvPr>
          <p:cNvSpPr txBox="1">
            <a:spLocks/>
          </p:cNvSpPr>
          <p:nvPr/>
        </p:nvSpPr>
        <p:spPr>
          <a:xfrm>
            <a:off x="5200650" y="3685962"/>
            <a:ext cx="3731213" cy="1336311"/>
          </a:xfrm>
          <a:prstGeom prst="rect">
            <a:avLst/>
          </a:prstGeom>
          <a:noFill/>
          <a:ln>
            <a:noFill/>
          </a:ln>
        </p:spPr>
        <p:txBody>
          <a:bodyPr spcFirstLastPara="1" wrap="square" lIns="68569" tIns="68569" rIns="68569" bIns="68569" anchor="t" anchorCtr="0">
            <a:norm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0" indent="0" algn="l"/>
            <a:r>
              <a:rPr lang="en-IN" sz="1500" b="1" dirty="0">
                <a:solidFill>
                  <a:schemeClr val="tx1"/>
                </a:solidFill>
                <a:latin typeface="Times New Roman" panose="02020603050405020304" pitchFamily="18" charset="0"/>
                <a:cs typeface="Times New Roman" panose="02020603050405020304" pitchFamily="18" charset="0"/>
              </a:rPr>
              <a:t>Presented by:</a:t>
            </a:r>
          </a:p>
          <a:p>
            <a:pPr marL="0" indent="0" algn="l"/>
            <a:r>
              <a:rPr lang="en-IN" sz="1500" b="1" dirty="0">
                <a:solidFill>
                  <a:schemeClr val="tx1"/>
                </a:solidFill>
                <a:latin typeface="Times New Roman" panose="02020603050405020304" pitchFamily="18" charset="0"/>
                <a:cs typeface="Times New Roman" panose="02020603050405020304" pitchFamily="18" charset="0"/>
              </a:rPr>
              <a:t>1. Mr. Aakash Anumalasetty (23241A6766)</a:t>
            </a:r>
          </a:p>
          <a:p>
            <a:pPr marL="0" indent="0" algn="l"/>
            <a:r>
              <a:rPr lang="en-IN" sz="1500" b="1" dirty="0">
                <a:solidFill>
                  <a:schemeClr val="tx1"/>
                </a:solidFill>
                <a:latin typeface="Times New Roman" panose="02020603050405020304" pitchFamily="18" charset="0"/>
                <a:cs typeface="Times New Roman" panose="02020603050405020304" pitchFamily="18" charset="0"/>
              </a:rPr>
              <a:t>2. Mr. Ch. </a:t>
            </a:r>
            <a:r>
              <a:rPr lang="en-IN" sz="1500" b="1" dirty="0" err="1">
                <a:solidFill>
                  <a:schemeClr val="tx1"/>
                </a:solidFill>
                <a:latin typeface="Times New Roman" panose="02020603050405020304" pitchFamily="18" charset="0"/>
                <a:cs typeface="Times New Roman" panose="02020603050405020304" pitchFamily="18" charset="0"/>
              </a:rPr>
              <a:t>Karteek</a:t>
            </a:r>
            <a:r>
              <a:rPr lang="en-IN" sz="1500" b="1" dirty="0">
                <a:solidFill>
                  <a:schemeClr val="tx1"/>
                </a:solidFill>
                <a:latin typeface="Times New Roman" panose="02020603050405020304" pitchFamily="18" charset="0"/>
                <a:cs typeface="Times New Roman" panose="02020603050405020304" pitchFamily="18" charset="0"/>
              </a:rPr>
              <a:t> (23241A6775)</a:t>
            </a:r>
          </a:p>
          <a:p>
            <a:pPr marL="0" indent="0" algn="l"/>
            <a:r>
              <a:rPr lang="en-IN" sz="1500" b="1" dirty="0">
                <a:solidFill>
                  <a:schemeClr val="tx1"/>
                </a:solidFill>
                <a:latin typeface="Times New Roman" panose="02020603050405020304" pitchFamily="18" charset="0"/>
                <a:cs typeface="Times New Roman" panose="02020603050405020304" pitchFamily="18" charset="0"/>
              </a:rPr>
              <a:t>3. Mr. G. </a:t>
            </a:r>
            <a:r>
              <a:rPr lang="en-IN" sz="1500" b="1" dirty="0" err="1">
                <a:solidFill>
                  <a:schemeClr val="tx1"/>
                </a:solidFill>
                <a:latin typeface="Times New Roman" panose="02020603050405020304" pitchFamily="18" charset="0"/>
                <a:cs typeface="Times New Roman" panose="02020603050405020304" pitchFamily="18" charset="0"/>
              </a:rPr>
              <a:t>Jayanth</a:t>
            </a:r>
            <a:r>
              <a:rPr lang="en-IN" sz="1500" b="1" dirty="0">
                <a:solidFill>
                  <a:schemeClr val="tx1"/>
                </a:solidFill>
                <a:latin typeface="Times New Roman" panose="02020603050405020304" pitchFamily="18" charset="0"/>
                <a:cs typeface="Times New Roman" panose="02020603050405020304" pitchFamily="18" charset="0"/>
              </a:rPr>
              <a:t> (23241A6779)</a:t>
            </a:r>
          </a:p>
        </p:txBody>
      </p:sp>
      <p:sp>
        <p:nvSpPr>
          <p:cNvPr id="6" name="TextBox 5">
            <a:extLst>
              <a:ext uri="{FF2B5EF4-FFF2-40B4-BE49-F238E27FC236}">
                <a16:creationId xmlns:a16="http://schemas.microsoft.com/office/drawing/2014/main" id="{F55DF003-3760-41CE-961C-5D0F883C6EBA}"/>
              </a:ext>
            </a:extLst>
          </p:cNvPr>
          <p:cNvSpPr txBox="1"/>
          <p:nvPr/>
        </p:nvSpPr>
        <p:spPr>
          <a:xfrm>
            <a:off x="117350" y="2421598"/>
            <a:ext cx="8931863" cy="318933"/>
          </a:xfrm>
          <a:prstGeom prst="rect">
            <a:avLst/>
          </a:prstGeom>
          <a:noFill/>
        </p:spPr>
        <p:txBody>
          <a:bodyPr wrap="square">
            <a:spAutoFit/>
          </a:bodyPr>
          <a:lstStyle/>
          <a:p>
            <a:pPr marL="9525">
              <a:lnSpc>
                <a:spcPts val="1718"/>
              </a:lnSpc>
              <a:spcBef>
                <a:spcPts val="94"/>
              </a:spcBef>
              <a:tabLst>
                <a:tab pos="243840" algn="l"/>
              </a:tabLst>
            </a:pPr>
            <a:r>
              <a:rPr lang="en-US" sz="2100" b="1" spc="-8" dirty="0">
                <a:latin typeface="Times New Roman" panose="02020603050405020304" pitchFamily="18" charset="0"/>
                <a:cs typeface="Times New Roman" panose="02020603050405020304" pitchFamily="18" charset="0"/>
              </a:rPr>
              <a:t>IV Year B. Tech., I Semester CSE (Data Science)</a:t>
            </a:r>
            <a:endParaRPr lang="en-IN" sz="2100" dirty="0">
              <a:latin typeface="Times New Roman" panose="02020603050405020304" pitchFamily="18" charset="0"/>
              <a:cs typeface="Times New Roman" panose="02020603050405020304" pitchFamily="18" charset="0"/>
            </a:endParaRPr>
          </a:p>
        </p:txBody>
      </p:sp>
      <p:sp>
        <p:nvSpPr>
          <p:cNvPr id="7" name="Google Shape;55;p13">
            <a:extLst>
              <a:ext uri="{FF2B5EF4-FFF2-40B4-BE49-F238E27FC236}">
                <a16:creationId xmlns:a16="http://schemas.microsoft.com/office/drawing/2014/main" id="{E7773570-517B-4AE3-9BED-8D50D355D72F}"/>
              </a:ext>
            </a:extLst>
          </p:cNvPr>
          <p:cNvSpPr txBox="1">
            <a:spLocks/>
          </p:cNvSpPr>
          <p:nvPr/>
        </p:nvSpPr>
        <p:spPr>
          <a:xfrm>
            <a:off x="628650" y="3685962"/>
            <a:ext cx="3480975" cy="1244631"/>
          </a:xfrm>
          <a:prstGeom prst="rect">
            <a:avLst/>
          </a:prstGeom>
          <a:noFill/>
          <a:ln>
            <a:noFill/>
          </a:ln>
        </p:spPr>
        <p:txBody>
          <a:bodyPr spcFirstLastPara="1" wrap="square" lIns="68569" tIns="68569" rIns="68569" bIns="68569" anchor="t" anchorCtr="0">
            <a:norm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0" indent="0" algn="l"/>
            <a:r>
              <a:rPr lang="en-IN" sz="1500" b="1" dirty="0">
                <a:solidFill>
                  <a:schemeClr val="tx1"/>
                </a:solidFill>
                <a:latin typeface="Times New Roman" panose="02020603050405020304" pitchFamily="18" charset="0"/>
                <a:cs typeface="Times New Roman" panose="02020603050405020304" pitchFamily="18" charset="0"/>
              </a:rPr>
              <a:t>Under the Guidance of:</a:t>
            </a:r>
          </a:p>
          <a:p>
            <a:pPr marL="0" indent="0" algn="l"/>
            <a:r>
              <a:rPr lang="en-IN" sz="1500" b="1" dirty="0">
                <a:solidFill>
                  <a:schemeClr val="tx1"/>
                </a:solidFill>
                <a:latin typeface="Times New Roman" panose="02020603050405020304" pitchFamily="18" charset="0"/>
                <a:cs typeface="Times New Roman" panose="02020603050405020304" pitchFamily="18" charset="0"/>
              </a:rPr>
              <a:t>Ms. M. </a:t>
            </a:r>
            <a:r>
              <a:rPr lang="en-IN" sz="1500" b="1" dirty="0" err="1">
                <a:solidFill>
                  <a:schemeClr val="tx1"/>
                </a:solidFill>
                <a:latin typeface="Times New Roman" panose="02020603050405020304" pitchFamily="18" charset="0"/>
                <a:cs typeface="Times New Roman" panose="02020603050405020304" pitchFamily="18" charset="0"/>
              </a:rPr>
              <a:t>Mownika</a:t>
            </a:r>
            <a:r>
              <a:rPr lang="en-IN" sz="1500" b="1" dirty="0">
                <a:solidFill>
                  <a:schemeClr val="tx1"/>
                </a:solidFill>
                <a:latin typeface="Times New Roman" panose="02020603050405020304" pitchFamily="18" charset="0"/>
                <a:cs typeface="Times New Roman" panose="02020603050405020304" pitchFamily="18" charset="0"/>
              </a:rPr>
              <a:t> Rayudu</a:t>
            </a:r>
          </a:p>
          <a:p>
            <a:pPr marL="0" indent="0" algn="l"/>
            <a:r>
              <a:rPr lang="en-IN" sz="1500" b="1" dirty="0">
                <a:solidFill>
                  <a:schemeClr val="tx1"/>
                </a:solidFill>
                <a:latin typeface="Times New Roman" panose="02020603050405020304" pitchFamily="18" charset="0"/>
                <a:cs typeface="Times New Roman" panose="02020603050405020304" pitchFamily="18" charset="0"/>
              </a:rPr>
              <a:t>Assistant Professor</a:t>
            </a:r>
          </a:p>
        </p:txBody>
      </p:sp>
      <p:sp>
        <p:nvSpPr>
          <p:cNvPr id="12" name="TextBox 11">
            <a:extLst>
              <a:ext uri="{FF2B5EF4-FFF2-40B4-BE49-F238E27FC236}">
                <a16:creationId xmlns:a16="http://schemas.microsoft.com/office/drawing/2014/main" id="{DBED1215-5047-4983-BC3A-573B32CE3666}"/>
              </a:ext>
            </a:extLst>
          </p:cNvPr>
          <p:cNvSpPr txBox="1"/>
          <p:nvPr/>
        </p:nvSpPr>
        <p:spPr>
          <a:xfrm>
            <a:off x="91966" y="1714575"/>
            <a:ext cx="8931863" cy="746358"/>
          </a:xfrm>
          <a:prstGeom prst="rect">
            <a:avLst/>
          </a:prstGeom>
          <a:noFill/>
        </p:spPr>
        <p:txBody>
          <a:bodyPr wrap="square">
            <a:spAutoFit/>
          </a:bodyPr>
          <a:lstStyle/>
          <a:p>
            <a:pPr marL="9525" algn="r">
              <a:lnSpc>
                <a:spcPts val="2520"/>
              </a:lnSpc>
              <a:spcBef>
                <a:spcPts val="94"/>
              </a:spcBef>
              <a:tabLst>
                <a:tab pos="243840" algn="l"/>
              </a:tabLst>
            </a:pPr>
            <a:r>
              <a:rPr lang="en-US" sz="1800" b="1" spc="-8" dirty="0">
                <a:latin typeface="Times New Roman" panose="02020603050405020304" pitchFamily="18" charset="0"/>
                <a:cs typeface="Times New Roman" panose="02020603050405020304" pitchFamily="18" charset="0"/>
              </a:rPr>
              <a:t>					Batch</a:t>
            </a:r>
            <a:r>
              <a:rPr lang="en-IN" sz="1800" b="1" spc="-8" dirty="0">
                <a:latin typeface="Times New Roman" panose="02020603050405020304" pitchFamily="18" charset="0"/>
                <a:cs typeface="Times New Roman" panose="02020603050405020304" pitchFamily="18" charset="0"/>
              </a:rPr>
              <a:t> No.: </a:t>
            </a:r>
            <a:r>
              <a:rPr lang="en-IN" sz="1800" b="1" spc="-8" dirty="0">
                <a:solidFill>
                  <a:schemeClr val="tx1"/>
                </a:solidFill>
                <a:latin typeface="Times New Roman" panose="02020603050405020304" pitchFamily="18" charset="0"/>
                <a:cs typeface="Times New Roman" panose="02020603050405020304" pitchFamily="18" charset="0"/>
              </a:rPr>
              <a:t>DSB</a:t>
            </a:r>
            <a:r>
              <a:rPr lang="en-IN" sz="1800" b="1" spc="-8" dirty="0">
                <a:solidFill>
                  <a:srgbClr val="FF0000"/>
                </a:solidFill>
                <a:latin typeface="Times New Roman" panose="02020603050405020304" pitchFamily="18" charset="0"/>
                <a:cs typeface="Times New Roman" panose="02020603050405020304" pitchFamily="18" charset="0"/>
              </a:rPr>
              <a:t>07</a:t>
            </a:r>
          </a:p>
          <a:p>
            <a:pPr marL="9525" algn="r">
              <a:lnSpc>
                <a:spcPts val="2520"/>
              </a:lnSpc>
              <a:spcBef>
                <a:spcPts val="94"/>
              </a:spcBef>
              <a:tabLst>
                <a:tab pos="243840" algn="l"/>
              </a:tabLst>
            </a:pPr>
            <a:r>
              <a:rPr lang="en-IN" sz="1800" b="1" spc="-8" dirty="0">
                <a:solidFill>
                  <a:schemeClr val="tx1"/>
                </a:solidFill>
                <a:latin typeface="Times New Roman" panose="02020603050405020304" pitchFamily="18" charset="0"/>
                <a:cs typeface="Times New Roman" panose="02020603050405020304" pitchFamily="18" charset="0"/>
              </a:rPr>
              <a:t>Review No.: </a:t>
            </a:r>
            <a:r>
              <a:rPr lang="en-IN" sz="1800" b="1" spc="-8" dirty="0">
                <a:solidFill>
                  <a:srgbClr val="FF0000"/>
                </a:solidFill>
                <a:latin typeface="Times New Roman" panose="02020603050405020304" pitchFamily="18" charset="0"/>
                <a:cs typeface="Times New Roman" panose="02020603050405020304" pitchFamily="18" charset="0"/>
              </a:rPr>
              <a:t>02</a:t>
            </a:r>
            <a:endParaRPr lang="en-IN" sz="1800"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600" b="1" dirty="0">
                <a:latin typeface="Times New Roman" panose="02020603050405020304" pitchFamily="18" charset="0"/>
                <a:cs typeface="Times New Roman" panose="02020603050405020304" pitchFamily="18" charset="0"/>
              </a:rPr>
              <a:t>Abstract</a:t>
            </a:r>
          </a:p>
        </p:txBody>
      </p:sp>
      <p:sp>
        <p:nvSpPr>
          <p:cNvPr id="4" name="Google Shape;55;p13">
            <a:extLst>
              <a:ext uri="{FF2B5EF4-FFF2-40B4-BE49-F238E27FC236}">
                <a16:creationId xmlns:a16="http://schemas.microsoft.com/office/drawing/2014/main" id="{80701272-4B26-EDC3-CDFE-3108EE6E8E21}"/>
              </a:ext>
            </a:extLst>
          </p:cNvPr>
          <p:cNvSpPr txBox="1">
            <a:spLocks/>
          </p:cNvSpPr>
          <p:nvPr/>
        </p:nvSpPr>
        <p:spPr>
          <a:xfrm>
            <a:off x="139860" y="842881"/>
            <a:ext cx="8864280" cy="422441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25400" indent="0" algn="just"/>
            <a:r>
              <a:rPr lang="en-US" sz="2400" dirty="0">
                <a:solidFill>
                  <a:schemeClr val="tx1"/>
                </a:solidFill>
                <a:latin typeface="Times New Roman" panose="02020603050405020304" pitchFamily="18" charset="0"/>
                <a:cs typeface="Times New Roman" panose="02020603050405020304" pitchFamily="18" charset="0"/>
              </a:rPr>
              <a:t>The project is an explainable multi-agent artificial intelligence system developed to perform adversarial legal document stress testing and vulnerability analysis. Unlike traditional legal AI tools that focus on summarization or contract review, the proposed system simulates multiple legal experts, including a Defense Counsel, Drafting Counsel, Judge, etc. to evaluate documents from different legal perspectives. Using a Retrieval-Augmented Generation and a Consensus Engine, the system identifies ambiguities, contradictions, compliance issues, weak legal arguments, and other potential vulnerabilities while providing evidence-based explanations and improvement suggestions..</a:t>
            </a:r>
            <a:endParaRPr lang="en-IN"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697255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600" b="1" dirty="0">
                <a:latin typeface="Times New Roman" panose="02020603050405020304" pitchFamily="18" charset="0"/>
                <a:cs typeface="Times New Roman" panose="02020603050405020304" pitchFamily="18" charset="0"/>
              </a:rPr>
              <a:t>Introduction</a:t>
            </a:r>
          </a:p>
        </p:txBody>
      </p:sp>
      <p:sp>
        <p:nvSpPr>
          <p:cNvPr id="5" name="Google Shape;55;p13">
            <a:extLst>
              <a:ext uri="{FF2B5EF4-FFF2-40B4-BE49-F238E27FC236}">
                <a16:creationId xmlns:a16="http://schemas.microsoft.com/office/drawing/2014/main" id="{2C0EBA9F-B61A-4374-8542-F384C1FC2267}"/>
              </a:ext>
            </a:extLst>
          </p:cNvPr>
          <p:cNvSpPr txBox="1">
            <a:spLocks/>
          </p:cNvSpPr>
          <p:nvPr/>
        </p:nvSpPr>
        <p:spPr>
          <a:xfrm>
            <a:off x="-345120" y="705721"/>
            <a:ext cx="9344340" cy="465113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800100" lvl="1" algn="just">
              <a:buFont typeface="Arial" panose="020B0604020202020204" pitchFamily="34" charset="0"/>
              <a:buChar char="•"/>
            </a:pPr>
            <a:r>
              <a:rPr lang="en-US" sz="2400" dirty="0">
                <a:solidFill>
                  <a:schemeClr val="tx1"/>
                </a:solidFill>
                <a:latin typeface="Times New Roman" panose="02020603050405020304" pitchFamily="18" charset="0"/>
                <a:cs typeface="Times New Roman" panose="02020603050405020304" pitchFamily="18" charset="0"/>
              </a:rPr>
              <a:t>The project is an explainable Multi-Agent system developed to analyze legal documents and identify potential vulnerabilities before they are filed or executed.</a:t>
            </a:r>
          </a:p>
          <a:p>
            <a:pPr marL="800100" lvl="1" algn="just">
              <a:buFont typeface="Arial" panose="020B0604020202020204" pitchFamily="34" charset="0"/>
              <a:buChar char="•"/>
            </a:pPr>
            <a:endParaRPr lang="en-US" sz="2400" dirty="0">
              <a:solidFill>
                <a:schemeClr val="tx1"/>
              </a:solidFill>
              <a:latin typeface="Times New Roman" panose="02020603050405020304" pitchFamily="18" charset="0"/>
              <a:cs typeface="Times New Roman" panose="02020603050405020304" pitchFamily="18" charset="0"/>
            </a:endParaRPr>
          </a:p>
          <a:p>
            <a:pPr marL="800100" lvl="1" algn="just">
              <a:buFont typeface="Arial" panose="020B0604020202020204" pitchFamily="34" charset="0"/>
              <a:buChar char="•"/>
            </a:pPr>
            <a:r>
              <a:rPr lang="en-US" sz="2400" dirty="0">
                <a:solidFill>
                  <a:schemeClr val="tx1"/>
                </a:solidFill>
                <a:latin typeface="Times New Roman" panose="02020603050405020304" pitchFamily="18" charset="0"/>
                <a:cs typeface="Times New Roman" panose="02020603050405020304" pitchFamily="18" charset="0"/>
              </a:rPr>
              <a:t>The system portrays the workflow of a professional legal review team by employing multiple AI agents, each representing a different legal roles such as Defense Counsel, Plaintiff Counsel, etc.</a:t>
            </a:r>
          </a:p>
          <a:p>
            <a:pPr marL="482600" lvl="1" indent="0" algn="just"/>
            <a:endParaRPr lang="en-US" sz="2400" dirty="0">
              <a:solidFill>
                <a:schemeClr val="tx1"/>
              </a:solidFill>
              <a:latin typeface="Times New Roman" panose="02020603050405020304" pitchFamily="18" charset="0"/>
              <a:cs typeface="Times New Roman" panose="02020603050405020304" pitchFamily="18" charset="0"/>
            </a:endParaRPr>
          </a:p>
          <a:p>
            <a:pPr marL="800100" lvl="1" algn="just">
              <a:buFont typeface="Arial" panose="020B0604020202020204" pitchFamily="34" charset="0"/>
              <a:buChar char="•"/>
            </a:pPr>
            <a:r>
              <a:rPr lang="en-US" sz="2400" dirty="0">
                <a:solidFill>
                  <a:schemeClr val="tx1"/>
                </a:solidFill>
                <a:latin typeface="Times New Roman" panose="02020603050405020304" pitchFamily="18" charset="0"/>
                <a:cs typeface="Times New Roman" panose="02020603050405020304" pitchFamily="18" charset="0"/>
              </a:rPr>
              <a:t>The outputs from all AI agents are consolidated through a consensus engine, which prioritizes issues, calculates legal risk scores, and provides transparent explanation.</a:t>
            </a:r>
            <a:endParaRPr lang="en-IN"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74185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81367"/>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 </a:t>
            </a:r>
          </a:p>
        </p:txBody>
      </p:sp>
      <p:graphicFrame>
        <p:nvGraphicFramePr>
          <p:cNvPr id="4" name="Table 3">
            <a:extLst>
              <a:ext uri="{FF2B5EF4-FFF2-40B4-BE49-F238E27FC236}">
                <a16:creationId xmlns:a16="http://schemas.microsoft.com/office/drawing/2014/main" id="{4BEA85CC-5C78-4F14-92F4-463B844E7A15}"/>
              </a:ext>
            </a:extLst>
          </p:cNvPr>
          <p:cNvGraphicFramePr>
            <a:graphicFrameLocks noGrp="1"/>
          </p:cNvGraphicFramePr>
          <p:nvPr>
            <p:extLst>
              <p:ext uri="{D42A27DB-BD31-4B8C-83A1-F6EECF244321}">
                <p14:modId xmlns:p14="http://schemas.microsoft.com/office/powerpoint/2010/main" val="3939228183"/>
              </p:ext>
            </p:extLst>
          </p:nvPr>
        </p:nvGraphicFramePr>
        <p:xfrm>
          <a:off x="249936" y="402337"/>
          <a:ext cx="8491728" cy="4758069"/>
        </p:xfrm>
        <a:graphic>
          <a:graphicData uri="http://schemas.openxmlformats.org/drawingml/2006/table">
            <a:tbl>
              <a:tblPr firstRow="1" firstCol="1" bandRow="1">
                <a:tableStyleId>{5C22544A-7EE6-4342-B048-85BDC9FD1C3A}</a:tableStyleId>
              </a:tblPr>
              <a:tblGrid>
                <a:gridCol w="679864">
                  <a:extLst>
                    <a:ext uri="{9D8B030D-6E8A-4147-A177-3AD203B41FA5}">
                      <a16:colId xmlns:a16="http://schemas.microsoft.com/office/drawing/2014/main" val="3057034935"/>
                    </a:ext>
                  </a:extLst>
                </a:gridCol>
                <a:gridCol w="1533158">
                  <a:extLst>
                    <a:ext uri="{9D8B030D-6E8A-4147-A177-3AD203B41FA5}">
                      <a16:colId xmlns:a16="http://schemas.microsoft.com/office/drawing/2014/main" val="1602104467"/>
                    </a:ext>
                  </a:extLst>
                </a:gridCol>
                <a:gridCol w="1060731">
                  <a:extLst>
                    <a:ext uri="{9D8B030D-6E8A-4147-A177-3AD203B41FA5}">
                      <a16:colId xmlns:a16="http://schemas.microsoft.com/office/drawing/2014/main" val="2851784802"/>
                    </a:ext>
                  </a:extLst>
                </a:gridCol>
                <a:gridCol w="1452933">
                  <a:extLst>
                    <a:ext uri="{9D8B030D-6E8A-4147-A177-3AD203B41FA5}">
                      <a16:colId xmlns:a16="http://schemas.microsoft.com/office/drawing/2014/main" val="2666012794"/>
                    </a:ext>
                  </a:extLst>
                </a:gridCol>
                <a:gridCol w="1025075">
                  <a:extLst>
                    <a:ext uri="{9D8B030D-6E8A-4147-A177-3AD203B41FA5}">
                      <a16:colId xmlns:a16="http://schemas.microsoft.com/office/drawing/2014/main" val="1337382263"/>
                    </a:ext>
                  </a:extLst>
                </a:gridCol>
                <a:gridCol w="1310508">
                  <a:extLst>
                    <a:ext uri="{9D8B030D-6E8A-4147-A177-3AD203B41FA5}">
                      <a16:colId xmlns:a16="http://schemas.microsoft.com/office/drawing/2014/main" val="3261930833"/>
                    </a:ext>
                  </a:extLst>
                </a:gridCol>
                <a:gridCol w="1429459">
                  <a:extLst>
                    <a:ext uri="{9D8B030D-6E8A-4147-A177-3AD203B41FA5}">
                      <a16:colId xmlns:a16="http://schemas.microsoft.com/office/drawing/2014/main" val="3793490099"/>
                    </a:ext>
                  </a:extLst>
                </a:gridCol>
              </a:tblGrid>
              <a:tr h="356827">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Ref. No.</a:t>
                      </a:r>
                    </a:p>
                    <a:p>
                      <a:pPr marL="0" marR="0" algn="ctr">
                        <a:lnSpc>
                          <a:spcPct val="107000"/>
                        </a:lnSpc>
                        <a:spcBef>
                          <a:spcPts val="0"/>
                        </a:spcBef>
                        <a:spcAft>
                          <a:spcPts val="0"/>
                        </a:spcAft>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&amp; Year</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Problem</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Dataset</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Algorithm</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Evaluation metrics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Advantages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Limitations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419208407"/>
                  </a:ext>
                </a:extLst>
              </a:tr>
              <a:tr h="2036600">
                <a:tc>
                  <a:txBody>
                    <a:bodyPr/>
                    <a:lstStyle/>
                    <a:p>
                      <a:pPr marL="0" marR="0" algn="ctr">
                        <a:lnSpc>
                          <a:spcPct val="107000"/>
                        </a:lnSpc>
                        <a:spcBef>
                          <a:spcPts val="0"/>
                        </a:spcBef>
                        <a:spcAft>
                          <a:spcPts val="0"/>
                        </a:spcAft>
                      </a:pPr>
                      <a:r>
                        <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rPr>
                        <a:t>[1]</a:t>
                      </a:r>
                    </a:p>
                    <a:p>
                      <a:pPr marL="0" marR="0" algn="ctr">
                        <a:lnSpc>
                          <a:spcPct val="107000"/>
                        </a:lnSpc>
                        <a:spcBef>
                          <a:spcPts val="0"/>
                        </a:spcBef>
                        <a:spcAft>
                          <a:spcPts val="0"/>
                        </a:spcAft>
                      </a:pPr>
                      <a:r>
                        <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rPr>
                        <a:t> &amp;</a:t>
                      </a:r>
                    </a:p>
                    <a:p>
                      <a:pPr marL="0" marR="0" algn="ctr">
                        <a:lnSpc>
                          <a:spcPct val="107000"/>
                        </a:lnSpc>
                        <a:spcBef>
                          <a:spcPts val="0"/>
                        </a:spcBef>
                        <a:spcAft>
                          <a:spcPts val="0"/>
                        </a:spcAft>
                      </a:pPr>
                      <a:r>
                        <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rPr>
                        <a:t>(2026)</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Existing legal assistants lack comprehensive legal reasoning and contextual retrieval for complex legal tasks.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CUAD, </a:t>
                      </a:r>
                      <a:r>
                        <a:rPr lang="en-US" sz="1200" dirty="0" err="1">
                          <a:effectLst/>
                          <a:latin typeface="Times New Roman" panose="02020603050405020304" pitchFamily="18" charset="0"/>
                          <a:ea typeface="Times New Roman" panose="02020603050405020304" pitchFamily="18" charset="0"/>
                          <a:cs typeface="Times New Roman" panose="02020603050405020304" pitchFamily="18" charset="0"/>
                        </a:rPr>
                        <a:t>LegalBench</a:t>
                      </a: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 Indian legal documents, legal knowledge base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IN" sz="1200" dirty="0">
                          <a:latin typeface="Times New Roman" panose="02020603050405020304" pitchFamily="18" charset="0"/>
                          <a:cs typeface="Times New Roman" panose="02020603050405020304" pitchFamily="18" charset="0"/>
                        </a:rPr>
                        <a:t>Multi-Agent Architecture (</a:t>
                      </a:r>
                      <a:r>
                        <a:rPr lang="en-IN" sz="1200" dirty="0" err="1">
                          <a:latin typeface="Times New Roman" panose="02020603050405020304" pitchFamily="18" charset="0"/>
                          <a:cs typeface="Times New Roman" panose="02020603050405020304" pitchFamily="18" charset="0"/>
                        </a:rPr>
                        <a:t>Mastra</a:t>
                      </a:r>
                      <a:r>
                        <a:rPr lang="en-IN" sz="1200" dirty="0">
                          <a:latin typeface="Times New Roman" panose="02020603050405020304" pitchFamily="18" charset="0"/>
                          <a:cs typeface="Times New Roman" panose="02020603050405020304" pitchFamily="18" charset="0"/>
                        </a:rPr>
                        <a:t> TypeScript Framework), Retrieval-Augmented Generation (RAG), Large Language Model (LLM), Vector Database, Compliance Validation Module, Domain Classifier</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Accuracy-72%, Precision-70%, Recall, F1-score 0.71%, Response Quality</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Multi-agent collaboration, improved legal reasoning, explainable responses, domain-specific retrieval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Performance depends on retrieval quality and LLM capability; computationally expensive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243046419"/>
                  </a:ext>
                </a:extLst>
              </a:tr>
              <a:tr h="2221244">
                <a:tc>
                  <a:txBody>
                    <a:bodyPr/>
                    <a:lstStyle/>
                    <a:p>
                      <a:pPr marL="0" marR="0" algn="ctr">
                        <a:lnSpc>
                          <a:spcPct val="107000"/>
                        </a:lnSpc>
                        <a:spcBef>
                          <a:spcPts val="0"/>
                        </a:spcBef>
                        <a:spcAft>
                          <a:spcPts val="0"/>
                        </a:spcAft>
                      </a:pPr>
                      <a:r>
                        <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rPr>
                        <a:t>[2]</a:t>
                      </a:r>
                    </a:p>
                    <a:p>
                      <a:pPr marL="0" marR="0" algn="ctr">
                        <a:lnSpc>
                          <a:spcPct val="107000"/>
                        </a:lnSpc>
                        <a:spcBef>
                          <a:spcPts val="0"/>
                        </a:spcBef>
                        <a:spcAft>
                          <a:spcPts val="0"/>
                        </a:spcAft>
                      </a:pPr>
                      <a:r>
                        <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rPr>
                        <a:t>&amp;</a:t>
                      </a:r>
                    </a:p>
                    <a:p>
                      <a:pPr marL="0" marR="0" algn="ctr">
                        <a:lnSpc>
                          <a:spcPct val="107000"/>
                        </a:lnSpc>
                        <a:spcBef>
                          <a:spcPts val="0"/>
                        </a:spcBef>
                        <a:spcAft>
                          <a:spcPts val="0"/>
                        </a:spcAft>
                      </a:pPr>
                      <a:r>
                        <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rPr>
                        <a:t> (2025)</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Question answering over long legal agreements is difficult due to document length and complex dependencies.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Long legal agreements (contract dataset used in the paper)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IN" sz="1200" dirty="0">
                          <a:latin typeface="Times New Roman" panose="02020603050405020304" pitchFamily="18" charset="0"/>
                          <a:cs typeface="Times New Roman" panose="02020603050405020304" pitchFamily="18" charset="0"/>
                        </a:rPr>
                        <a:t>Multi-Agent Framework, Multi-stage Retrieval-Augmented Generation (RAG), Open-source LLMs (Qwen2.5-72B, Gemma-3-27B, Mixtral-8x7B, Saul-54B, Mistral-7B), Contract Retrieval Pipeline</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Exact Match (EM), F1 Score-81.88%</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Handles long contracts effectively, improves QA performance through multiple agents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Limited to question answering; not designed for complete legal document review</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585140833"/>
                  </a:ext>
                </a:extLst>
              </a:tr>
            </a:tbl>
          </a:graphicData>
        </a:graphic>
      </p:graphicFrame>
    </p:spTree>
    <p:extLst>
      <p:ext uri="{BB962C8B-B14F-4D97-AF65-F5344CB8AC3E}">
        <p14:creationId xmlns:p14="http://schemas.microsoft.com/office/powerpoint/2010/main" val="27059689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 </a:t>
            </a:r>
          </a:p>
        </p:txBody>
      </p:sp>
      <p:graphicFrame>
        <p:nvGraphicFramePr>
          <p:cNvPr id="4" name="Table 3">
            <a:extLst>
              <a:ext uri="{FF2B5EF4-FFF2-40B4-BE49-F238E27FC236}">
                <a16:creationId xmlns:a16="http://schemas.microsoft.com/office/drawing/2014/main" id="{4BEA85CC-5C78-4F14-92F4-463B844E7A15}"/>
              </a:ext>
            </a:extLst>
          </p:cNvPr>
          <p:cNvGraphicFramePr>
            <a:graphicFrameLocks noGrp="1"/>
          </p:cNvGraphicFramePr>
          <p:nvPr>
            <p:extLst>
              <p:ext uri="{D42A27DB-BD31-4B8C-83A1-F6EECF244321}">
                <p14:modId xmlns:p14="http://schemas.microsoft.com/office/powerpoint/2010/main" val="3361103761"/>
              </p:ext>
            </p:extLst>
          </p:nvPr>
        </p:nvGraphicFramePr>
        <p:xfrm>
          <a:off x="55984" y="781921"/>
          <a:ext cx="8935615" cy="3866279"/>
        </p:xfrm>
        <a:graphic>
          <a:graphicData uri="http://schemas.openxmlformats.org/drawingml/2006/table">
            <a:tbl>
              <a:tblPr firstRow="1" firstCol="1" bandRow="1">
                <a:tableStyleId>{5C22544A-7EE6-4342-B048-85BDC9FD1C3A}</a:tableStyleId>
              </a:tblPr>
              <a:tblGrid>
                <a:gridCol w="802998">
                  <a:extLst>
                    <a:ext uri="{9D8B030D-6E8A-4147-A177-3AD203B41FA5}">
                      <a16:colId xmlns:a16="http://schemas.microsoft.com/office/drawing/2014/main" val="3057034935"/>
                    </a:ext>
                  </a:extLst>
                </a:gridCol>
                <a:gridCol w="1525285">
                  <a:extLst>
                    <a:ext uri="{9D8B030D-6E8A-4147-A177-3AD203B41FA5}">
                      <a16:colId xmlns:a16="http://schemas.microsoft.com/office/drawing/2014/main" val="1602104467"/>
                    </a:ext>
                  </a:extLst>
                </a:gridCol>
                <a:gridCol w="1116249">
                  <a:extLst>
                    <a:ext uri="{9D8B030D-6E8A-4147-A177-3AD203B41FA5}">
                      <a16:colId xmlns:a16="http://schemas.microsoft.com/office/drawing/2014/main" val="2851784802"/>
                    </a:ext>
                  </a:extLst>
                </a:gridCol>
                <a:gridCol w="1528980">
                  <a:extLst>
                    <a:ext uri="{9D8B030D-6E8A-4147-A177-3AD203B41FA5}">
                      <a16:colId xmlns:a16="http://schemas.microsoft.com/office/drawing/2014/main" val="2666012794"/>
                    </a:ext>
                  </a:extLst>
                </a:gridCol>
                <a:gridCol w="1078728">
                  <a:extLst>
                    <a:ext uri="{9D8B030D-6E8A-4147-A177-3AD203B41FA5}">
                      <a16:colId xmlns:a16="http://schemas.microsoft.com/office/drawing/2014/main" val="1337382263"/>
                    </a:ext>
                  </a:extLst>
                </a:gridCol>
                <a:gridCol w="1379099">
                  <a:extLst>
                    <a:ext uri="{9D8B030D-6E8A-4147-A177-3AD203B41FA5}">
                      <a16:colId xmlns:a16="http://schemas.microsoft.com/office/drawing/2014/main" val="3261930833"/>
                    </a:ext>
                  </a:extLst>
                </a:gridCol>
                <a:gridCol w="1504276">
                  <a:extLst>
                    <a:ext uri="{9D8B030D-6E8A-4147-A177-3AD203B41FA5}">
                      <a16:colId xmlns:a16="http://schemas.microsoft.com/office/drawing/2014/main" val="3793490099"/>
                    </a:ext>
                  </a:extLst>
                </a:gridCol>
              </a:tblGrid>
              <a:tr h="389757">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Ref. No.</a:t>
                      </a:r>
                    </a:p>
                    <a:p>
                      <a:pPr marL="0" marR="0" algn="ctr">
                        <a:lnSpc>
                          <a:spcPct val="107000"/>
                        </a:lnSpc>
                        <a:spcBef>
                          <a:spcPts val="0"/>
                        </a:spcBef>
                        <a:spcAft>
                          <a:spcPts val="0"/>
                        </a:spcAft>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&amp; Year</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Problem</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Dataset</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Algorithm</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Evaluation metrics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Advantages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Limitations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419208407"/>
                  </a:ext>
                </a:extLst>
              </a:tr>
              <a:tr h="1738261">
                <a:tc>
                  <a:txBody>
                    <a:bodyPr/>
                    <a:lstStyle/>
                    <a:p>
                      <a:pPr marL="0" marR="0" algn="ctr">
                        <a:lnSpc>
                          <a:spcPct val="107000"/>
                        </a:lnSpc>
                        <a:spcBef>
                          <a:spcPts val="0"/>
                        </a:spcBef>
                        <a:spcAft>
                          <a:spcPts val="0"/>
                        </a:spcAft>
                      </a:pPr>
                      <a:r>
                        <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rPr>
                        <a:t>[3] </a:t>
                      </a:r>
                    </a:p>
                    <a:p>
                      <a:pPr marL="0" marR="0" algn="ctr">
                        <a:lnSpc>
                          <a:spcPct val="107000"/>
                        </a:lnSpc>
                        <a:spcBef>
                          <a:spcPts val="0"/>
                        </a:spcBef>
                        <a:spcAft>
                          <a:spcPts val="0"/>
                        </a:spcAft>
                      </a:pPr>
                      <a:r>
                        <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rPr>
                        <a:t>&amp;</a:t>
                      </a:r>
                    </a:p>
                    <a:p>
                      <a:pPr marL="0" marR="0" algn="ctr">
                        <a:lnSpc>
                          <a:spcPct val="107000"/>
                        </a:lnSpc>
                        <a:spcBef>
                          <a:spcPts val="0"/>
                        </a:spcBef>
                        <a:spcAft>
                          <a:spcPts val="0"/>
                        </a:spcAft>
                      </a:pPr>
                      <a:r>
                        <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rPr>
                        <a:t>(2023)</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Lack of a standardized benchmark for evaluating legal reasoning in LLMs.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dirty="0" err="1">
                          <a:effectLst/>
                          <a:latin typeface="Times New Roman" panose="02020603050405020304" pitchFamily="18" charset="0"/>
                          <a:ea typeface="Times New Roman" panose="02020603050405020304" pitchFamily="18" charset="0"/>
                          <a:cs typeface="Times New Roman" panose="02020603050405020304" pitchFamily="18" charset="0"/>
                        </a:rPr>
                        <a:t>LegalBench</a:t>
                      </a: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 benchmark (multiple legal reasoning tasks)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IN" sz="1200" dirty="0">
                          <a:latin typeface="Times New Roman" panose="02020603050405020304" pitchFamily="18" charset="0"/>
                          <a:cs typeface="Times New Roman" panose="02020603050405020304" pitchFamily="18" charset="0"/>
                        </a:rPr>
                        <a:t>GPT-4, GPT-3.5, Claude-1, PaLM-2, </a:t>
                      </a:r>
                      <a:r>
                        <a:rPr lang="en-IN" sz="1200" dirty="0" err="1">
                          <a:latin typeface="Times New Roman" panose="02020603050405020304" pitchFamily="18" charset="0"/>
                          <a:cs typeface="Times New Roman" panose="02020603050405020304" pitchFamily="18" charset="0"/>
                        </a:rPr>
                        <a:t>LLaMA</a:t>
                      </a:r>
                      <a:r>
                        <a:rPr lang="en-IN" sz="1200" dirty="0">
                          <a:latin typeface="Times New Roman" panose="02020603050405020304" pitchFamily="18" charset="0"/>
                          <a:cs typeface="Times New Roman" panose="02020603050405020304" pitchFamily="18" charset="0"/>
                        </a:rPr>
                        <a:t>, FLAN-T5, Vicuna, </a:t>
                      </a:r>
                      <a:r>
                        <a:rPr lang="en-IN" sz="1200" dirty="0" err="1">
                          <a:latin typeface="Times New Roman" panose="02020603050405020304" pitchFamily="18" charset="0"/>
                          <a:cs typeface="Times New Roman" panose="02020603050405020304" pitchFamily="18" charset="0"/>
                        </a:rPr>
                        <a:t>StableLM</a:t>
                      </a:r>
                      <a:r>
                        <a:rPr lang="en-IN" sz="1200" dirty="0">
                          <a:latin typeface="Times New Roman" panose="02020603050405020304" pitchFamily="18" charset="0"/>
                          <a:cs typeface="Times New Roman" panose="02020603050405020304" pitchFamily="18" charset="0"/>
                        </a:rPr>
                        <a:t>, Falcon and several other commercial &amp; open-source LLMs (20 models evaluated)</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Accuracy- 90%+</a:t>
                      </a:r>
                    </a:p>
                  </a:txBody>
                  <a:tcPr marL="9525" marR="9525" marT="9525" marB="9525" anchor="ctr"/>
                </a:tc>
                <a:tc>
                  <a:txBody>
                    <a:bodyPr/>
                    <a:lstStyle/>
                    <a:p>
                      <a:pPr marL="0" marR="0" algn="ctr">
                        <a:lnSpc>
                          <a:spcPct val="107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Comprehensive benchmark covering many legal reasoning tasks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Evaluation benchmark only; does not propose a legal AI system</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243046419"/>
                  </a:ext>
                </a:extLst>
              </a:tr>
              <a:tr h="1738261">
                <a:tc>
                  <a:txBody>
                    <a:bodyPr/>
                    <a:lstStyle/>
                    <a:p>
                      <a:pPr marL="0" marR="0" algn="ctr">
                        <a:lnSpc>
                          <a:spcPct val="107000"/>
                        </a:lnSpc>
                        <a:spcBef>
                          <a:spcPts val="0"/>
                        </a:spcBef>
                        <a:spcAft>
                          <a:spcPts val="0"/>
                        </a:spcAft>
                      </a:pPr>
                      <a:r>
                        <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rPr>
                        <a:t>[4] </a:t>
                      </a:r>
                    </a:p>
                    <a:p>
                      <a:pPr marL="0" marR="0" algn="ctr">
                        <a:lnSpc>
                          <a:spcPct val="107000"/>
                        </a:lnSpc>
                        <a:spcBef>
                          <a:spcPts val="0"/>
                        </a:spcBef>
                        <a:spcAft>
                          <a:spcPts val="0"/>
                        </a:spcAft>
                      </a:pPr>
                      <a:r>
                        <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rPr>
                        <a:t>&amp;</a:t>
                      </a:r>
                    </a:p>
                    <a:p>
                      <a:pPr marL="0" marR="0" algn="ctr">
                        <a:lnSpc>
                          <a:spcPct val="107000"/>
                        </a:lnSpc>
                        <a:spcBef>
                          <a:spcPts val="0"/>
                        </a:spcBef>
                        <a:spcAft>
                          <a:spcPts val="0"/>
                        </a:spcAft>
                      </a:pPr>
                      <a:r>
                        <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rPr>
                        <a:t>(2024)</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Existing RAG systems lack proper evaluation in legal-domain retrieval tasks.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dirty="0" err="1">
                          <a:effectLst/>
                          <a:latin typeface="Times New Roman" panose="02020603050405020304" pitchFamily="18" charset="0"/>
                          <a:ea typeface="Times New Roman" panose="02020603050405020304" pitchFamily="18" charset="0"/>
                          <a:cs typeface="Times New Roman" panose="02020603050405020304" pitchFamily="18" charset="0"/>
                        </a:rPr>
                        <a:t>LegalBench</a:t>
                      </a: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-RAG benchmark</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IN" sz="1200" dirty="0">
                          <a:latin typeface="Times New Roman" panose="02020603050405020304" pitchFamily="18" charset="0"/>
                          <a:cs typeface="Times New Roman" panose="02020603050405020304" pitchFamily="18" charset="0"/>
                        </a:rPr>
                        <a:t>Retrieval-Augmented Generation (RAG), Dense Retrieval, BM25 Retrieval, Hybrid Retrieval Methods, Embedding-based Search</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Accuracy, Retrieval Accuracy, F1 Score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Standard benchmark for evaluating legal RAG systems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Focuses on evaluation rather than proposing a new retrieval model</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585140833"/>
                  </a:ext>
                </a:extLst>
              </a:tr>
            </a:tbl>
          </a:graphicData>
        </a:graphic>
      </p:graphicFrame>
    </p:spTree>
    <p:extLst>
      <p:ext uri="{BB962C8B-B14F-4D97-AF65-F5344CB8AC3E}">
        <p14:creationId xmlns:p14="http://schemas.microsoft.com/office/powerpoint/2010/main" val="38237491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 </a:t>
            </a:r>
          </a:p>
        </p:txBody>
      </p:sp>
      <p:graphicFrame>
        <p:nvGraphicFramePr>
          <p:cNvPr id="4" name="Table 3">
            <a:extLst>
              <a:ext uri="{FF2B5EF4-FFF2-40B4-BE49-F238E27FC236}">
                <a16:creationId xmlns:a16="http://schemas.microsoft.com/office/drawing/2014/main" id="{4BEA85CC-5C78-4F14-92F4-463B844E7A15}"/>
              </a:ext>
            </a:extLst>
          </p:cNvPr>
          <p:cNvGraphicFramePr>
            <a:graphicFrameLocks noGrp="1"/>
          </p:cNvGraphicFramePr>
          <p:nvPr>
            <p:extLst>
              <p:ext uri="{D42A27DB-BD31-4B8C-83A1-F6EECF244321}">
                <p14:modId xmlns:p14="http://schemas.microsoft.com/office/powerpoint/2010/main" val="1176321600"/>
              </p:ext>
            </p:extLst>
          </p:nvPr>
        </p:nvGraphicFramePr>
        <p:xfrm>
          <a:off x="55416" y="781921"/>
          <a:ext cx="8936183" cy="3866279"/>
        </p:xfrm>
        <a:graphic>
          <a:graphicData uri="http://schemas.openxmlformats.org/drawingml/2006/table">
            <a:tbl>
              <a:tblPr firstRow="1" firstCol="1" bandRow="1">
                <a:tableStyleId>{5C22544A-7EE6-4342-B048-85BDC9FD1C3A}</a:tableStyleId>
              </a:tblPr>
              <a:tblGrid>
                <a:gridCol w="886693">
                  <a:extLst>
                    <a:ext uri="{9D8B030D-6E8A-4147-A177-3AD203B41FA5}">
                      <a16:colId xmlns:a16="http://schemas.microsoft.com/office/drawing/2014/main" val="3057034935"/>
                    </a:ext>
                  </a:extLst>
                </a:gridCol>
                <a:gridCol w="1442158">
                  <a:extLst>
                    <a:ext uri="{9D8B030D-6E8A-4147-A177-3AD203B41FA5}">
                      <a16:colId xmlns:a16="http://schemas.microsoft.com/office/drawing/2014/main" val="1602104467"/>
                    </a:ext>
                  </a:extLst>
                </a:gridCol>
                <a:gridCol w="1116249">
                  <a:extLst>
                    <a:ext uri="{9D8B030D-6E8A-4147-A177-3AD203B41FA5}">
                      <a16:colId xmlns:a16="http://schemas.microsoft.com/office/drawing/2014/main" val="2851784802"/>
                    </a:ext>
                  </a:extLst>
                </a:gridCol>
                <a:gridCol w="1528980">
                  <a:extLst>
                    <a:ext uri="{9D8B030D-6E8A-4147-A177-3AD203B41FA5}">
                      <a16:colId xmlns:a16="http://schemas.microsoft.com/office/drawing/2014/main" val="2666012794"/>
                    </a:ext>
                  </a:extLst>
                </a:gridCol>
                <a:gridCol w="1078728">
                  <a:extLst>
                    <a:ext uri="{9D8B030D-6E8A-4147-A177-3AD203B41FA5}">
                      <a16:colId xmlns:a16="http://schemas.microsoft.com/office/drawing/2014/main" val="1337382263"/>
                    </a:ext>
                  </a:extLst>
                </a:gridCol>
                <a:gridCol w="1379099">
                  <a:extLst>
                    <a:ext uri="{9D8B030D-6E8A-4147-A177-3AD203B41FA5}">
                      <a16:colId xmlns:a16="http://schemas.microsoft.com/office/drawing/2014/main" val="3261930833"/>
                    </a:ext>
                  </a:extLst>
                </a:gridCol>
                <a:gridCol w="1504276">
                  <a:extLst>
                    <a:ext uri="{9D8B030D-6E8A-4147-A177-3AD203B41FA5}">
                      <a16:colId xmlns:a16="http://schemas.microsoft.com/office/drawing/2014/main" val="3793490099"/>
                    </a:ext>
                  </a:extLst>
                </a:gridCol>
              </a:tblGrid>
              <a:tr h="389757">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Ref. No.</a:t>
                      </a:r>
                    </a:p>
                    <a:p>
                      <a:pPr marL="0" marR="0" algn="ctr">
                        <a:lnSpc>
                          <a:spcPct val="107000"/>
                        </a:lnSpc>
                        <a:spcBef>
                          <a:spcPts val="0"/>
                        </a:spcBef>
                        <a:spcAft>
                          <a:spcPts val="0"/>
                        </a:spcAft>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&amp; Year</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Problem</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Dataset</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Algorithm</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Evaluation metrics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Advantages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Limitations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419208407"/>
                  </a:ext>
                </a:extLst>
              </a:tr>
              <a:tr h="1738261">
                <a:tc>
                  <a:txBody>
                    <a:bodyPr/>
                    <a:lstStyle/>
                    <a:p>
                      <a:pPr marL="0" marR="0" algn="ctr">
                        <a:lnSpc>
                          <a:spcPct val="107000"/>
                        </a:lnSpc>
                        <a:spcBef>
                          <a:spcPts val="0"/>
                        </a:spcBef>
                        <a:spcAft>
                          <a:spcPts val="0"/>
                        </a:spcAft>
                      </a:pPr>
                      <a:r>
                        <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rPr>
                        <a:t>[5]</a:t>
                      </a:r>
                    </a:p>
                    <a:p>
                      <a:pPr marL="0" marR="0" algn="ctr">
                        <a:lnSpc>
                          <a:spcPct val="107000"/>
                        </a:lnSpc>
                        <a:spcBef>
                          <a:spcPts val="0"/>
                        </a:spcBef>
                        <a:spcAft>
                          <a:spcPts val="0"/>
                        </a:spcAft>
                      </a:pPr>
                      <a:r>
                        <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rPr>
                        <a:t>&amp;</a:t>
                      </a:r>
                    </a:p>
                    <a:p>
                      <a:pPr marL="0" marR="0" algn="ctr">
                        <a:lnSpc>
                          <a:spcPct val="107000"/>
                        </a:lnSpc>
                        <a:spcBef>
                          <a:spcPts val="0"/>
                        </a:spcBef>
                        <a:spcAft>
                          <a:spcPts val="0"/>
                        </a:spcAft>
                      </a:pPr>
                      <a:r>
                        <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rPr>
                        <a:t> (2021)</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Lack of high-quality annotated datasets for legal contract review.</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CUAD (Contract Understanding Atticus Dataset)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IN" sz="1200" dirty="0">
                          <a:latin typeface="Times New Roman" panose="02020603050405020304" pitchFamily="18" charset="0"/>
                          <a:cs typeface="Times New Roman" panose="02020603050405020304" pitchFamily="18" charset="0"/>
                        </a:rPr>
                        <a:t>BERT, </a:t>
                      </a:r>
                      <a:r>
                        <a:rPr lang="en-IN" sz="1200" dirty="0" err="1">
                          <a:latin typeface="Times New Roman" panose="02020603050405020304" pitchFamily="18" charset="0"/>
                          <a:cs typeface="Times New Roman" panose="02020603050405020304" pitchFamily="18" charset="0"/>
                        </a:rPr>
                        <a:t>RoBERTa</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DeBERTa</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Longformer</a:t>
                      </a:r>
                      <a:r>
                        <a:rPr lang="en-IN" sz="1200" dirty="0">
                          <a:latin typeface="Times New Roman" panose="02020603050405020304" pitchFamily="18" charset="0"/>
                          <a:cs typeface="Times New Roman" panose="02020603050405020304" pitchFamily="18" charset="0"/>
                        </a:rPr>
                        <a:t>, Transformer-based Question Answering Models</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Precision, Recall, F1 Score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Large expert-annotated contract dataset, supports many contract analysis tasks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Limited mainly to commercial contracts and predefined clause categories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243046419"/>
                  </a:ext>
                </a:extLst>
              </a:tr>
              <a:tr h="1738261">
                <a:tc>
                  <a:txBody>
                    <a:bodyPr/>
                    <a:lstStyle/>
                    <a:p>
                      <a:pPr marL="0" marR="0" algn="ctr">
                        <a:lnSpc>
                          <a:spcPct val="107000"/>
                        </a:lnSpc>
                        <a:spcBef>
                          <a:spcPts val="0"/>
                        </a:spcBef>
                        <a:spcAft>
                          <a:spcPts val="0"/>
                        </a:spcAft>
                      </a:pPr>
                      <a:r>
                        <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rPr>
                        <a:t>[6]</a:t>
                      </a:r>
                    </a:p>
                    <a:p>
                      <a:pPr marL="0" marR="0" algn="ctr">
                        <a:lnSpc>
                          <a:spcPct val="107000"/>
                        </a:lnSpc>
                        <a:spcBef>
                          <a:spcPts val="0"/>
                        </a:spcBef>
                        <a:spcAft>
                          <a:spcPts val="0"/>
                        </a:spcAft>
                      </a:pPr>
                      <a:r>
                        <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rPr>
                        <a:t>&amp;</a:t>
                      </a:r>
                    </a:p>
                    <a:p>
                      <a:pPr marL="0" marR="0" algn="ctr">
                        <a:lnSpc>
                          <a:spcPct val="107000"/>
                        </a:lnSpc>
                        <a:spcBef>
                          <a:spcPts val="0"/>
                        </a:spcBef>
                        <a:spcAft>
                          <a:spcPts val="0"/>
                        </a:spcAft>
                      </a:pPr>
                      <a:r>
                        <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rPr>
                        <a:t> (2021)</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Existing NLI datasets do not support reasoning over entire contracts.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ContractNLI Dataset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IN" sz="1200" dirty="0" err="1">
                          <a:latin typeface="Times New Roman" panose="02020603050405020304" pitchFamily="18" charset="0"/>
                          <a:cs typeface="Times New Roman" panose="02020603050405020304" pitchFamily="18" charset="0"/>
                        </a:rPr>
                        <a:t>RoBERTa</a:t>
                      </a:r>
                      <a:r>
                        <a:rPr lang="en-IN" sz="1200" dirty="0">
                          <a:latin typeface="Times New Roman" panose="02020603050405020304" pitchFamily="18" charset="0"/>
                          <a:cs typeface="Times New Roman" panose="02020603050405020304" pitchFamily="18" charset="0"/>
                        </a:rPr>
                        <a:t>, BERT, </a:t>
                      </a:r>
                      <a:r>
                        <a:rPr lang="en-IN" sz="1200" dirty="0" err="1">
                          <a:latin typeface="Times New Roman" panose="02020603050405020304" pitchFamily="18" charset="0"/>
                          <a:cs typeface="Times New Roman" panose="02020603050405020304" pitchFamily="18" charset="0"/>
                        </a:rPr>
                        <a:t>DeBERTa</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Longformer</a:t>
                      </a:r>
                      <a:r>
                        <a:rPr lang="en-IN" sz="1200" dirty="0">
                          <a:latin typeface="Times New Roman" panose="02020603050405020304" pitchFamily="18" charset="0"/>
                          <a:cs typeface="Times New Roman" panose="02020603050405020304" pitchFamily="18" charset="0"/>
                        </a:rPr>
                        <a:t>, Transformer-based Natural Language Inference (NLI) models</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Accuracy-81.7%</a:t>
                      </a:r>
                    </a:p>
                    <a:p>
                      <a:pPr marL="0" marR="0" algn="ctr">
                        <a:lnSpc>
                          <a:spcPct val="107000"/>
                        </a:lnSpc>
                        <a:spcBef>
                          <a:spcPts val="0"/>
                        </a:spcBef>
                        <a:spcAft>
                          <a:spcPts val="0"/>
                        </a:spcAft>
                      </a:pP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Precision-80.5%</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Enables reasoning across complete legal documents rather than isolated sentences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Focused only on inference tasks; not suitable for broader legal analysis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585140833"/>
                  </a:ext>
                </a:extLst>
              </a:tr>
            </a:tbl>
          </a:graphicData>
        </a:graphic>
      </p:graphicFrame>
    </p:spTree>
    <p:extLst>
      <p:ext uri="{BB962C8B-B14F-4D97-AF65-F5344CB8AC3E}">
        <p14:creationId xmlns:p14="http://schemas.microsoft.com/office/powerpoint/2010/main" val="23386984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 </a:t>
            </a:r>
          </a:p>
        </p:txBody>
      </p:sp>
      <p:graphicFrame>
        <p:nvGraphicFramePr>
          <p:cNvPr id="4" name="Table 3">
            <a:extLst>
              <a:ext uri="{FF2B5EF4-FFF2-40B4-BE49-F238E27FC236}">
                <a16:creationId xmlns:a16="http://schemas.microsoft.com/office/drawing/2014/main" id="{4BEA85CC-5C78-4F14-92F4-463B844E7A15}"/>
              </a:ext>
            </a:extLst>
          </p:cNvPr>
          <p:cNvGraphicFramePr>
            <a:graphicFrameLocks noGrp="1"/>
          </p:cNvGraphicFramePr>
          <p:nvPr>
            <p:extLst>
              <p:ext uri="{D42A27DB-BD31-4B8C-83A1-F6EECF244321}">
                <p14:modId xmlns:p14="http://schemas.microsoft.com/office/powerpoint/2010/main" val="4181938328"/>
              </p:ext>
            </p:extLst>
          </p:nvPr>
        </p:nvGraphicFramePr>
        <p:xfrm>
          <a:off x="55416" y="781921"/>
          <a:ext cx="8936183" cy="3866279"/>
        </p:xfrm>
        <a:graphic>
          <a:graphicData uri="http://schemas.openxmlformats.org/drawingml/2006/table">
            <a:tbl>
              <a:tblPr firstRow="1" firstCol="1" bandRow="1">
                <a:tableStyleId>{5C22544A-7EE6-4342-B048-85BDC9FD1C3A}</a:tableStyleId>
              </a:tblPr>
              <a:tblGrid>
                <a:gridCol w="886693">
                  <a:extLst>
                    <a:ext uri="{9D8B030D-6E8A-4147-A177-3AD203B41FA5}">
                      <a16:colId xmlns:a16="http://schemas.microsoft.com/office/drawing/2014/main" val="3057034935"/>
                    </a:ext>
                  </a:extLst>
                </a:gridCol>
                <a:gridCol w="1442158">
                  <a:extLst>
                    <a:ext uri="{9D8B030D-6E8A-4147-A177-3AD203B41FA5}">
                      <a16:colId xmlns:a16="http://schemas.microsoft.com/office/drawing/2014/main" val="1602104467"/>
                    </a:ext>
                  </a:extLst>
                </a:gridCol>
                <a:gridCol w="1116249">
                  <a:extLst>
                    <a:ext uri="{9D8B030D-6E8A-4147-A177-3AD203B41FA5}">
                      <a16:colId xmlns:a16="http://schemas.microsoft.com/office/drawing/2014/main" val="2851784802"/>
                    </a:ext>
                  </a:extLst>
                </a:gridCol>
                <a:gridCol w="1528980">
                  <a:extLst>
                    <a:ext uri="{9D8B030D-6E8A-4147-A177-3AD203B41FA5}">
                      <a16:colId xmlns:a16="http://schemas.microsoft.com/office/drawing/2014/main" val="2666012794"/>
                    </a:ext>
                  </a:extLst>
                </a:gridCol>
                <a:gridCol w="1078728">
                  <a:extLst>
                    <a:ext uri="{9D8B030D-6E8A-4147-A177-3AD203B41FA5}">
                      <a16:colId xmlns:a16="http://schemas.microsoft.com/office/drawing/2014/main" val="1337382263"/>
                    </a:ext>
                  </a:extLst>
                </a:gridCol>
                <a:gridCol w="1379099">
                  <a:extLst>
                    <a:ext uri="{9D8B030D-6E8A-4147-A177-3AD203B41FA5}">
                      <a16:colId xmlns:a16="http://schemas.microsoft.com/office/drawing/2014/main" val="3261930833"/>
                    </a:ext>
                  </a:extLst>
                </a:gridCol>
                <a:gridCol w="1504276">
                  <a:extLst>
                    <a:ext uri="{9D8B030D-6E8A-4147-A177-3AD203B41FA5}">
                      <a16:colId xmlns:a16="http://schemas.microsoft.com/office/drawing/2014/main" val="3793490099"/>
                    </a:ext>
                  </a:extLst>
                </a:gridCol>
              </a:tblGrid>
              <a:tr h="389757">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Ref. No.</a:t>
                      </a:r>
                    </a:p>
                    <a:p>
                      <a:pPr marL="0" marR="0" algn="ctr">
                        <a:lnSpc>
                          <a:spcPct val="107000"/>
                        </a:lnSpc>
                        <a:spcBef>
                          <a:spcPts val="0"/>
                        </a:spcBef>
                        <a:spcAft>
                          <a:spcPts val="0"/>
                        </a:spcAft>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&amp; Year</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Problem</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Dataset</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Algorithm</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Evaluation metrics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Advantages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Limitations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419208407"/>
                  </a:ext>
                </a:extLst>
              </a:tr>
              <a:tr h="1738261">
                <a:tc>
                  <a:txBody>
                    <a:bodyPr/>
                    <a:lstStyle/>
                    <a:p>
                      <a:pPr marL="0" marR="0" algn="ctr">
                        <a:lnSpc>
                          <a:spcPct val="107000"/>
                        </a:lnSpc>
                        <a:spcBef>
                          <a:spcPts val="0"/>
                        </a:spcBef>
                        <a:spcAft>
                          <a:spcPts val="0"/>
                        </a:spcAft>
                      </a:pPr>
                      <a:r>
                        <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rPr>
                        <a:t>[7]</a:t>
                      </a:r>
                    </a:p>
                    <a:p>
                      <a:pPr marL="0" marR="0" algn="ctr">
                        <a:lnSpc>
                          <a:spcPct val="107000"/>
                        </a:lnSpc>
                        <a:spcBef>
                          <a:spcPts val="0"/>
                        </a:spcBef>
                        <a:spcAft>
                          <a:spcPts val="0"/>
                        </a:spcAft>
                      </a:pPr>
                      <a:r>
                        <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rPr>
                        <a:t>&amp;</a:t>
                      </a:r>
                    </a:p>
                    <a:p>
                      <a:pPr marL="0" marR="0" algn="ctr">
                        <a:lnSpc>
                          <a:spcPct val="107000"/>
                        </a:lnSpc>
                        <a:spcBef>
                          <a:spcPts val="0"/>
                        </a:spcBef>
                        <a:spcAft>
                          <a:spcPts val="0"/>
                        </a:spcAft>
                      </a:pPr>
                      <a:r>
                        <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rPr>
                        <a:t> (2023)</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Lack of benchmark datasets for merger agreement understanding.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MAUD Dataset (Merger Agreements)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IN" sz="1200" dirty="0">
                          <a:latin typeface="Times New Roman" panose="02020603050405020304" pitchFamily="18" charset="0"/>
                          <a:cs typeface="Times New Roman" panose="02020603050405020304" pitchFamily="18" charset="0"/>
                        </a:rPr>
                        <a:t>BERT, </a:t>
                      </a:r>
                      <a:r>
                        <a:rPr lang="en-IN" sz="1200" dirty="0" err="1">
                          <a:latin typeface="Times New Roman" panose="02020603050405020304" pitchFamily="18" charset="0"/>
                          <a:cs typeface="Times New Roman" panose="02020603050405020304" pitchFamily="18" charset="0"/>
                        </a:rPr>
                        <a:t>RoBERTa</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DeBERTa</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Longformer</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SpanBERT</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Accuracy74.8%, F1 Score-82.5%</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High-quality annotations for merger agreement analysis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Restricted to merger agreements; limited domain coverage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243046419"/>
                  </a:ext>
                </a:extLst>
              </a:tr>
              <a:tr h="1738261">
                <a:tc>
                  <a:txBody>
                    <a:bodyPr/>
                    <a:lstStyle/>
                    <a:p>
                      <a:pPr marL="0" marR="0" algn="ctr">
                        <a:lnSpc>
                          <a:spcPct val="107000"/>
                        </a:lnSpc>
                        <a:spcBef>
                          <a:spcPts val="0"/>
                        </a:spcBef>
                        <a:spcAft>
                          <a:spcPts val="0"/>
                        </a:spcAft>
                      </a:pPr>
                      <a:r>
                        <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rPr>
                        <a:t>[8]</a:t>
                      </a:r>
                    </a:p>
                    <a:p>
                      <a:pPr marL="0" marR="0" algn="ctr">
                        <a:lnSpc>
                          <a:spcPct val="107000"/>
                        </a:lnSpc>
                        <a:spcBef>
                          <a:spcPts val="0"/>
                        </a:spcBef>
                        <a:spcAft>
                          <a:spcPts val="0"/>
                        </a:spcAft>
                      </a:pPr>
                      <a:r>
                        <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rPr>
                        <a:t>&amp;</a:t>
                      </a:r>
                    </a:p>
                    <a:p>
                      <a:pPr marL="0" marR="0" algn="ctr">
                        <a:lnSpc>
                          <a:spcPct val="107000"/>
                        </a:lnSpc>
                        <a:spcBef>
                          <a:spcPts val="0"/>
                        </a:spcBef>
                        <a:spcAft>
                          <a:spcPts val="0"/>
                        </a:spcAft>
                      </a:pPr>
                      <a:r>
                        <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rPr>
                        <a:t> (2021)</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Absence of unified benchmark for legal language understanding.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LexGLUE Benchmark (multiple legal NLP datasets)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IN" sz="1200" dirty="0">
                          <a:latin typeface="Times New Roman" panose="02020603050405020304" pitchFamily="18" charset="0"/>
                          <a:cs typeface="Times New Roman" panose="02020603050405020304" pitchFamily="18" charset="0"/>
                        </a:rPr>
                        <a:t>BERT, </a:t>
                      </a:r>
                      <a:r>
                        <a:rPr lang="en-IN" sz="1200" dirty="0" err="1">
                          <a:latin typeface="Times New Roman" panose="02020603050405020304" pitchFamily="18" charset="0"/>
                          <a:cs typeface="Times New Roman" panose="02020603050405020304" pitchFamily="18" charset="0"/>
                        </a:rPr>
                        <a:t>RoBERTa</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DeBERTa</a:t>
                      </a:r>
                      <a:r>
                        <a:rPr lang="en-IN" sz="1200" dirty="0">
                          <a:latin typeface="Times New Roman" panose="02020603050405020304" pitchFamily="18" charset="0"/>
                          <a:cs typeface="Times New Roman" panose="02020603050405020304" pitchFamily="18" charset="0"/>
                        </a:rPr>
                        <a:t>, Legal-BERT, </a:t>
                      </a:r>
                      <a:r>
                        <a:rPr lang="en-IN" sz="1200" dirty="0" err="1">
                          <a:latin typeface="Times New Roman" panose="02020603050405020304" pitchFamily="18" charset="0"/>
                          <a:cs typeface="Times New Roman" panose="02020603050405020304" pitchFamily="18" charset="0"/>
                        </a:rPr>
                        <a:t>CaseLaw</a:t>
                      </a:r>
                      <a:r>
                        <a:rPr lang="en-IN" sz="1200" dirty="0">
                          <a:latin typeface="Times New Roman" panose="02020603050405020304" pitchFamily="18" charset="0"/>
                          <a:cs typeface="Times New Roman" panose="02020603050405020304" pitchFamily="18" charset="0"/>
                        </a:rPr>
                        <a:t>-BERT, </a:t>
                      </a:r>
                      <a:r>
                        <a:rPr lang="en-IN" sz="1200" dirty="0" err="1">
                          <a:latin typeface="Times New Roman" panose="02020603050405020304" pitchFamily="18" charset="0"/>
                          <a:cs typeface="Times New Roman" panose="02020603050405020304" pitchFamily="18" charset="0"/>
                        </a:rPr>
                        <a:t>XLNet</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Accuracy~90%, Micro-F1, Macro-F1-83.7%</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Covers multiple legal NLP tasks under one benchmark</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Benchmark only; does not introduce a new legal reasoning model</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585140833"/>
                  </a:ext>
                </a:extLst>
              </a:tr>
            </a:tbl>
          </a:graphicData>
        </a:graphic>
      </p:graphicFrame>
    </p:spTree>
    <p:extLst>
      <p:ext uri="{BB962C8B-B14F-4D97-AF65-F5344CB8AC3E}">
        <p14:creationId xmlns:p14="http://schemas.microsoft.com/office/powerpoint/2010/main" val="9941166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 </a:t>
            </a:r>
          </a:p>
        </p:txBody>
      </p:sp>
      <p:graphicFrame>
        <p:nvGraphicFramePr>
          <p:cNvPr id="4" name="Table 3">
            <a:extLst>
              <a:ext uri="{FF2B5EF4-FFF2-40B4-BE49-F238E27FC236}">
                <a16:creationId xmlns:a16="http://schemas.microsoft.com/office/drawing/2014/main" id="{4BEA85CC-5C78-4F14-92F4-463B844E7A15}"/>
              </a:ext>
            </a:extLst>
          </p:cNvPr>
          <p:cNvGraphicFramePr>
            <a:graphicFrameLocks noGrp="1"/>
          </p:cNvGraphicFramePr>
          <p:nvPr>
            <p:extLst>
              <p:ext uri="{D42A27DB-BD31-4B8C-83A1-F6EECF244321}">
                <p14:modId xmlns:p14="http://schemas.microsoft.com/office/powerpoint/2010/main" val="4179977412"/>
              </p:ext>
            </p:extLst>
          </p:nvPr>
        </p:nvGraphicFramePr>
        <p:xfrm>
          <a:off x="103908" y="587957"/>
          <a:ext cx="8936183" cy="4050522"/>
        </p:xfrm>
        <a:graphic>
          <a:graphicData uri="http://schemas.openxmlformats.org/drawingml/2006/table">
            <a:tbl>
              <a:tblPr firstRow="1" firstCol="1" bandRow="1">
                <a:tableStyleId>{5C22544A-7EE6-4342-B048-85BDC9FD1C3A}</a:tableStyleId>
              </a:tblPr>
              <a:tblGrid>
                <a:gridCol w="886693">
                  <a:extLst>
                    <a:ext uri="{9D8B030D-6E8A-4147-A177-3AD203B41FA5}">
                      <a16:colId xmlns:a16="http://schemas.microsoft.com/office/drawing/2014/main" val="3057034935"/>
                    </a:ext>
                  </a:extLst>
                </a:gridCol>
                <a:gridCol w="1442158">
                  <a:extLst>
                    <a:ext uri="{9D8B030D-6E8A-4147-A177-3AD203B41FA5}">
                      <a16:colId xmlns:a16="http://schemas.microsoft.com/office/drawing/2014/main" val="1602104467"/>
                    </a:ext>
                  </a:extLst>
                </a:gridCol>
                <a:gridCol w="1116249">
                  <a:extLst>
                    <a:ext uri="{9D8B030D-6E8A-4147-A177-3AD203B41FA5}">
                      <a16:colId xmlns:a16="http://schemas.microsoft.com/office/drawing/2014/main" val="2851784802"/>
                    </a:ext>
                  </a:extLst>
                </a:gridCol>
                <a:gridCol w="1528980">
                  <a:extLst>
                    <a:ext uri="{9D8B030D-6E8A-4147-A177-3AD203B41FA5}">
                      <a16:colId xmlns:a16="http://schemas.microsoft.com/office/drawing/2014/main" val="2666012794"/>
                    </a:ext>
                  </a:extLst>
                </a:gridCol>
                <a:gridCol w="1078728">
                  <a:extLst>
                    <a:ext uri="{9D8B030D-6E8A-4147-A177-3AD203B41FA5}">
                      <a16:colId xmlns:a16="http://schemas.microsoft.com/office/drawing/2014/main" val="1337382263"/>
                    </a:ext>
                  </a:extLst>
                </a:gridCol>
                <a:gridCol w="1379099">
                  <a:extLst>
                    <a:ext uri="{9D8B030D-6E8A-4147-A177-3AD203B41FA5}">
                      <a16:colId xmlns:a16="http://schemas.microsoft.com/office/drawing/2014/main" val="3261930833"/>
                    </a:ext>
                  </a:extLst>
                </a:gridCol>
                <a:gridCol w="1504276">
                  <a:extLst>
                    <a:ext uri="{9D8B030D-6E8A-4147-A177-3AD203B41FA5}">
                      <a16:colId xmlns:a16="http://schemas.microsoft.com/office/drawing/2014/main" val="3793490099"/>
                    </a:ext>
                  </a:extLst>
                </a:gridCol>
              </a:tblGrid>
              <a:tr h="350766">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Ref. No.</a:t>
                      </a:r>
                    </a:p>
                    <a:p>
                      <a:pPr marL="0" marR="0" algn="ctr">
                        <a:lnSpc>
                          <a:spcPct val="107000"/>
                        </a:lnSpc>
                        <a:spcBef>
                          <a:spcPts val="0"/>
                        </a:spcBef>
                        <a:spcAft>
                          <a:spcPts val="0"/>
                        </a:spcAft>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&amp; Year</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Problem</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Dataset</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Algorithm</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Evaluation metrics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Advantages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Limitations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419208407"/>
                  </a:ext>
                </a:extLst>
              </a:tr>
              <a:tr h="2164964">
                <a:tc>
                  <a:txBody>
                    <a:bodyPr/>
                    <a:lstStyle/>
                    <a:p>
                      <a:pPr marL="0" marR="0" algn="ctr">
                        <a:lnSpc>
                          <a:spcPct val="107000"/>
                        </a:lnSpc>
                        <a:spcBef>
                          <a:spcPts val="0"/>
                        </a:spcBef>
                        <a:spcAft>
                          <a:spcPts val="0"/>
                        </a:spcAft>
                      </a:pPr>
                      <a:r>
                        <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rPr>
                        <a:t>[9]</a:t>
                      </a:r>
                    </a:p>
                    <a:p>
                      <a:pPr marL="0" marR="0" algn="ctr">
                        <a:lnSpc>
                          <a:spcPct val="107000"/>
                        </a:lnSpc>
                        <a:spcBef>
                          <a:spcPts val="0"/>
                        </a:spcBef>
                        <a:spcAft>
                          <a:spcPts val="0"/>
                        </a:spcAft>
                      </a:pPr>
                      <a:r>
                        <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rPr>
                        <a:t>&amp;</a:t>
                      </a:r>
                    </a:p>
                    <a:p>
                      <a:pPr marL="0" marR="0" algn="ctr">
                        <a:lnSpc>
                          <a:spcPct val="107000"/>
                        </a:lnSpc>
                        <a:spcBef>
                          <a:spcPts val="0"/>
                        </a:spcBef>
                        <a:spcAft>
                          <a:spcPts val="0"/>
                        </a:spcAft>
                      </a:pPr>
                      <a:r>
                        <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rPr>
                        <a:t>(2020)</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Lack of a large, publicly available dataset for classifying legal provisions in contracts and supporting Legal NLP research.</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b="0" dirty="0">
                          <a:effectLst/>
                          <a:latin typeface="Times New Roman" panose="02020603050405020304" pitchFamily="18" charset="0"/>
                          <a:ea typeface="Times New Roman" panose="02020603050405020304" pitchFamily="18" charset="0"/>
                          <a:cs typeface="Times New Roman" panose="02020603050405020304" pitchFamily="18" charset="0"/>
                        </a:rPr>
                        <a:t>LEDGAR corpus (846,274 legal provisions from 60,540 SEC contracts with 12,608 labels after filtering)</a:t>
                      </a:r>
                      <a:endParaRPr lang="en-US"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IN" sz="1200" dirty="0" err="1">
                          <a:latin typeface="Times New Roman" panose="02020603050405020304" pitchFamily="18" charset="0"/>
                          <a:cs typeface="Times New Roman" panose="02020603050405020304" pitchFamily="18" charset="0"/>
                        </a:rPr>
                        <a:t>FastText</a:t>
                      </a:r>
                      <a:r>
                        <a:rPr lang="en-IN" sz="1200" dirty="0">
                          <a:latin typeface="Times New Roman" panose="02020603050405020304" pitchFamily="18" charset="0"/>
                          <a:cs typeface="Times New Roman" panose="02020603050405020304" pitchFamily="18" charset="0"/>
                        </a:rPr>
                        <a:t>, CNN, </a:t>
                      </a:r>
                      <a:r>
                        <a:rPr lang="en-IN" sz="1200" dirty="0" err="1">
                          <a:latin typeface="Times New Roman" panose="02020603050405020304" pitchFamily="18" charset="0"/>
                          <a:cs typeface="Times New Roman" panose="02020603050405020304" pitchFamily="18" charset="0"/>
                        </a:rPr>
                        <a:t>BiLSTM</a:t>
                      </a:r>
                      <a:r>
                        <a:rPr lang="en-IN" sz="1200" dirty="0">
                          <a:latin typeface="Times New Roman" panose="02020603050405020304" pitchFamily="18" charset="0"/>
                          <a:cs typeface="Times New Roman" panose="02020603050405020304" pitchFamily="18" charset="0"/>
                        </a:rPr>
                        <a:t>, BERT, Hierarchical Attention Networks</a:t>
                      </a:r>
                      <a:endParaRPr lang="en-US" sz="1100" b="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Precision-90.1%, Recall-88.4%, </a:t>
                      </a:r>
                    </a:p>
                    <a:p>
                      <a:pPr marL="0" marR="0" algn="ctr">
                        <a:lnSpc>
                          <a:spcPct val="107000"/>
                        </a:lnSpc>
                        <a:spcBef>
                          <a:spcPts val="0"/>
                        </a:spcBef>
                        <a:spcAft>
                          <a:spcPts val="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Macro F1-score-77.6%, </a:t>
                      </a:r>
                    </a:p>
                    <a:p>
                      <a:pPr marL="0" marR="0" algn="ctr">
                        <a:lnSpc>
                          <a:spcPct val="107000"/>
                        </a:lnSpc>
                        <a:spcBef>
                          <a:spcPts val="0"/>
                        </a:spcBef>
                        <a:spcAft>
                          <a:spcPts val="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Micro F1-score-89%</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Provides a large-scale, publicly available legal corpus with over 12,000 labels; supports research in Legal NLP.</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Dataset is primarily derived from SEC Exhibit-10 contracts, making it domain-specific.</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243046419"/>
                  </a:ext>
                </a:extLst>
              </a:tr>
              <a:tr h="1507352">
                <a:tc>
                  <a:txBody>
                    <a:bodyPr/>
                    <a:lstStyle/>
                    <a:p>
                      <a:pPr marL="0" marR="0" algn="ctr">
                        <a:lnSpc>
                          <a:spcPct val="107000"/>
                        </a:lnSpc>
                        <a:spcBef>
                          <a:spcPts val="0"/>
                        </a:spcBef>
                        <a:spcAft>
                          <a:spcPts val="0"/>
                        </a:spcAft>
                      </a:pPr>
                      <a:r>
                        <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rPr>
                        <a:t>[10]</a:t>
                      </a:r>
                    </a:p>
                    <a:p>
                      <a:pPr marL="0" marR="0" algn="ctr">
                        <a:lnSpc>
                          <a:spcPct val="107000"/>
                        </a:lnSpc>
                        <a:spcBef>
                          <a:spcPts val="0"/>
                        </a:spcBef>
                        <a:spcAft>
                          <a:spcPts val="0"/>
                        </a:spcAft>
                      </a:pPr>
                      <a:r>
                        <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rPr>
                        <a:t> &amp;</a:t>
                      </a:r>
                    </a:p>
                    <a:p>
                      <a:pPr marL="0" marR="0" algn="ctr">
                        <a:lnSpc>
                          <a:spcPct val="107000"/>
                        </a:lnSpc>
                        <a:spcBef>
                          <a:spcPts val="0"/>
                        </a:spcBef>
                        <a:spcAft>
                          <a:spcPts val="0"/>
                        </a:spcAft>
                      </a:pPr>
                      <a:r>
                        <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rPr>
                        <a:t> (2021)</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Predicting the correct legal case holding from judicial opinions is challenging.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CaseHOLD Dataset (53,000+ legal holdings)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IN" sz="1200" dirty="0">
                          <a:latin typeface="Times New Roman" panose="02020603050405020304" pitchFamily="18" charset="0"/>
                          <a:cs typeface="Times New Roman" panose="02020603050405020304" pitchFamily="18" charset="0"/>
                        </a:rPr>
                        <a:t>BERT, </a:t>
                      </a:r>
                      <a:r>
                        <a:rPr lang="en-IN" sz="1200" dirty="0" err="1">
                          <a:latin typeface="Times New Roman" panose="02020603050405020304" pitchFamily="18" charset="0"/>
                          <a:cs typeface="Times New Roman" panose="02020603050405020304" pitchFamily="18" charset="0"/>
                        </a:rPr>
                        <a:t>RoBERTa</a:t>
                      </a:r>
                      <a:r>
                        <a:rPr lang="en-IN" sz="1200" dirty="0">
                          <a:latin typeface="Times New Roman" panose="02020603050405020304" pitchFamily="18" charset="0"/>
                          <a:cs typeface="Times New Roman" panose="02020603050405020304" pitchFamily="18" charset="0"/>
                        </a:rPr>
                        <a:t>, Legal-BERT, </a:t>
                      </a:r>
                      <a:r>
                        <a:rPr lang="en-IN" sz="1200" dirty="0" err="1">
                          <a:latin typeface="Times New Roman" panose="02020603050405020304" pitchFamily="18" charset="0"/>
                          <a:cs typeface="Times New Roman" panose="02020603050405020304" pitchFamily="18" charset="0"/>
                        </a:rPr>
                        <a:t>CaseLaw</a:t>
                      </a:r>
                      <a:r>
                        <a:rPr lang="en-IN" sz="1200" dirty="0">
                          <a:latin typeface="Times New Roman" panose="02020603050405020304" pitchFamily="18" charset="0"/>
                          <a:cs typeface="Times New Roman" panose="02020603050405020304" pitchFamily="18" charset="0"/>
                        </a:rPr>
                        <a:t>-BERT, </a:t>
                      </a:r>
                      <a:r>
                        <a:rPr lang="en-IN" sz="1200" dirty="0" err="1">
                          <a:latin typeface="Times New Roman" panose="02020603050405020304" pitchFamily="18" charset="0"/>
                          <a:cs typeface="Times New Roman" panose="02020603050405020304" pitchFamily="18" charset="0"/>
                        </a:rPr>
                        <a:t>XLNet</a:t>
                      </a:r>
                      <a:r>
                        <a:rPr lang="en-IN" sz="1200" dirty="0">
                          <a:latin typeface="Times New Roman" panose="02020603050405020304" pitchFamily="18" charset="0"/>
                          <a:cs typeface="Times New Roman" panose="02020603050405020304" pitchFamily="18" charset="0"/>
                        </a:rPr>
                        <a:t>, ELECTRA</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Accuracy-79.4%</a:t>
                      </a:r>
                    </a:p>
                    <a:p>
                      <a:pPr marL="0" marR="0" algn="ctr">
                        <a:lnSpc>
                          <a:spcPct val="107000"/>
                        </a:lnSpc>
                        <a:spcBef>
                          <a:spcPts val="0"/>
                        </a:spcBef>
                        <a:spcAft>
                          <a:spcPts val="0"/>
                        </a:spcAft>
                      </a:pP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Macro F1-79.0%</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Large-scale dataset for legal reasoning and precedent prediction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Focused only on case holdings; does not address contract or document review</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585140833"/>
                  </a:ext>
                </a:extLst>
              </a:tr>
            </a:tbl>
          </a:graphicData>
        </a:graphic>
      </p:graphicFrame>
    </p:spTree>
    <p:extLst>
      <p:ext uri="{BB962C8B-B14F-4D97-AF65-F5344CB8AC3E}">
        <p14:creationId xmlns:p14="http://schemas.microsoft.com/office/powerpoint/2010/main" val="7514662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 </a:t>
            </a:r>
          </a:p>
        </p:txBody>
      </p:sp>
      <p:graphicFrame>
        <p:nvGraphicFramePr>
          <p:cNvPr id="4" name="Table 3">
            <a:extLst>
              <a:ext uri="{FF2B5EF4-FFF2-40B4-BE49-F238E27FC236}">
                <a16:creationId xmlns:a16="http://schemas.microsoft.com/office/drawing/2014/main" id="{4BEA85CC-5C78-4F14-92F4-463B844E7A15}"/>
              </a:ext>
            </a:extLst>
          </p:cNvPr>
          <p:cNvGraphicFramePr>
            <a:graphicFrameLocks noGrp="1"/>
          </p:cNvGraphicFramePr>
          <p:nvPr>
            <p:extLst>
              <p:ext uri="{D42A27DB-BD31-4B8C-83A1-F6EECF244321}">
                <p14:modId xmlns:p14="http://schemas.microsoft.com/office/powerpoint/2010/main" val="1398483194"/>
              </p:ext>
            </p:extLst>
          </p:nvPr>
        </p:nvGraphicFramePr>
        <p:xfrm>
          <a:off x="55416" y="781921"/>
          <a:ext cx="8936183" cy="3866279"/>
        </p:xfrm>
        <a:graphic>
          <a:graphicData uri="http://schemas.openxmlformats.org/drawingml/2006/table">
            <a:tbl>
              <a:tblPr firstRow="1" firstCol="1" bandRow="1">
                <a:tableStyleId>{5C22544A-7EE6-4342-B048-85BDC9FD1C3A}</a:tableStyleId>
              </a:tblPr>
              <a:tblGrid>
                <a:gridCol w="886693">
                  <a:extLst>
                    <a:ext uri="{9D8B030D-6E8A-4147-A177-3AD203B41FA5}">
                      <a16:colId xmlns:a16="http://schemas.microsoft.com/office/drawing/2014/main" val="3057034935"/>
                    </a:ext>
                  </a:extLst>
                </a:gridCol>
                <a:gridCol w="1442158">
                  <a:extLst>
                    <a:ext uri="{9D8B030D-6E8A-4147-A177-3AD203B41FA5}">
                      <a16:colId xmlns:a16="http://schemas.microsoft.com/office/drawing/2014/main" val="1602104467"/>
                    </a:ext>
                  </a:extLst>
                </a:gridCol>
                <a:gridCol w="1116249">
                  <a:extLst>
                    <a:ext uri="{9D8B030D-6E8A-4147-A177-3AD203B41FA5}">
                      <a16:colId xmlns:a16="http://schemas.microsoft.com/office/drawing/2014/main" val="2851784802"/>
                    </a:ext>
                  </a:extLst>
                </a:gridCol>
                <a:gridCol w="1528980">
                  <a:extLst>
                    <a:ext uri="{9D8B030D-6E8A-4147-A177-3AD203B41FA5}">
                      <a16:colId xmlns:a16="http://schemas.microsoft.com/office/drawing/2014/main" val="2666012794"/>
                    </a:ext>
                  </a:extLst>
                </a:gridCol>
                <a:gridCol w="1078728">
                  <a:extLst>
                    <a:ext uri="{9D8B030D-6E8A-4147-A177-3AD203B41FA5}">
                      <a16:colId xmlns:a16="http://schemas.microsoft.com/office/drawing/2014/main" val="1337382263"/>
                    </a:ext>
                  </a:extLst>
                </a:gridCol>
                <a:gridCol w="1379099">
                  <a:extLst>
                    <a:ext uri="{9D8B030D-6E8A-4147-A177-3AD203B41FA5}">
                      <a16:colId xmlns:a16="http://schemas.microsoft.com/office/drawing/2014/main" val="3261930833"/>
                    </a:ext>
                  </a:extLst>
                </a:gridCol>
                <a:gridCol w="1504276">
                  <a:extLst>
                    <a:ext uri="{9D8B030D-6E8A-4147-A177-3AD203B41FA5}">
                      <a16:colId xmlns:a16="http://schemas.microsoft.com/office/drawing/2014/main" val="3793490099"/>
                    </a:ext>
                  </a:extLst>
                </a:gridCol>
              </a:tblGrid>
              <a:tr h="389757">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Ref. No.</a:t>
                      </a:r>
                    </a:p>
                    <a:p>
                      <a:pPr marL="0" marR="0" algn="ctr">
                        <a:lnSpc>
                          <a:spcPct val="107000"/>
                        </a:lnSpc>
                        <a:spcBef>
                          <a:spcPts val="0"/>
                        </a:spcBef>
                        <a:spcAft>
                          <a:spcPts val="0"/>
                        </a:spcAft>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&amp; Year</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Problem</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Dataset</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Algorithm</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Evaluation metrics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Advantages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Limitations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419208407"/>
                  </a:ext>
                </a:extLst>
              </a:tr>
              <a:tr h="1738261">
                <a:tc>
                  <a:txBody>
                    <a:bodyPr/>
                    <a:lstStyle/>
                    <a:p>
                      <a:pPr marL="0" marR="0" algn="ctr">
                        <a:lnSpc>
                          <a:spcPct val="107000"/>
                        </a:lnSpc>
                        <a:spcBef>
                          <a:spcPts val="0"/>
                        </a:spcBef>
                        <a:spcAft>
                          <a:spcPts val="0"/>
                        </a:spcAft>
                      </a:pPr>
                      <a:r>
                        <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rPr>
                        <a:t>[11]</a:t>
                      </a:r>
                    </a:p>
                    <a:p>
                      <a:pPr marL="0" marR="0" algn="ctr">
                        <a:lnSpc>
                          <a:spcPct val="107000"/>
                        </a:lnSpc>
                        <a:spcBef>
                          <a:spcPts val="0"/>
                        </a:spcBef>
                        <a:spcAft>
                          <a:spcPts val="0"/>
                        </a:spcAft>
                      </a:pPr>
                      <a:r>
                        <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rPr>
                        <a:t>&amp;</a:t>
                      </a:r>
                    </a:p>
                    <a:p>
                      <a:pPr marL="0" marR="0" algn="ctr">
                        <a:lnSpc>
                          <a:spcPct val="107000"/>
                        </a:lnSpc>
                        <a:spcBef>
                          <a:spcPts val="0"/>
                        </a:spcBef>
                        <a:spcAft>
                          <a:spcPts val="0"/>
                        </a:spcAft>
                      </a:pPr>
                      <a:r>
                        <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rPr>
                        <a:t> (2023)</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Developing complex LLM applications with a single agent is difficult and limits collaboration.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No dedicated dataset (evaluated on coding, reasoning, and task-solving benchmarks)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dirty="0" err="1">
                          <a:effectLst/>
                          <a:latin typeface="Times New Roman" panose="02020603050405020304" pitchFamily="18" charset="0"/>
                          <a:ea typeface="Times New Roman" panose="02020603050405020304" pitchFamily="18" charset="0"/>
                          <a:cs typeface="Times New Roman" panose="02020603050405020304" pitchFamily="18" charset="0"/>
                        </a:rPr>
                        <a:t>AutoGen</a:t>
                      </a: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 Multi Agent Framework, Conversational Agents</a:t>
                      </a:r>
                    </a:p>
                    <a:p>
                      <a:pPr marL="0" marR="0" algn="ctr">
                        <a:lnSpc>
                          <a:spcPct val="107000"/>
                        </a:lnSpc>
                        <a:spcBef>
                          <a:spcPts val="0"/>
                        </a:spcBef>
                        <a:spcAft>
                          <a:spcPts val="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GPT-4,GPT-3.5</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Task Success Rate-94.4%, Human Evaluation-87%, Execution Success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Flexible multi-agent collaboration, supports tool usage, reusable framework</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Increased communication overhead, higher computational cost, depends on LLM quality</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243046419"/>
                  </a:ext>
                </a:extLst>
              </a:tr>
              <a:tr h="1738261">
                <a:tc>
                  <a:txBody>
                    <a:bodyPr/>
                    <a:lstStyle/>
                    <a:p>
                      <a:pPr marL="0" marR="0" algn="ctr">
                        <a:lnSpc>
                          <a:spcPct val="107000"/>
                        </a:lnSpc>
                        <a:spcBef>
                          <a:spcPts val="0"/>
                        </a:spcBef>
                        <a:spcAft>
                          <a:spcPts val="0"/>
                        </a:spcAft>
                      </a:pPr>
                      <a:r>
                        <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rPr>
                        <a:t>[12]</a:t>
                      </a:r>
                    </a:p>
                    <a:p>
                      <a:pPr marL="0" marR="0" algn="ctr">
                        <a:lnSpc>
                          <a:spcPct val="107000"/>
                        </a:lnSpc>
                        <a:spcBef>
                          <a:spcPts val="0"/>
                        </a:spcBef>
                        <a:spcAft>
                          <a:spcPts val="0"/>
                        </a:spcAft>
                      </a:pPr>
                      <a:r>
                        <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rPr>
                        <a:t>&amp;</a:t>
                      </a:r>
                    </a:p>
                    <a:p>
                      <a:pPr marL="0" marR="0" algn="ctr">
                        <a:lnSpc>
                          <a:spcPct val="107000"/>
                        </a:lnSpc>
                        <a:spcBef>
                          <a:spcPts val="0"/>
                        </a:spcBef>
                        <a:spcAft>
                          <a:spcPts val="0"/>
                        </a:spcAft>
                      </a:pPr>
                      <a:r>
                        <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rPr>
                        <a:t> (2023)</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Single-agent LLMs struggle with solving complex collaborative tasks.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AI Society simulation tasks (no fixed benchmark dataset)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IN" sz="1200" dirty="0">
                          <a:latin typeface="Times New Roman" panose="02020603050405020304" pitchFamily="18" charset="0"/>
                          <a:cs typeface="Times New Roman" panose="02020603050405020304" pitchFamily="18" charset="0"/>
                        </a:rPr>
                        <a:t>Role-Playing Multi-Agent Framework, Inception Prompting, GPT-4, GPT-3.5</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Task Completion Rate-91%, Qualitative Evaluation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Autonomous cooperation between specialized agents, scalable role-playing framework</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Susceptible to hallucinations and error propagation between agents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585140833"/>
                  </a:ext>
                </a:extLst>
              </a:tr>
            </a:tbl>
          </a:graphicData>
        </a:graphic>
      </p:graphicFrame>
    </p:spTree>
    <p:extLst>
      <p:ext uri="{BB962C8B-B14F-4D97-AF65-F5344CB8AC3E}">
        <p14:creationId xmlns:p14="http://schemas.microsoft.com/office/powerpoint/2010/main" val="16425207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 </a:t>
            </a:r>
          </a:p>
        </p:txBody>
      </p:sp>
      <p:graphicFrame>
        <p:nvGraphicFramePr>
          <p:cNvPr id="4" name="Table 3">
            <a:extLst>
              <a:ext uri="{FF2B5EF4-FFF2-40B4-BE49-F238E27FC236}">
                <a16:creationId xmlns:a16="http://schemas.microsoft.com/office/drawing/2014/main" id="{4BEA85CC-5C78-4F14-92F4-463B844E7A15}"/>
              </a:ext>
            </a:extLst>
          </p:cNvPr>
          <p:cNvGraphicFramePr>
            <a:graphicFrameLocks noGrp="1"/>
          </p:cNvGraphicFramePr>
          <p:nvPr>
            <p:extLst>
              <p:ext uri="{D42A27DB-BD31-4B8C-83A1-F6EECF244321}">
                <p14:modId xmlns:p14="http://schemas.microsoft.com/office/powerpoint/2010/main" val="360842256"/>
              </p:ext>
            </p:extLst>
          </p:nvPr>
        </p:nvGraphicFramePr>
        <p:xfrm>
          <a:off x="55416" y="781921"/>
          <a:ext cx="8936183" cy="3866279"/>
        </p:xfrm>
        <a:graphic>
          <a:graphicData uri="http://schemas.openxmlformats.org/drawingml/2006/table">
            <a:tbl>
              <a:tblPr firstRow="1" firstCol="1" bandRow="1">
                <a:tableStyleId>{5C22544A-7EE6-4342-B048-85BDC9FD1C3A}</a:tableStyleId>
              </a:tblPr>
              <a:tblGrid>
                <a:gridCol w="886693">
                  <a:extLst>
                    <a:ext uri="{9D8B030D-6E8A-4147-A177-3AD203B41FA5}">
                      <a16:colId xmlns:a16="http://schemas.microsoft.com/office/drawing/2014/main" val="3057034935"/>
                    </a:ext>
                  </a:extLst>
                </a:gridCol>
                <a:gridCol w="1442158">
                  <a:extLst>
                    <a:ext uri="{9D8B030D-6E8A-4147-A177-3AD203B41FA5}">
                      <a16:colId xmlns:a16="http://schemas.microsoft.com/office/drawing/2014/main" val="1602104467"/>
                    </a:ext>
                  </a:extLst>
                </a:gridCol>
                <a:gridCol w="1116249">
                  <a:extLst>
                    <a:ext uri="{9D8B030D-6E8A-4147-A177-3AD203B41FA5}">
                      <a16:colId xmlns:a16="http://schemas.microsoft.com/office/drawing/2014/main" val="2851784802"/>
                    </a:ext>
                  </a:extLst>
                </a:gridCol>
                <a:gridCol w="1528980">
                  <a:extLst>
                    <a:ext uri="{9D8B030D-6E8A-4147-A177-3AD203B41FA5}">
                      <a16:colId xmlns:a16="http://schemas.microsoft.com/office/drawing/2014/main" val="2666012794"/>
                    </a:ext>
                  </a:extLst>
                </a:gridCol>
                <a:gridCol w="1078728">
                  <a:extLst>
                    <a:ext uri="{9D8B030D-6E8A-4147-A177-3AD203B41FA5}">
                      <a16:colId xmlns:a16="http://schemas.microsoft.com/office/drawing/2014/main" val="1337382263"/>
                    </a:ext>
                  </a:extLst>
                </a:gridCol>
                <a:gridCol w="1379099">
                  <a:extLst>
                    <a:ext uri="{9D8B030D-6E8A-4147-A177-3AD203B41FA5}">
                      <a16:colId xmlns:a16="http://schemas.microsoft.com/office/drawing/2014/main" val="3261930833"/>
                    </a:ext>
                  </a:extLst>
                </a:gridCol>
                <a:gridCol w="1504276">
                  <a:extLst>
                    <a:ext uri="{9D8B030D-6E8A-4147-A177-3AD203B41FA5}">
                      <a16:colId xmlns:a16="http://schemas.microsoft.com/office/drawing/2014/main" val="3793490099"/>
                    </a:ext>
                  </a:extLst>
                </a:gridCol>
              </a:tblGrid>
              <a:tr h="389757">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Ref. No.</a:t>
                      </a:r>
                    </a:p>
                    <a:p>
                      <a:pPr marL="0" marR="0" algn="ctr">
                        <a:lnSpc>
                          <a:spcPct val="107000"/>
                        </a:lnSpc>
                        <a:spcBef>
                          <a:spcPts val="0"/>
                        </a:spcBef>
                        <a:spcAft>
                          <a:spcPts val="0"/>
                        </a:spcAft>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&amp; Year</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Problem</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Dataset</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Algorithm</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Evaluation metrics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Advantages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Limitations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419208407"/>
                  </a:ext>
                </a:extLst>
              </a:tr>
              <a:tr h="1738261">
                <a:tc>
                  <a:txBody>
                    <a:bodyPr/>
                    <a:lstStyle/>
                    <a:p>
                      <a:pPr marL="0" marR="0" algn="ctr">
                        <a:lnSpc>
                          <a:spcPct val="107000"/>
                        </a:lnSpc>
                        <a:spcBef>
                          <a:spcPts val="0"/>
                        </a:spcBef>
                        <a:spcAft>
                          <a:spcPts val="0"/>
                        </a:spcAft>
                      </a:pPr>
                      <a:r>
                        <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rPr>
                        <a:t>[13]</a:t>
                      </a:r>
                    </a:p>
                    <a:p>
                      <a:pPr marL="0" marR="0" algn="ctr">
                        <a:lnSpc>
                          <a:spcPct val="107000"/>
                        </a:lnSpc>
                        <a:spcBef>
                          <a:spcPts val="0"/>
                        </a:spcBef>
                        <a:spcAft>
                          <a:spcPts val="0"/>
                        </a:spcAft>
                      </a:pPr>
                      <a:r>
                        <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rPr>
                        <a:t>&amp;</a:t>
                      </a:r>
                    </a:p>
                    <a:p>
                      <a:pPr marL="0" marR="0" algn="ctr">
                        <a:lnSpc>
                          <a:spcPct val="107000"/>
                        </a:lnSpc>
                        <a:spcBef>
                          <a:spcPts val="0"/>
                        </a:spcBef>
                        <a:spcAft>
                          <a:spcPts val="0"/>
                        </a:spcAft>
                      </a:pPr>
                      <a:r>
                        <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rPr>
                        <a:t> (2023)</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Building software using LLMs lacks structured collaboration and role specialization.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HumanEval, MBPP, Software Engineering tasks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IN" sz="1200" dirty="0" err="1">
                          <a:latin typeface="Times New Roman" panose="02020603050405020304" pitchFamily="18" charset="0"/>
                          <a:cs typeface="Times New Roman" panose="02020603050405020304" pitchFamily="18" charset="0"/>
                        </a:rPr>
                        <a:t>MetaGPT</a:t>
                      </a:r>
                      <a:r>
                        <a:rPr lang="en-IN" sz="1200" dirty="0">
                          <a:latin typeface="Times New Roman" panose="02020603050405020304" pitchFamily="18" charset="0"/>
                          <a:cs typeface="Times New Roman" panose="02020603050405020304" pitchFamily="18" charset="0"/>
                        </a:rPr>
                        <a:t> Multi-Agent Framework, SOP (Standard Operating Procedure), GPT-4, Multi-Agent Workflow</a:t>
                      </a:r>
                      <a:endParaRPr lang="en-US" sz="1200" b="0" i="0" u="none" strike="noStrike" cap="none" dirty="0">
                        <a:solidFill>
                          <a:schemeClr val="dk1"/>
                        </a:solidFill>
                        <a:latin typeface="Times New Roman" panose="02020603050405020304" pitchFamily="18" charset="0"/>
                        <a:ea typeface="+mn-ea"/>
                        <a:cs typeface="Times New Roman" panose="02020603050405020304" pitchFamily="18" charset="0"/>
                        <a:sym typeface="Arial"/>
                      </a:endParaRPr>
                    </a:p>
                  </a:txBody>
                  <a:tcPr marL="9525" marR="9525" marT="9525" marB="9525" anchor="ctr"/>
                </a:tc>
                <a:tc>
                  <a:txBody>
                    <a:bodyPr/>
                    <a:lstStyle/>
                    <a:p>
                      <a:pPr marL="0" marR="0" algn="ctr">
                        <a:lnSpc>
                          <a:spcPct val="107000"/>
                        </a:lnSpc>
                        <a:spcBef>
                          <a:spcPts val="0"/>
                        </a:spcBef>
                        <a:spcAft>
                          <a:spcPts val="0"/>
                        </a:spcAft>
                      </a:pPr>
                      <a:r>
                        <a:rPr lang="en-US" sz="1200" dirty="0" err="1">
                          <a:effectLst/>
                          <a:latin typeface="Times New Roman" panose="02020603050405020304" pitchFamily="18" charset="0"/>
                          <a:ea typeface="Times New Roman" panose="02020603050405020304" pitchFamily="18" charset="0"/>
                          <a:cs typeface="Times New Roman" panose="02020603050405020304" pitchFamily="18" charset="0"/>
                        </a:rPr>
                        <a:t>Pass@k</a:t>
                      </a: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 Human Evaluation-86%, Task Completion-92%</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Structured workflow, role specialization, improved software generation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Mainly focused on software engineering; computationally intensive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243046419"/>
                  </a:ext>
                </a:extLst>
              </a:tr>
              <a:tr h="1738261">
                <a:tc>
                  <a:txBody>
                    <a:bodyPr/>
                    <a:lstStyle/>
                    <a:p>
                      <a:pPr marL="0" marR="0" algn="ctr">
                        <a:lnSpc>
                          <a:spcPct val="107000"/>
                        </a:lnSpc>
                        <a:spcBef>
                          <a:spcPts val="0"/>
                        </a:spcBef>
                        <a:spcAft>
                          <a:spcPts val="0"/>
                        </a:spcAft>
                      </a:pPr>
                      <a:r>
                        <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rPr>
                        <a:t>[14]</a:t>
                      </a:r>
                    </a:p>
                    <a:p>
                      <a:pPr marL="0" marR="0" algn="ctr">
                        <a:lnSpc>
                          <a:spcPct val="107000"/>
                        </a:lnSpc>
                        <a:spcBef>
                          <a:spcPts val="0"/>
                        </a:spcBef>
                        <a:spcAft>
                          <a:spcPts val="0"/>
                        </a:spcAft>
                      </a:pPr>
                      <a:r>
                        <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rPr>
                        <a:t>&amp;</a:t>
                      </a:r>
                    </a:p>
                    <a:p>
                      <a:pPr marL="0" marR="0" algn="ctr">
                        <a:lnSpc>
                          <a:spcPct val="107000"/>
                        </a:lnSpc>
                        <a:spcBef>
                          <a:spcPts val="0"/>
                        </a:spcBef>
                        <a:spcAft>
                          <a:spcPts val="0"/>
                        </a:spcAft>
                      </a:pPr>
                      <a:r>
                        <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rPr>
                        <a:t> (2022)</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LLMs often fail to combine reasoning with external actions during problem solving.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HotpotQA, FEVER, ALFWorld, WebShop</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IN" sz="1200" dirty="0" err="1">
                          <a:latin typeface="Times New Roman" panose="02020603050405020304" pitchFamily="18" charset="0"/>
                          <a:cs typeface="Times New Roman" panose="02020603050405020304" pitchFamily="18" charset="0"/>
                        </a:rPr>
                        <a:t>ReAct</a:t>
                      </a:r>
                      <a:r>
                        <a:rPr lang="en-IN" sz="1200" dirty="0">
                          <a:latin typeface="Times New Roman" panose="02020603050405020304" pitchFamily="18" charset="0"/>
                          <a:cs typeface="Times New Roman" panose="02020603050405020304" pitchFamily="18" charset="0"/>
                        </a:rPr>
                        <a:t> (Reason + Act Prompting), Chain-of-Thought Reasoning, External Tool Interaction</a:t>
                      </a:r>
                    </a:p>
                    <a:p>
                      <a:pPr marL="0" marR="0" algn="ctr">
                        <a:lnSpc>
                          <a:spcPct val="107000"/>
                        </a:lnSpc>
                        <a:spcBef>
                          <a:spcPts val="0"/>
                        </a:spcBef>
                        <a:spcAft>
                          <a:spcPts val="0"/>
                        </a:spcAft>
                      </a:pPr>
                      <a:r>
                        <a:rPr lang="en-IN" sz="1200" b="0" i="0" u="none" strike="noStrike" cap="none" dirty="0">
                          <a:solidFill>
                            <a:schemeClr val="dk1"/>
                          </a:solidFill>
                          <a:latin typeface="Times New Roman" panose="02020603050405020304" pitchFamily="18" charset="0"/>
                          <a:ea typeface="+mn-ea"/>
                          <a:cs typeface="Times New Roman" panose="02020603050405020304" pitchFamily="18" charset="0"/>
                          <a:sym typeface="Arial"/>
                        </a:rPr>
                        <a:t>PaLM-540B, GPT-3</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Exact Match (EM)-40.8%, Success Rate-34%,</a:t>
                      </a:r>
                    </a:p>
                    <a:p>
                      <a:pPr marL="0" marR="0" algn="ctr">
                        <a:lnSpc>
                          <a:spcPct val="107000"/>
                        </a:lnSpc>
                        <a:spcBef>
                          <a:spcPts val="0"/>
                        </a:spcBef>
                        <a:spcAft>
                          <a:spcPts val="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 Accuracy</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Improves reasoning, enables interaction with external tools, reduces hallucinations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Performance depends on prompt quality and retrieval accuracy</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585140833"/>
                  </a:ext>
                </a:extLst>
              </a:tr>
            </a:tbl>
          </a:graphicData>
        </a:graphic>
      </p:graphicFrame>
    </p:spTree>
    <p:extLst>
      <p:ext uri="{BB962C8B-B14F-4D97-AF65-F5344CB8AC3E}">
        <p14:creationId xmlns:p14="http://schemas.microsoft.com/office/powerpoint/2010/main" val="28405495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 </a:t>
            </a:r>
          </a:p>
        </p:txBody>
      </p:sp>
      <p:graphicFrame>
        <p:nvGraphicFramePr>
          <p:cNvPr id="4" name="Table 3">
            <a:extLst>
              <a:ext uri="{FF2B5EF4-FFF2-40B4-BE49-F238E27FC236}">
                <a16:creationId xmlns:a16="http://schemas.microsoft.com/office/drawing/2014/main" id="{4BEA85CC-5C78-4F14-92F4-463B844E7A15}"/>
              </a:ext>
            </a:extLst>
          </p:cNvPr>
          <p:cNvGraphicFramePr>
            <a:graphicFrameLocks noGrp="1"/>
          </p:cNvGraphicFramePr>
          <p:nvPr>
            <p:extLst>
              <p:ext uri="{D42A27DB-BD31-4B8C-83A1-F6EECF244321}">
                <p14:modId xmlns:p14="http://schemas.microsoft.com/office/powerpoint/2010/main" val="1429816447"/>
              </p:ext>
            </p:extLst>
          </p:nvPr>
        </p:nvGraphicFramePr>
        <p:xfrm>
          <a:off x="55416" y="781921"/>
          <a:ext cx="8936183" cy="3866279"/>
        </p:xfrm>
        <a:graphic>
          <a:graphicData uri="http://schemas.openxmlformats.org/drawingml/2006/table">
            <a:tbl>
              <a:tblPr firstRow="1" firstCol="1" bandRow="1">
                <a:tableStyleId>{5C22544A-7EE6-4342-B048-85BDC9FD1C3A}</a:tableStyleId>
              </a:tblPr>
              <a:tblGrid>
                <a:gridCol w="886693">
                  <a:extLst>
                    <a:ext uri="{9D8B030D-6E8A-4147-A177-3AD203B41FA5}">
                      <a16:colId xmlns:a16="http://schemas.microsoft.com/office/drawing/2014/main" val="3057034935"/>
                    </a:ext>
                  </a:extLst>
                </a:gridCol>
                <a:gridCol w="1442158">
                  <a:extLst>
                    <a:ext uri="{9D8B030D-6E8A-4147-A177-3AD203B41FA5}">
                      <a16:colId xmlns:a16="http://schemas.microsoft.com/office/drawing/2014/main" val="1602104467"/>
                    </a:ext>
                  </a:extLst>
                </a:gridCol>
                <a:gridCol w="1116249">
                  <a:extLst>
                    <a:ext uri="{9D8B030D-6E8A-4147-A177-3AD203B41FA5}">
                      <a16:colId xmlns:a16="http://schemas.microsoft.com/office/drawing/2014/main" val="2851784802"/>
                    </a:ext>
                  </a:extLst>
                </a:gridCol>
                <a:gridCol w="1528980">
                  <a:extLst>
                    <a:ext uri="{9D8B030D-6E8A-4147-A177-3AD203B41FA5}">
                      <a16:colId xmlns:a16="http://schemas.microsoft.com/office/drawing/2014/main" val="2666012794"/>
                    </a:ext>
                  </a:extLst>
                </a:gridCol>
                <a:gridCol w="1078728">
                  <a:extLst>
                    <a:ext uri="{9D8B030D-6E8A-4147-A177-3AD203B41FA5}">
                      <a16:colId xmlns:a16="http://schemas.microsoft.com/office/drawing/2014/main" val="1337382263"/>
                    </a:ext>
                  </a:extLst>
                </a:gridCol>
                <a:gridCol w="1379099">
                  <a:extLst>
                    <a:ext uri="{9D8B030D-6E8A-4147-A177-3AD203B41FA5}">
                      <a16:colId xmlns:a16="http://schemas.microsoft.com/office/drawing/2014/main" val="3261930833"/>
                    </a:ext>
                  </a:extLst>
                </a:gridCol>
                <a:gridCol w="1504276">
                  <a:extLst>
                    <a:ext uri="{9D8B030D-6E8A-4147-A177-3AD203B41FA5}">
                      <a16:colId xmlns:a16="http://schemas.microsoft.com/office/drawing/2014/main" val="3793490099"/>
                    </a:ext>
                  </a:extLst>
                </a:gridCol>
              </a:tblGrid>
              <a:tr h="389757">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Ref. No.</a:t>
                      </a:r>
                    </a:p>
                    <a:p>
                      <a:pPr marL="0" marR="0" algn="ctr">
                        <a:lnSpc>
                          <a:spcPct val="107000"/>
                        </a:lnSpc>
                        <a:spcBef>
                          <a:spcPts val="0"/>
                        </a:spcBef>
                        <a:spcAft>
                          <a:spcPts val="0"/>
                        </a:spcAft>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&amp; Year</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Problem</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Dataset</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Algorithm</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Evaluation metrics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Advantages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Limitations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419208407"/>
                  </a:ext>
                </a:extLst>
              </a:tr>
              <a:tr h="1738261">
                <a:tc>
                  <a:txBody>
                    <a:bodyPr/>
                    <a:lstStyle/>
                    <a:p>
                      <a:pPr marL="0" marR="0" algn="ctr">
                        <a:lnSpc>
                          <a:spcPct val="107000"/>
                        </a:lnSpc>
                        <a:spcBef>
                          <a:spcPts val="0"/>
                        </a:spcBef>
                        <a:spcAft>
                          <a:spcPts val="0"/>
                        </a:spcAft>
                      </a:pPr>
                      <a:r>
                        <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rPr>
                        <a:t>[15]</a:t>
                      </a:r>
                    </a:p>
                    <a:p>
                      <a:pPr marL="0" marR="0" algn="ctr">
                        <a:lnSpc>
                          <a:spcPct val="107000"/>
                        </a:lnSpc>
                        <a:spcBef>
                          <a:spcPts val="0"/>
                        </a:spcBef>
                        <a:spcAft>
                          <a:spcPts val="0"/>
                        </a:spcAft>
                      </a:pPr>
                      <a:r>
                        <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rPr>
                        <a:t>&amp;</a:t>
                      </a:r>
                    </a:p>
                    <a:p>
                      <a:pPr marL="0" marR="0" algn="ctr">
                        <a:lnSpc>
                          <a:spcPct val="107000"/>
                        </a:lnSpc>
                        <a:spcBef>
                          <a:spcPts val="0"/>
                        </a:spcBef>
                        <a:spcAft>
                          <a:spcPts val="0"/>
                        </a:spcAft>
                      </a:pPr>
                      <a:r>
                        <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rPr>
                        <a:t> (2023)</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Traditional agents cannot learn effectively from previous mistakes without retraining.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HumanEval, ALFWorld, HotPotQA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IN" sz="1200" dirty="0">
                          <a:latin typeface="Times New Roman "/>
                        </a:rPr>
                        <a:t>Reflexion Framework, Verbal Reinforcement Learning, Self-Reflection, Memory-Augmented Agents</a:t>
                      </a:r>
                    </a:p>
                    <a:p>
                      <a:pPr marL="0" marR="0" algn="ctr">
                        <a:lnSpc>
                          <a:spcPct val="107000"/>
                        </a:lnSpc>
                        <a:spcBef>
                          <a:spcPts val="0"/>
                        </a:spcBef>
                        <a:spcAft>
                          <a:spcPts val="0"/>
                        </a:spcAft>
                      </a:pPr>
                      <a:r>
                        <a:rPr lang="en-IN" sz="1200" dirty="0">
                          <a:latin typeface="Times New Roman "/>
                        </a:rPr>
                        <a:t>GPT-4, GPT-3.5</a:t>
                      </a:r>
                      <a:endParaRPr lang="en-US" sz="1200" dirty="0">
                        <a:effectLst/>
                        <a:latin typeface="Times New Roman "/>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Pass@1-91.0%, Success Rate-97%</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Self-improving agents through reflection, improves reasoning without model retraining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Requires multiple iterations, increases inference time and cost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243046419"/>
                  </a:ext>
                </a:extLst>
              </a:tr>
              <a:tr h="1738261">
                <a:tc>
                  <a:txBody>
                    <a:bodyPr/>
                    <a:lstStyle/>
                    <a:p>
                      <a:pPr marL="0" marR="0" algn="ctr">
                        <a:lnSpc>
                          <a:spcPct val="107000"/>
                        </a:lnSpc>
                        <a:spcBef>
                          <a:spcPts val="0"/>
                        </a:spcBef>
                        <a:spcAft>
                          <a:spcPts val="0"/>
                        </a:spcAft>
                      </a:pPr>
                      <a:r>
                        <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rPr>
                        <a:t>[16]</a:t>
                      </a:r>
                    </a:p>
                    <a:p>
                      <a:pPr marL="0" marR="0" algn="ctr">
                        <a:lnSpc>
                          <a:spcPct val="107000"/>
                        </a:lnSpc>
                        <a:spcBef>
                          <a:spcPts val="0"/>
                        </a:spcBef>
                        <a:spcAft>
                          <a:spcPts val="0"/>
                        </a:spcAft>
                      </a:pPr>
                      <a:r>
                        <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rPr>
                        <a:t>&amp;</a:t>
                      </a:r>
                    </a:p>
                    <a:p>
                      <a:pPr marL="0" marR="0" algn="ctr">
                        <a:lnSpc>
                          <a:spcPct val="107000"/>
                        </a:lnSpc>
                        <a:spcBef>
                          <a:spcPts val="0"/>
                        </a:spcBef>
                        <a:spcAft>
                          <a:spcPts val="0"/>
                        </a:spcAft>
                      </a:pPr>
                      <a:r>
                        <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rPr>
                        <a:t> (2023)</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Conventional RAG systems retrieve information without evaluating retrieval quality.</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Natural Questions, TriviaQA, PopQA, FEVER and other QA benchmarks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IN" sz="1200" dirty="0">
                          <a:latin typeface="Times New Roman" panose="02020603050405020304" pitchFamily="18" charset="0"/>
                          <a:cs typeface="Times New Roman" panose="02020603050405020304" pitchFamily="18" charset="0"/>
                        </a:rPr>
                        <a:t>LLaMA-2 (7B, 13B), GPT-based evaluation</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Exact Match (EM)-54.7%,</a:t>
                      </a:r>
                    </a:p>
                    <a:p>
                      <a:pPr marL="0" marR="0" algn="ctr">
                        <a:lnSpc>
                          <a:spcPct val="107000"/>
                        </a:lnSpc>
                        <a:spcBef>
                          <a:spcPts val="0"/>
                        </a:spcBef>
                        <a:spcAft>
                          <a:spcPts val="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 F1 Score-58.8%,</a:t>
                      </a:r>
                    </a:p>
                    <a:p>
                      <a:pPr marL="0" marR="0" algn="ctr">
                        <a:lnSpc>
                          <a:spcPct val="107000"/>
                        </a:lnSpc>
                        <a:spcBef>
                          <a:spcPts val="0"/>
                        </a:spcBef>
                        <a:spcAft>
                          <a:spcPts val="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 Accuracy-68%</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Reduces hallucinations, dynamically decides when retrieval is needed, improves factual accuracy</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More computationally expensive due to retrieval and self-reflection steps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585140833"/>
                  </a:ext>
                </a:extLst>
              </a:tr>
            </a:tbl>
          </a:graphicData>
        </a:graphic>
      </p:graphicFrame>
    </p:spTree>
    <p:extLst>
      <p:ext uri="{BB962C8B-B14F-4D97-AF65-F5344CB8AC3E}">
        <p14:creationId xmlns:p14="http://schemas.microsoft.com/office/powerpoint/2010/main" val="41230331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 </a:t>
            </a:r>
          </a:p>
        </p:txBody>
      </p:sp>
      <p:graphicFrame>
        <p:nvGraphicFramePr>
          <p:cNvPr id="4" name="Table 3">
            <a:extLst>
              <a:ext uri="{FF2B5EF4-FFF2-40B4-BE49-F238E27FC236}">
                <a16:creationId xmlns:a16="http://schemas.microsoft.com/office/drawing/2014/main" id="{4BEA85CC-5C78-4F14-92F4-463B844E7A15}"/>
              </a:ext>
            </a:extLst>
          </p:cNvPr>
          <p:cNvGraphicFramePr>
            <a:graphicFrameLocks noGrp="1"/>
          </p:cNvGraphicFramePr>
          <p:nvPr>
            <p:extLst>
              <p:ext uri="{D42A27DB-BD31-4B8C-83A1-F6EECF244321}">
                <p14:modId xmlns:p14="http://schemas.microsoft.com/office/powerpoint/2010/main" val="1721145292"/>
              </p:ext>
            </p:extLst>
          </p:nvPr>
        </p:nvGraphicFramePr>
        <p:xfrm>
          <a:off x="55416" y="781921"/>
          <a:ext cx="8936183" cy="3866279"/>
        </p:xfrm>
        <a:graphic>
          <a:graphicData uri="http://schemas.openxmlformats.org/drawingml/2006/table">
            <a:tbl>
              <a:tblPr firstRow="1" firstCol="1" bandRow="1">
                <a:tableStyleId>{5C22544A-7EE6-4342-B048-85BDC9FD1C3A}</a:tableStyleId>
              </a:tblPr>
              <a:tblGrid>
                <a:gridCol w="886693">
                  <a:extLst>
                    <a:ext uri="{9D8B030D-6E8A-4147-A177-3AD203B41FA5}">
                      <a16:colId xmlns:a16="http://schemas.microsoft.com/office/drawing/2014/main" val="3057034935"/>
                    </a:ext>
                  </a:extLst>
                </a:gridCol>
                <a:gridCol w="1442158">
                  <a:extLst>
                    <a:ext uri="{9D8B030D-6E8A-4147-A177-3AD203B41FA5}">
                      <a16:colId xmlns:a16="http://schemas.microsoft.com/office/drawing/2014/main" val="1602104467"/>
                    </a:ext>
                  </a:extLst>
                </a:gridCol>
                <a:gridCol w="1116249">
                  <a:extLst>
                    <a:ext uri="{9D8B030D-6E8A-4147-A177-3AD203B41FA5}">
                      <a16:colId xmlns:a16="http://schemas.microsoft.com/office/drawing/2014/main" val="2851784802"/>
                    </a:ext>
                  </a:extLst>
                </a:gridCol>
                <a:gridCol w="1528980">
                  <a:extLst>
                    <a:ext uri="{9D8B030D-6E8A-4147-A177-3AD203B41FA5}">
                      <a16:colId xmlns:a16="http://schemas.microsoft.com/office/drawing/2014/main" val="2666012794"/>
                    </a:ext>
                  </a:extLst>
                </a:gridCol>
                <a:gridCol w="1078728">
                  <a:extLst>
                    <a:ext uri="{9D8B030D-6E8A-4147-A177-3AD203B41FA5}">
                      <a16:colId xmlns:a16="http://schemas.microsoft.com/office/drawing/2014/main" val="1337382263"/>
                    </a:ext>
                  </a:extLst>
                </a:gridCol>
                <a:gridCol w="1379099">
                  <a:extLst>
                    <a:ext uri="{9D8B030D-6E8A-4147-A177-3AD203B41FA5}">
                      <a16:colId xmlns:a16="http://schemas.microsoft.com/office/drawing/2014/main" val="3261930833"/>
                    </a:ext>
                  </a:extLst>
                </a:gridCol>
                <a:gridCol w="1504276">
                  <a:extLst>
                    <a:ext uri="{9D8B030D-6E8A-4147-A177-3AD203B41FA5}">
                      <a16:colId xmlns:a16="http://schemas.microsoft.com/office/drawing/2014/main" val="3793490099"/>
                    </a:ext>
                  </a:extLst>
                </a:gridCol>
              </a:tblGrid>
              <a:tr h="389757">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Ref. No.</a:t>
                      </a:r>
                    </a:p>
                    <a:p>
                      <a:pPr marL="0" marR="0" algn="ctr">
                        <a:lnSpc>
                          <a:spcPct val="107000"/>
                        </a:lnSpc>
                        <a:spcBef>
                          <a:spcPts val="0"/>
                        </a:spcBef>
                        <a:spcAft>
                          <a:spcPts val="0"/>
                        </a:spcAft>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&amp; Year</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Problem</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Dataset</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Algorithm</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Evaluation metrics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Advantages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Limitations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419208407"/>
                  </a:ext>
                </a:extLst>
              </a:tr>
              <a:tr h="1738261">
                <a:tc>
                  <a:txBody>
                    <a:bodyPr/>
                    <a:lstStyle/>
                    <a:p>
                      <a:pPr marL="0" marR="0" algn="ctr">
                        <a:lnSpc>
                          <a:spcPct val="107000"/>
                        </a:lnSpc>
                        <a:spcBef>
                          <a:spcPts val="0"/>
                        </a:spcBef>
                        <a:spcAft>
                          <a:spcPts val="0"/>
                        </a:spcAft>
                      </a:pPr>
                      <a:r>
                        <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rPr>
                        <a:t>[17]</a:t>
                      </a:r>
                    </a:p>
                    <a:p>
                      <a:pPr marL="0" marR="0" algn="ctr">
                        <a:lnSpc>
                          <a:spcPct val="107000"/>
                        </a:lnSpc>
                        <a:spcBef>
                          <a:spcPts val="0"/>
                        </a:spcBef>
                        <a:spcAft>
                          <a:spcPts val="0"/>
                        </a:spcAft>
                      </a:pPr>
                      <a:r>
                        <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rPr>
                        <a:t>&amp;</a:t>
                      </a:r>
                    </a:p>
                    <a:p>
                      <a:pPr marL="0" marR="0" algn="ctr">
                        <a:lnSpc>
                          <a:spcPct val="107000"/>
                        </a:lnSpc>
                        <a:spcBef>
                          <a:spcPts val="0"/>
                        </a:spcBef>
                        <a:spcAft>
                          <a:spcPts val="0"/>
                        </a:spcAft>
                      </a:pPr>
                      <a:r>
                        <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rPr>
                        <a:t> (2024)</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Standard RAG systems retrieve irrelevant or incorrect information without correction.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PopQA, Natural Questions, TriviaQA and open-domain QA datasets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IN" sz="1200" dirty="0">
                          <a:latin typeface="Times New Roman" panose="02020603050405020304" pitchFamily="18" charset="0"/>
                          <a:cs typeface="Times New Roman" panose="02020603050405020304" pitchFamily="18" charset="0"/>
                        </a:rPr>
                        <a:t>Corrective Retrieval-Augmented Generation (CRAG), Retrieval Evaluator, Web Search Augmentation, Knowledge Refinement</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Exact Match (EM), F1 Score-60.3%, </a:t>
                      </a:r>
                    </a:p>
                    <a:p>
                      <a:pPr marL="0" marR="0" algn="ctr">
                        <a:lnSpc>
                          <a:spcPct val="107000"/>
                        </a:lnSpc>
                        <a:spcBef>
                          <a:spcPts val="0"/>
                        </a:spcBef>
                        <a:spcAft>
                          <a:spcPts val="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Retrieval+8-10% Accuracy</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Corrects poor retrieval results, improves robustness and factual consistency</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Additional retrieval verification increases latency and system complexity</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243046419"/>
                  </a:ext>
                </a:extLst>
              </a:tr>
              <a:tr h="1738261">
                <a:tc>
                  <a:txBody>
                    <a:bodyPr/>
                    <a:lstStyle/>
                    <a:p>
                      <a:pPr marL="0" marR="0" algn="ctr">
                        <a:lnSpc>
                          <a:spcPct val="107000"/>
                        </a:lnSpc>
                        <a:spcBef>
                          <a:spcPts val="0"/>
                        </a:spcBef>
                        <a:spcAft>
                          <a:spcPts val="0"/>
                        </a:spcAft>
                      </a:pPr>
                      <a:r>
                        <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rPr>
                        <a:t>[18]</a:t>
                      </a:r>
                    </a:p>
                    <a:p>
                      <a:pPr marL="0" marR="0" algn="ctr">
                        <a:lnSpc>
                          <a:spcPct val="107000"/>
                        </a:lnSpc>
                        <a:spcBef>
                          <a:spcPts val="0"/>
                        </a:spcBef>
                        <a:spcAft>
                          <a:spcPts val="0"/>
                        </a:spcAft>
                      </a:pPr>
                      <a:r>
                        <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rPr>
                        <a:t>&amp;</a:t>
                      </a:r>
                    </a:p>
                    <a:p>
                      <a:pPr marL="0" marR="0" algn="ctr">
                        <a:lnSpc>
                          <a:spcPct val="107000"/>
                        </a:lnSpc>
                        <a:spcBef>
                          <a:spcPts val="0"/>
                        </a:spcBef>
                        <a:spcAft>
                          <a:spcPts val="0"/>
                        </a:spcAft>
                      </a:pPr>
                      <a:r>
                        <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rPr>
                        <a:t> (2024)</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Flat retrieval methods perform poorly on long and complex documents.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QuALITY, NarrativeQA, QASPER and long-document benchmarks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IN" sz="1200" dirty="0">
                          <a:latin typeface="Times New Roman" panose="02020603050405020304" pitchFamily="18" charset="0"/>
                          <a:cs typeface="Times New Roman" panose="02020603050405020304" pitchFamily="18" charset="0"/>
                        </a:rPr>
                        <a:t>RAPTOR, Recursive Tree-based Retrieval, Hierarchical Document Summarization, Dense Retrieval</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Exact Match (EM), F1 Score-60.2%, Accuracy-60.7%</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Hierarchical retrieval improves long-document understanding and retrieval quality</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Tree construction introduces preprocessing overhead and additional memory usage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585140833"/>
                  </a:ext>
                </a:extLst>
              </a:tr>
            </a:tbl>
          </a:graphicData>
        </a:graphic>
      </p:graphicFrame>
    </p:spTree>
    <p:extLst>
      <p:ext uri="{BB962C8B-B14F-4D97-AF65-F5344CB8AC3E}">
        <p14:creationId xmlns:p14="http://schemas.microsoft.com/office/powerpoint/2010/main" val="34554847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 </a:t>
            </a:r>
          </a:p>
        </p:txBody>
      </p:sp>
      <p:graphicFrame>
        <p:nvGraphicFramePr>
          <p:cNvPr id="4" name="Table 3">
            <a:extLst>
              <a:ext uri="{FF2B5EF4-FFF2-40B4-BE49-F238E27FC236}">
                <a16:creationId xmlns:a16="http://schemas.microsoft.com/office/drawing/2014/main" id="{4BEA85CC-5C78-4F14-92F4-463B844E7A15}"/>
              </a:ext>
            </a:extLst>
          </p:cNvPr>
          <p:cNvGraphicFramePr>
            <a:graphicFrameLocks noGrp="1"/>
          </p:cNvGraphicFramePr>
          <p:nvPr>
            <p:extLst>
              <p:ext uri="{D42A27DB-BD31-4B8C-83A1-F6EECF244321}">
                <p14:modId xmlns:p14="http://schemas.microsoft.com/office/powerpoint/2010/main" val="2842151235"/>
              </p:ext>
            </p:extLst>
          </p:nvPr>
        </p:nvGraphicFramePr>
        <p:xfrm>
          <a:off x="55416" y="781921"/>
          <a:ext cx="8936183" cy="4090930"/>
        </p:xfrm>
        <a:graphic>
          <a:graphicData uri="http://schemas.openxmlformats.org/drawingml/2006/table">
            <a:tbl>
              <a:tblPr firstRow="1" firstCol="1" bandRow="1">
                <a:tableStyleId>{5C22544A-7EE6-4342-B048-85BDC9FD1C3A}</a:tableStyleId>
              </a:tblPr>
              <a:tblGrid>
                <a:gridCol w="886693">
                  <a:extLst>
                    <a:ext uri="{9D8B030D-6E8A-4147-A177-3AD203B41FA5}">
                      <a16:colId xmlns:a16="http://schemas.microsoft.com/office/drawing/2014/main" val="3057034935"/>
                    </a:ext>
                  </a:extLst>
                </a:gridCol>
                <a:gridCol w="1442158">
                  <a:extLst>
                    <a:ext uri="{9D8B030D-6E8A-4147-A177-3AD203B41FA5}">
                      <a16:colId xmlns:a16="http://schemas.microsoft.com/office/drawing/2014/main" val="1602104467"/>
                    </a:ext>
                  </a:extLst>
                </a:gridCol>
                <a:gridCol w="1116249">
                  <a:extLst>
                    <a:ext uri="{9D8B030D-6E8A-4147-A177-3AD203B41FA5}">
                      <a16:colId xmlns:a16="http://schemas.microsoft.com/office/drawing/2014/main" val="2851784802"/>
                    </a:ext>
                  </a:extLst>
                </a:gridCol>
                <a:gridCol w="1528980">
                  <a:extLst>
                    <a:ext uri="{9D8B030D-6E8A-4147-A177-3AD203B41FA5}">
                      <a16:colId xmlns:a16="http://schemas.microsoft.com/office/drawing/2014/main" val="2666012794"/>
                    </a:ext>
                  </a:extLst>
                </a:gridCol>
                <a:gridCol w="1078728">
                  <a:extLst>
                    <a:ext uri="{9D8B030D-6E8A-4147-A177-3AD203B41FA5}">
                      <a16:colId xmlns:a16="http://schemas.microsoft.com/office/drawing/2014/main" val="1337382263"/>
                    </a:ext>
                  </a:extLst>
                </a:gridCol>
                <a:gridCol w="1379099">
                  <a:extLst>
                    <a:ext uri="{9D8B030D-6E8A-4147-A177-3AD203B41FA5}">
                      <a16:colId xmlns:a16="http://schemas.microsoft.com/office/drawing/2014/main" val="3261930833"/>
                    </a:ext>
                  </a:extLst>
                </a:gridCol>
                <a:gridCol w="1504276">
                  <a:extLst>
                    <a:ext uri="{9D8B030D-6E8A-4147-A177-3AD203B41FA5}">
                      <a16:colId xmlns:a16="http://schemas.microsoft.com/office/drawing/2014/main" val="3793490099"/>
                    </a:ext>
                  </a:extLst>
                </a:gridCol>
              </a:tblGrid>
              <a:tr h="389757">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Ref. No.</a:t>
                      </a:r>
                    </a:p>
                    <a:p>
                      <a:pPr marL="0" marR="0" algn="ctr">
                        <a:lnSpc>
                          <a:spcPct val="107000"/>
                        </a:lnSpc>
                        <a:spcBef>
                          <a:spcPts val="0"/>
                        </a:spcBef>
                        <a:spcAft>
                          <a:spcPts val="0"/>
                        </a:spcAft>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&amp; Year</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Problem</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Dataset</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Algorithm</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Evaluation metrics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Advantages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Limitations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419208407"/>
                  </a:ext>
                </a:extLst>
              </a:tr>
              <a:tr h="1738261">
                <a:tc>
                  <a:txBody>
                    <a:bodyPr/>
                    <a:lstStyle/>
                    <a:p>
                      <a:pPr marL="0" marR="0" algn="ctr" rtl="0">
                        <a:lnSpc>
                          <a:spcPct val="107000"/>
                        </a:lnSpc>
                        <a:spcBef>
                          <a:spcPts val="0"/>
                        </a:spcBef>
                        <a:spcAft>
                          <a:spcPts val="0"/>
                        </a:spcAft>
                        <a:buClr>
                          <a:srgbClr val="000000"/>
                        </a:buClr>
                        <a:buFont typeface="Arial"/>
                      </a:pPr>
                      <a:r>
                        <a:rPr lang="en-US" sz="1200" b="1" i="0" u="none" strike="noStrike" cap="none" dirty="0">
                          <a:solidFill>
                            <a:schemeClr val="lt1"/>
                          </a:solidFill>
                          <a:effectLst/>
                          <a:latin typeface="Times New Roman" panose="02020603050405020304" pitchFamily="18" charset="0"/>
                          <a:ea typeface="Times New Roman" panose="02020603050405020304" pitchFamily="18" charset="0"/>
                          <a:cs typeface="Times New Roman" panose="02020603050405020304" pitchFamily="18" charset="0"/>
                          <a:sym typeface="Arial"/>
                        </a:rPr>
                        <a:t>[19] </a:t>
                      </a:r>
                    </a:p>
                    <a:p>
                      <a:pPr marL="0" marR="0" algn="ctr" rtl="0">
                        <a:lnSpc>
                          <a:spcPct val="107000"/>
                        </a:lnSpc>
                        <a:spcBef>
                          <a:spcPts val="0"/>
                        </a:spcBef>
                        <a:spcAft>
                          <a:spcPts val="0"/>
                        </a:spcAft>
                        <a:buClr>
                          <a:srgbClr val="000000"/>
                        </a:buClr>
                        <a:buFont typeface="Arial"/>
                      </a:pPr>
                      <a:r>
                        <a:rPr lang="en-US" sz="1200" b="1" i="0" u="none" strike="noStrike" cap="none" dirty="0">
                          <a:solidFill>
                            <a:schemeClr val="lt1"/>
                          </a:solidFill>
                          <a:effectLst/>
                          <a:latin typeface="Times New Roman" panose="02020603050405020304" pitchFamily="18" charset="0"/>
                          <a:ea typeface="Times New Roman" panose="02020603050405020304" pitchFamily="18" charset="0"/>
                          <a:cs typeface="Times New Roman" panose="02020603050405020304" pitchFamily="18" charset="0"/>
                          <a:sym typeface="Arial"/>
                        </a:rPr>
                        <a:t>&amp;</a:t>
                      </a:r>
                    </a:p>
                    <a:p>
                      <a:pPr marL="0" marR="0" algn="ctr" rtl="0">
                        <a:lnSpc>
                          <a:spcPct val="107000"/>
                        </a:lnSpc>
                        <a:spcBef>
                          <a:spcPts val="0"/>
                        </a:spcBef>
                        <a:spcAft>
                          <a:spcPts val="0"/>
                        </a:spcAft>
                        <a:buClr>
                          <a:srgbClr val="000000"/>
                        </a:buClr>
                        <a:buFont typeface="Arial"/>
                      </a:pPr>
                      <a:r>
                        <a:rPr lang="en-US" sz="1200" b="1" i="0" u="none" strike="noStrike" cap="none" dirty="0">
                          <a:solidFill>
                            <a:schemeClr val="lt1"/>
                          </a:solidFill>
                          <a:effectLst/>
                          <a:latin typeface="Times New Roman" panose="02020603050405020304" pitchFamily="18" charset="0"/>
                          <a:ea typeface="Times New Roman" panose="02020603050405020304" pitchFamily="18" charset="0"/>
                          <a:cs typeface="Times New Roman" panose="02020603050405020304" pitchFamily="18" charset="0"/>
                          <a:sym typeface="Arial"/>
                        </a:rPr>
                        <a:t>(2024)</a:t>
                      </a:r>
                    </a:p>
                  </a:txBody>
                  <a:tcPr marL="9525" marR="9525" marT="9525" marB="9525" anchor="ctr"/>
                </a:tc>
                <a:tc>
                  <a:txBody>
                    <a:bodyPr/>
                    <a:lstStyle/>
                    <a:p>
                      <a:pPr marL="0" marR="0" algn="ctr">
                        <a:lnSpc>
                          <a:spcPct val="107000"/>
                        </a:lnSpc>
                        <a:spcBef>
                          <a:spcPts val="0"/>
                        </a:spcBef>
                        <a:spcAft>
                          <a:spcPts val="0"/>
                        </a:spcAft>
                      </a:pPr>
                      <a:r>
                        <a:rPr lang="en-IN" sz="1200" dirty="0">
                          <a:latin typeface="Times New Roman" panose="02020603050405020304" pitchFamily="18" charset="0"/>
                          <a:cs typeface="Times New Roman" panose="02020603050405020304" pitchFamily="18" charset="0"/>
                        </a:rPr>
                        <a:t>Lack of faithful and logically interpretable explanations in legal case retrieval.</a:t>
                      </a: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IN" sz="1200" dirty="0" err="1">
                          <a:latin typeface="Times New Roman" panose="02020603050405020304" pitchFamily="18" charset="0"/>
                          <a:cs typeface="Times New Roman" panose="02020603050405020304" pitchFamily="18" charset="0"/>
                        </a:rPr>
                        <a:t>LeCaRD</a:t>
                      </a:r>
                      <a:r>
                        <a:rPr lang="en-IN" sz="1200" dirty="0">
                          <a:latin typeface="Times New Roman" panose="02020603050405020304" pitchFamily="18" charset="0"/>
                          <a:cs typeface="Times New Roman" panose="02020603050405020304" pitchFamily="18" charset="0"/>
                        </a:rPr>
                        <a:t> + ELAM; manually annotated logic rules.</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IN" sz="1200" dirty="0">
                          <a:latin typeface="Times New Roman" panose="02020603050405020304" pitchFamily="18" charset="0"/>
                          <a:cs typeface="Times New Roman" panose="02020603050405020304" pitchFamily="18" charset="0"/>
                        </a:rPr>
                        <a:t>NS-LCR with Law-level and Case-level logic modules.</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IN" sz="1200" dirty="0">
                          <a:latin typeface="Times New Roman" panose="02020603050405020304" pitchFamily="18" charset="0"/>
                          <a:cs typeface="Times New Roman" panose="02020603050405020304" pitchFamily="18" charset="0"/>
                        </a:rPr>
                        <a:t>P@5, P@10, MAP, NDCG@10/20/30, explanation evaluation.</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IN" sz="1200" dirty="0">
                          <a:latin typeface="Times New Roman" panose="02020603050405020304" pitchFamily="18" charset="0"/>
                          <a:cs typeface="Times New Roman" panose="02020603050405020304" pitchFamily="18" charset="0"/>
                        </a:rPr>
                        <a:t>Better retrieval performance, logical explanations, interpretable and model-agnostic.</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IN" sz="1200" dirty="0">
                          <a:latin typeface="Times New Roman" panose="02020603050405020304" pitchFamily="18" charset="0"/>
                          <a:cs typeface="Times New Roman" panose="02020603050405020304" pitchFamily="18" charset="0"/>
                        </a:rPr>
                        <a:t>Requires expert rule annotation and was evaluated mainly on Chinese legal cases.</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243046419"/>
                  </a:ext>
                </a:extLst>
              </a:tr>
              <a:tr h="1738261">
                <a:tc>
                  <a:txBody>
                    <a:bodyPr/>
                    <a:lstStyle/>
                    <a:p>
                      <a:pPr marL="0" marR="0" algn="ctr" rtl="0">
                        <a:lnSpc>
                          <a:spcPct val="107000"/>
                        </a:lnSpc>
                        <a:spcBef>
                          <a:spcPts val="0"/>
                        </a:spcBef>
                        <a:spcAft>
                          <a:spcPts val="0"/>
                        </a:spcAft>
                        <a:buClr>
                          <a:srgbClr val="000000"/>
                        </a:buClr>
                        <a:buFont typeface="Arial"/>
                      </a:pPr>
                      <a:r>
                        <a:rPr lang="en-US" sz="1200" b="1" i="0" u="none" strike="noStrike" cap="none" dirty="0">
                          <a:solidFill>
                            <a:schemeClr val="lt1"/>
                          </a:solidFill>
                          <a:effectLst/>
                          <a:latin typeface="Times New Roman" panose="02020603050405020304" pitchFamily="18" charset="0"/>
                          <a:ea typeface="Times New Roman" panose="02020603050405020304" pitchFamily="18" charset="0"/>
                          <a:cs typeface="Times New Roman" panose="02020603050405020304" pitchFamily="18" charset="0"/>
                          <a:sym typeface="Arial"/>
                        </a:rPr>
                        <a:t>[20]</a:t>
                      </a:r>
                    </a:p>
                    <a:p>
                      <a:pPr marL="0" marR="0" algn="ctr" rtl="0">
                        <a:lnSpc>
                          <a:spcPct val="107000"/>
                        </a:lnSpc>
                        <a:spcBef>
                          <a:spcPts val="0"/>
                        </a:spcBef>
                        <a:spcAft>
                          <a:spcPts val="0"/>
                        </a:spcAft>
                        <a:buClr>
                          <a:srgbClr val="000000"/>
                        </a:buClr>
                        <a:buFont typeface="Arial"/>
                      </a:pPr>
                      <a:r>
                        <a:rPr lang="en-US" sz="1200" b="1" i="0" u="none" strike="noStrike" cap="none" dirty="0">
                          <a:solidFill>
                            <a:schemeClr val="lt1"/>
                          </a:solidFill>
                          <a:effectLst/>
                          <a:latin typeface="Times New Roman" panose="02020603050405020304" pitchFamily="18" charset="0"/>
                          <a:ea typeface="Times New Roman" panose="02020603050405020304" pitchFamily="18" charset="0"/>
                          <a:cs typeface="Times New Roman" panose="02020603050405020304" pitchFamily="18" charset="0"/>
                          <a:sym typeface="Arial"/>
                        </a:rPr>
                        <a:t>&amp;</a:t>
                      </a:r>
                    </a:p>
                    <a:p>
                      <a:pPr marL="0" marR="0" algn="ctr" rtl="0">
                        <a:lnSpc>
                          <a:spcPct val="107000"/>
                        </a:lnSpc>
                        <a:spcBef>
                          <a:spcPts val="0"/>
                        </a:spcBef>
                        <a:spcAft>
                          <a:spcPts val="0"/>
                        </a:spcAft>
                        <a:buClr>
                          <a:srgbClr val="000000"/>
                        </a:buClr>
                        <a:buFont typeface="Arial"/>
                      </a:pPr>
                      <a:r>
                        <a:rPr lang="en-US" sz="1200" b="1" i="0" u="none" strike="noStrike" cap="none" dirty="0">
                          <a:solidFill>
                            <a:schemeClr val="lt1"/>
                          </a:solidFill>
                          <a:effectLst/>
                          <a:latin typeface="Times New Roman" panose="02020603050405020304" pitchFamily="18" charset="0"/>
                          <a:ea typeface="Times New Roman" panose="02020603050405020304" pitchFamily="18" charset="0"/>
                          <a:cs typeface="Times New Roman" panose="02020603050405020304" pitchFamily="18" charset="0"/>
                          <a:sym typeface="Arial"/>
                        </a:rPr>
                        <a:t>(2021)</a:t>
                      </a:r>
                    </a:p>
                  </a:txBody>
                  <a:tcPr marL="9525" marR="9525" marT="9525" marB="9525" anchor="ctr"/>
                </a:tc>
                <a:tc>
                  <a:txBody>
                    <a:bodyPr/>
                    <a:lstStyle/>
                    <a:p>
                      <a:pPr marL="0" marR="0" algn="ctr">
                        <a:lnSpc>
                          <a:spcPct val="107000"/>
                        </a:lnSpc>
                        <a:spcBef>
                          <a:spcPts val="0"/>
                        </a:spcBef>
                        <a:spcAft>
                          <a:spcPts val="0"/>
                        </a:spcAft>
                      </a:pPr>
                      <a:r>
                        <a:rPr lang="en-IN" sz="1200" dirty="0">
                          <a:latin typeface="Times New Roman" panose="02020603050405020304" pitchFamily="18" charset="0"/>
                          <a:cs typeface="Times New Roman" panose="02020603050405020304" pitchFamily="18" charset="0"/>
                        </a:rPr>
                        <a:t>Existing legal judgment prediction systems can predict case outcomes but often fail to provide understandable explanations. </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IN" sz="1200" b="0" dirty="0">
                          <a:latin typeface="Times New Roman" panose="02020603050405020304" pitchFamily="18" charset="0"/>
                          <a:cs typeface="Times New Roman" panose="02020603050405020304" pitchFamily="18" charset="0"/>
                        </a:rPr>
                        <a:t>ILDC (Indian Legal Documents Corpus) containing approximately 35,000 Indian Supreme Court cases with original court decisions. </a:t>
                      </a:r>
                      <a:endParaRPr lang="en-US" sz="1100" b="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IN" sz="1200" b="0" dirty="0">
                          <a:latin typeface="Times New Roman" panose="02020603050405020304" pitchFamily="18" charset="0"/>
                          <a:cs typeface="Times New Roman" panose="02020603050405020304" pitchFamily="18" charset="0"/>
                        </a:rPr>
                        <a:t>The authors evaluate several baseline judgment prediction models and propose a Hierarchical Occlusion-based Model for generating explanations. </a:t>
                      </a:r>
                      <a:endParaRPr lang="en-US" sz="1100" b="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IN" sz="1200" b="0" dirty="0">
                          <a:latin typeface="Times New Roman" panose="02020603050405020304" pitchFamily="18" charset="0"/>
                          <a:cs typeface="Times New Roman" panose="02020603050405020304" pitchFamily="18" charset="0"/>
                        </a:rPr>
                        <a:t>The best prediction model achieved 78% accuracy, compared with 94% accuracy by human legal experts.</a:t>
                      </a:r>
                      <a:endParaRPr lang="en-US" sz="1100" b="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IN" sz="1200" b="0" dirty="0">
                          <a:latin typeface="Times New Roman" panose="02020603050405020304" pitchFamily="18" charset="0"/>
                          <a:cs typeface="Times New Roman" panose="02020603050405020304" pitchFamily="18" charset="0"/>
                        </a:rPr>
                        <a:t>Provides both legal judgment prediction and explanations, making the system more suitable for practical legal applications. </a:t>
                      </a:r>
                      <a:endParaRPr lang="en-US" sz="1100" b="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IN" sz="1200" b="0" dirty="0">
                          <a:latin typeface="Times New Roman" panose="02020603050405020304" pitchFamily="18" charset="0"/>
                          <a:cs typeface="Times New Roman" panose="02020603050405020304" pitchFamily="18" charset="0"/>
                        </a:rPr>
                        <a:t>The prediction accuracy also remained below human expert performance, showing that complex legal reasoning is still challenging. </a:t>
                      </a:r>
                      <a:endParaRPr lang="en-US" sz="1100" b="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585140833"/>
                  </a:ext>
                </a:extLst>
              </a:tr>
            </a:tbl>
          </a:graphicData>
        </a:graphic>
      </p:graphicFrame>
    </p:spTree>
    <p:extLst>
      <p:ext uri="{BB962C8B-B14F-4D97-AF65-F5344CB8AC3E}">
        <p14:creationId xmlns:p14="http://schemas.microsoft.com/office/powerpoint/2010/main" val="8795791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54880"/>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r>
              <a:rPr lang="en-IN" sz="2800" b="1" dirty="0">
                <a:latin typeface="Times New Roman" panose="02020603050405020304" pitchFamily="18" charset="0"/>
                <a:cs typeface="Times New Roman" panose="02020603050405020304" pitchFamily="18" charset="0"/>
              </a:rPr>
              <a:t> </a:t>
            </a:r>
          </a:p>
        </p:txBody>
      </p:sp>
      <p:sp>
        <p:nvSpPr>
          <p:cNvPr id="5" name="Google Shape;55;p13">
            <a:extLst>
              <a:ext uri="{FF2B5EF4-FFF2-40B4-BE49-F238E27FC236}">
                <a16:creationId xmlns:a16="http://schemas.microsoft.com/office/drawing/2014/main" id="{02A6B061-580E-44CA-A7DA-E7D66321B948}"/>
              </a:ext>
            </a:extLst>
          </p:cNvPr>
          <p:cNvSpPr txBox="1">
            <a:spLocks/>
          </p:cNvSpPr>
          <p:nvPr/>
        </p:nvSpPr>
        <p:spPr>
          <a:xfrm>
            <a:off x="118188" y="358666"/>
            <a:ext cx="8789436" cy="472340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25400" indent="0" algn="just">
              <a:buClr>
                <a:schemeClr val="tx1"/>
              </a:buClr>
            </a:pPr>
            <a:r>
              <a:rPr lang="en-US" sz="1800" b="1" dirty="0">
                <a:solidFill>
                  <a:schemeClr val="tx1"/>
                </a:solidFill>
                <a:latin typeface="Times New Roman" panose="02020603050405020304" pitchFamily="18" charset="0"/>
                <a:cs typeface="Times New Roman" panose="02020603050405020304" pitchFamily="18" charset="0"/>
              </a:rPr>
              <a:t>1. </a:t>
            </a:r>
            <a:r>
              <a:rPr lang="en-US" sz="1800" b="1" dirty="0" err="1">
                <a:solidFill>
                  <a:schemeClr val="tx1"/>
                </a:solidFill>
                <a:latin typeface="Times New Roman" panose="02020603050405020304" pitchFamily="18" charset="0"/>
                <a:cs typeface="Times New Roman" panose="02020603050405020304" pitchFamily="18" charset="0"/>
              </a:rPr>
              <a:t>NyayaAI</a:t>
            </a:r>
            <a:r>
              <a:rPr lang="en-US" sz="1800" b="1" dirty="0">
                <a:solidFill>
                  <a:schemeClr val="tx1"/>
                </a:solidFill>
                <a:latin typeface="Times New Roman" panose="02020603050405020304" pitchFamily="18" charset="0"/>
                <a:cs typeface="Times New Roman" panose="02020603050405020304" pitchFamily="18" charset="0"/>
              </a:rPr>
              <a:t>: An AI-Powered Legal Assistant Using Multi-Agent Architecture and Retrieval-Augmented Generation</a:t>
            </a:r>
            <a:endParaRPr lang="en-US" sz="2000" b="1" dirty="0">
              <a:solidFill>
                <a:schemeClr val="tx1"/>
              </a:solidFill>
              <a:latin typeface="Times New Roman" panose="02020603050405020304" pitchFamily="18" charset="0"/>
              <a:cs typeface="Times New Roman" panose="02020603050405020304" pitchFamily="18" charset="0"/>
            </a:endParaRPr>
          </a:p>
          <a:p>
            <a:pPr marL="25400" indent="0" algn="just">
              <a:buClr>
                <a:schemeClr val="tx1"/>
              </a:buClr>
            </a:pPr>
            <a:r>
              <a:rPr lang="en-US" sz="1400" b="1" dirty="0">
                <a:solidFill>
                  <a:schemeClr val="tx1"/>
                </a:solidFill>
                <a:latin typeface="Times New Roman" panose="02020603050405020304" pitchFamily="18" charset="0"/>
                <a:cs typeface="Times New Roman" panose="02020603050405020304" pitchFamily="18" charset="0"/>
              </a:rPr>
              <a:t>Introduction: </a:t>
            </a:r>
            <a:r>
              <a:rPr lang="en-US" sz="1400" dirty="0" err="1">
                <a:solidFill>
                  <a:schemeClr val="tx1"/>
                </a:solidFill>
                <a:latin typeface="Times New Roman" panose="02020603050405020304" pitchFamily="18" charset="0"/>
                <a:cs typeface="Times New Roman" panose="02020603050405020304" pitchFamily="18" charset="0"/>
              </a:rPr>
              <a:t>NyayaAI</a:t>
            </a:r>
            <a:r>
              <a:rPr lang="en-US" sz="1400" dirty="0">
                <a:solidFill>
                  <a:schemeClr val="tx1"/>
                </a:solidFill>
                <a:latin typeface="Times New Roman" panose="02020603050405020304" pitchFamily="18" charset="0"/>
                <a:cs typeface="Times New Roman" panose="02020603050405020304" pitchFamily="18" charset="0"/>
              </a:rPr>
              <a:t> is an AI-powered legal assistant developed to simplify legal research and improve access to legal information, particularly within the Indian legal system. It integrates Large Language Models (LLMs), Retrieval-Augmented Generation (RAG), and a multi-agent architecture to assist lawyers.</a:t>
            </a:r>
          </a:p>
          <a:p>
            <a:pPr marL="25400" indent="0" algn="just"/>
            <a:endParaRPr lang="en-US" sz="1400" dirty="0">
              <a:solidFill>
                <a:schemeClr val="tx1"/>
              </a:solidFill>
              <a:latin typeface="Times New Roman" panose="02020603050405020304" pitchFamily="18" charset="0"/>
              <a:cs typeface="Times New Roman" panose="02020603050405020304" pitchFamily="18" charset="0"/>
            </a:endParaRPr>
          </a:p>
          <a:p>
            <a:pPr marL="25400" indent="0" algn="just"/>
            <a:r>
              <a:rPr lang="en-IN" sz="1400" b="1" dirty="0">
                <a:solidFill>
                  <a:schemeClr val="tx1"/>
                </a:solidFill>
                <a:latin typeface="Times New Roman" panose="02020603050405020304" pitchFamily="18" charset="0"/>
                <a:cs typeface="Times New Roman" panose="02020603050405020304" pitchFamily="18" charset="0"/>
              </a:rPr>
              <a:t>Objective:</a:t>
            </a:r>
            <a:r>
              <a:rPr lang="en-IN" sz="1400" dirty="0">
                <a:solidFill>
                  <a:schemeClr val="tx1"/>
                </a:solidFill>
                <a:latin typeface="Times New Roman" panose="02020603050405020304" pitchFamily="18" charset="0"/>
                <a:cs typeface="Times New Roman" panose="02020603050405020304" pitchFamily="18" charset="0"/>
              </a:rPr>
              <a:t> </a:t>
            </a:r>
            <a:r>
              <a:rPr lang="en-US" sz="1400" dirty="0">
                <a:solidFill>
                  <a:schemeClr val="tx1"/>
                </a:solidFill>
                <a:latin typeface="Times New Roman" panose="02020603050405020304" pitchFamily="18" charset="0"/>
                <a:cs typeface="Times New Roman" panose="02020603050405020304" pitchFamily="18" charset="0"/>
              </a:rPr>
              <a:t>The primary objective of </a:t>
            </a:r>
            <a:r>
              <a:rPr lang="en-US" sz="1400" dirty="0" err="1">
                <a:solidFill>
                  <a:schemeClr val="tx1"/>
                </a:solidFill>
                <a:latin typeface="Times New Roman" panose="02020603050405020304" pitchFamily="18" charset="0"/>
                <a:cs typeface="Times New Roman" panose="02020603050405020304" pitchFamily="18" charset="0"/>
              </a:rPr>
              <a:t>NyayaAI</a:t>
            </a:r>
            <a:r>
              <a:rPr lang="en-US" sz="1400" dirty="0">
                <a:solidFill>
                  <a:schemeClr val="tx1"/>
                </a:solidFill>
                <a:latin typeface="Times New Roman" panose="02020603050405020304" pitchFamily="18" charset="0"/>
                <a:cs typeface="Times New Roman" panose="02020603050405020304" pitchFamily="18" charset="0"/>
              </a:rPr>
              <a:t> is to make complex legal information more accessible by providing accurate, context-aware, and evidence-backed responses grounded in Indian legal sources. It also aims to automate routine legal tasks such as legal research, document summarization, case-law retrieval, and legal drafting.</a:t>
            </a:r>
          </a:p>
          <a:p>
            <a:pPr marL="25400" indent="0" algn="just"/>
            <a:endParaRPr lang="en-US" sz="1400" dirty="0">
              <a:solidFill>
                <a:schemeClr val="tx1"/>
              </a:solidFill>
              <a:latin typeface="Times New Roman" panose="02020603050405020304" pitchFamily="18" charset="0"/>
              <a:cs typeface="Times New Roman" panose="02020603050405020304" pitchFamily="18" charset="0"/>
            </a:endParaRPr>
          </a:p>
          <a:p>
            <a:pPr marL="25400" indent="0" algn="just"/>
            <a:r>
              <a:rPr lang="en-US" sz="1400" b="1" dirty="0">
                <a:solidFill>
                  <a:schemeClr val="tx1"/>
                </a:solidFill>
                <a:latin typeface="Times New Roman" panose="02020603050405020304" pitchFamily="18" charset="0"/>
                <a:cs typeface="Times New Roman" panose="02020603050405020304" pitchFamily="18" charset="0"/>
              </a:rPr>
              <a:t>Methodology: </a:t>
            </a:r>
            <a:r>
              <a:rPr lang="en-US" sz="1400" dirty="0" err="1">
                <a:solidFill>
                  <a:schemeClr val="tx1"/>
                </a:solidFill>
                <a:latin typeface="Times New Roman" panose="02020603050405020304" pitchFamily="18" charset="0"/>
                <a:cs typeface="Times New Roman" panose="02020603050405020304" pitchFamily="18" charset="0"/>
              </a:rPr>
              <a:t>NyayaAI</a:t>
            </a:r>
            <a:r>
              <a:rPr lang="en-US" sz="1400" dirty="0">
                <a:solidFill>
                  <a:schemeClr val="tx1"/>
                </a:solidFill>
                <a:latin typeface="Times New Roman" panose="02020603050405020304" pitchFamily="18" charset="0"/>
                <a:cs typeface="Times New Roman" panose="02020603050405020304" pitchFamily="18" charset="0"/>
              </a:rPr>
              <a:t> employs a Retrieval-Augmented Generation (RAG) pipeline that retrieves relevant information from a curated Indian legal knowledge base containing constitutional provisions, statutes, case laws etc. before generating responses. </a:t>
            </a:r>
          </a:p>
          <a:p>
            <a:pPr marL="25400" indent="0" algn="just"/>
            <a:endParaRPr lang="en-US" sz="1400" b="1" dirty="0">
              <a:solidFill>
                <a:schemeClr val="tx1"/>
              </a:solidFill>
              <a:latin typeface="Times New Roman" panose="02020603050405020304" pitchFamily="18" charset="0"/>
              <a:cs typeface="Times New Roman" panose="02020603050405020304" pitchFamily="18" charset="0"/>
            </a:endParaRPr>
          </a:p>
          <a:p>
            <a:pPr marL="25400" indent="0" algn="just"/>
            <a:r>
              <a:rPr lang="en-US" sz="1400" b="1" dirty="0">
                <a:solidFill>
                  <a:schemeClr val="tx1"/>
                </a:solidFill>
                <a:latin typeface="Times New Roman" panose="02020603050405020304" pitchFamily="18" charset="0"/>
                <a:cs typeface="Times New Roman" panose="02020603050405020304" pitchFamily="18" charset="0"/>
              </a:rPr>
              <a:t>Results: </a:t>
            </a:r>
            <a:r>
              <a:rPr lang="en-US" sz="1400" dirty="0">
                <a:solidFill>
                  <a:schemeClr val="tx1"/>
                </a:solidFill>
                <a:latin typeface="Times New Roman" panose="02020603050405020304" pitchFamily="18" charset="0"/>
                <a:cs typeface="Times New Roman" panose="02020603050405020304" pitchFamily="18" charset="0"/>
              </a:rPr>
              <a:t>Experimental evaluation demonstrated approximately 70% precision in domain classification, 74% retrieval precision for the RAG component, and an overall legal response accuracy of around 72%.</a:t>
            </a:r>
          </a:p>
          <a:p>
            <a:pPr marL="25400" indent="0" algn="just"/>
            <a:endParaRPr lang="en-US" sz="1400" dirty="0">
              <a:solidFill>
                <a:schemeClr val="tx1"/>
              </a:solidFill>
              <a:latin typeface="Times New Roman" panose="02020603050405020304" pitchFamily="18" charset="0"/>
              <a:cs typeface="Times New Roman" panose="02020603050405020304" pitchFamily="18" charset="0"/>
            </a:endParaRPr>
          </a:p>
          <a:p>
            <a:pPr marL="25400" indent="0" algn="just"/>
            <a:r>
              <a:rPr lang="en-US" sz="1400" b="1" dirty="0">
                <a:solidFill>
                  <a:schemeClr val="tx1"/>
                </a:solidFill>
                <a:latin typeface="Times New Roman" panose="02020603050405020304" pitchFamily="18" charset="0"/>
                <a:cs typeface="Times New Roman" panose="02020603050405020304" pitchFamily="18" charset="0"/>
              </a:rPr>
              <a:t>Limitations and Future Scope: </a:t>
            </a:r>
            <a:r>
              <a:rPr lang="en-US" sz="1400" dirty="0">
                <a:solidFill>
                  <a:schemeClr val="tx1"/>
                </a:solidFill>
                <a:latin typeface="Times New Roman" panose="02020603050405020304" pitchFamily="18" charset="0"/>
                <a:cs typeface="Times New Roman" panose="02020603050405020304" pitchFamily="18" charset="0"/>
              </a:rPr>
              <a:t>It focuses on providing legal assistance and workflow automation rather than performing adversarial legal document analysis or litigation vulnerability assessment from multiple legal perspectives. Future work could extend the system by incorporating explainable AI, consensus-based decision making, specialized legal agents.</a:t>
            </a:r>
          </a:p>
          <a:p>
            <a:pPr marL="25400" indent="0" algn="just"/>
            <a:endParaRPr lang="en-US" sz="1400" dirty="0">
              <a:solidFill>
                <a:schemeClr val="tx1"/>
              </a:solidFill>
              <a:latin typeface="Times New Roman" panose="02020603050405020304" pitchFamily="18" charset="0"/>
              <a:cs typeface="Times New Roman" panose="02020603050405020304" pitchFamily="18" charset="0"/>
            </a:endParaRPr>
          </a:p>
          <a:p>
            <a:pPr marL="25400" indent="0" algn="just"/>
            <a:endParaRPr lang="en-US" sz="1400" dirty="0">
              <a:solidFill>
                <a:schemeClr val="tx1"/>
              </a:solidFill>
              <a:latin typeface="Times New Roman" panose="02020603050405020304" pitchFamily="18" charset="0"/>
              <a:cs typeface="Times New Roman" panose="02020603050405020304" pitchFamily="18" charset="0"/>
            </a:endParaRPr>
          </a:p>
          <a:p>
            <a:pPr marL="25400" indent="0" algn="just"/>
            <a:endParaRPr lang="en-US" sz="145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969279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55;p13">
            <a:extLst>
              <a:ext uri="{FF2B5EF4-FFF2-40B4-BE49-F238E27FC236}">
                <a16:creationId xmlns:a16="http://schemas.microsoft.com/office/drawing/2014/main" id="{1527BDDF-0607-4B7C-9460-967E27E3902A}"/>
              </a:ext>
            </a:extLst>
          </p:cNvPr>
          <p:cNvSpPr txBox="1">
            <a:spLocks/>
          </p:cNvSpPr>
          <p:nvPr/>
        </p:nvSpPr>
        <p:spPr>
          <a:xfrm>
            <a:off x="0" y="-121920"/>
            <a:ext cx="9144000" cy="903841"/>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r>
              <a:rPr lang="en-IN" sz="2800" b="1" dirty="0">
                <a:latin typeface="Times New Roman" panose="02020603050405020304" pitchFamily="18" charset="0"/>
                <a:cs typeface="Times New Roman" panose="02020603050405020304" pitchFamily="18" charset="0"/>
              </a:rPr>
              <a:t> </a:t>
            </a:r>
          </a:p>
        </p:txBody>
      </p:sp>
      <p:sp>
        <p:nvSpPr>
          <p:cNvPr id="5" name="Google Shape;55;p13">
            <a:extLst>
              <a:ext uri="{FF2B5EF4-FFF2-40B4-BE49-F238E27FC236}">
                <a16:creationId xmlns:a16="http://schemas.microsoft.com/office/drawing/2014/main" id="{683DD10F-A689-4472-9FC5-DBC27D12912B}"/>
              </a:ext>
            </a:extLst>
          </p:cNvPr>
          <p:cNvSpPr txBox="1">
            <a:spLocks/>
          </p:cNvSpPr>
          <p:nvPr/>
        </p:nvSpPr>
        <p:spPr>
          <a:xfrm>
            <a:off x="-390279" y="551766"/>
            <a:ext cx="9397679" cy="466637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482600" lvl="1" indent="0" algn="just"/>
            <a:r>
              <a:rPr lang="en-IN" sz="1800" b="1" dirty="0">
                <a:solidFill>
                  <a:schemeClr val="tx1"/>
                </a:solidFill>
                <a:latin typeface="Times New Roman" panose="02020603050405020304" pitchFamily="18" charset="0"/>
                <a:cs typeface="Times New Roman" panose="02020603050405020304" pitchFamily="18" charset="0"/>
              </a:rPr>
              <a:t>2. PAKTON: A Multi-Agent Framework for Question Answering in Long Legal Agreements</a:t>
            </a:r>
          </a:p>
          <a:p>
            <a:pPr marL="482600" lvl="1" indent="0" algn="just"/>
            <a:endParaRPr lang="en-IN" sz="20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Introduction: </a:t>
            </a:r>
            <a:r>
              <a:rPr lang="en-IN" sz="1400" dirty="0">
                <a:solidFill>
                  <a:schemeClr val="tx1"/>
                </a:solidFill>
                <a:latin typeface="Times New Roman" panose="02020603050405020304" pitchFamily="18" charset="0"/>
                <a:cs typeface="Times New Roman" panose="02020603050405020304" pitchFamily="18" charset="0"/>
              </a:rPr>
              <a:t>PAKTON is a multi-agent framework designed for answering questions from lengthy legal agreements. It improves the understanding of complex contracts using collaborative AI agents.</a:t>
            </a:r>
          </a:p>
          <a:p>
            <a:pPr marL="482600" lvl="1" indent="0" algn="just"/>
            <a:endParaRPr lang="en-IN" sz="1400"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Objective: </a:t>
            </a:r>
            <a:r>
              <a:rPr lang="en-IN" sz="1400" dirty="0">
                <a:solidFill>
                  <a:schemeClr val="tx1"/>
                </a:solidFill>
                <a:latin typeface="Times New Roman" panose="02020603050405020304" pitchFamily="18" charset="0"/>
                <a:cs typeface="Times New Roman" panose="02020603050405020304" pitchFamily="18" charset="0"/>
              </a:rPr>
              <a:t>Its main objective is to accurately answer legal questions from long contracts. It also aims to improve legal reasoning by dividing tasks among specialized agents.</a:t>
            </a:r>
          </a:p>
          <a:p>
            <a:pPr marL="482600" lvl="1" indent="0" algn="just"/>
            <a:endParaRPr lang="en-IN" sz="1400"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Methodology: </a:t>
            </a:r>
            <a:r>
              <a:rPr lang="en-IN" sz="1400" dirty="0">
                <a:solidFill>
                  <a:schemeClr val="tx1"/>
                </a:solidFill>
                <a:latin typeface="Times New Roman" panose="02020603050405020304" pitchFamily="18" charset="0"/>
                <a:cs typeface="Times New Roman" panose="02020603050405020304" pitchFamily="18" charset="0"/>
              </a:rPr>
              <a:t>The framework splits lengthy contracts into smaller sections for easier analysis. Multiple reasoning agents </a:t>
            </a:r>
            <a:r>
              <a:rPr lang="en-IN" sz="1400" dirty="0" err="1">
                <a:solidFill>
                  <a:schemeClr val="tx1"/>
                </a:solidFill>
                <a:latin typeface="Times New Roman" panose="02020603050405020304" pitchFamily="18" charset="0"/>
                <a:cs typeface="Times New Roman" panose="02020603050405020304" pitchFamily="18" charset="0"/>
              </a:rPr>
              <a:t>analyze</a:t>
            </a:r>
            <a:r>
              <a:rPr lang="en-IN" sz="1400" dirty="0">
                <a:solidFill>
                  <a:schemeClr val="tx1"/>
                </a:solidFill>
                <a:latin typeface="Times New Roman" panose="02020603050405020304" pitchFamily="18" charset="0"/>
                <a:cs typeface="Times New Roman" panose="02020603050405020304" pitchFamily="18" charset="0"/>
              </a:rPr>
              <a:t> different sections independently. A coordinator agent combines their outputs to generate the final answer.</a:t>
            </a:r>
          </a:p>
          <a:p>
            <a:pPr marL="482600" lvl="1" indent="0" algn="just"/>
            <a:endParaRPr lang="en-IN" sz="14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Results: </a:t>
            </a:r>
            <a:r>
              <a:rPr lang="en-IN" sz="1400" dirty="0">
                <a:solidFill>
                  <a:schemeClr val="tx1"/>
                </a:solidFill>
                <a:latin typeface="Times New Roman" panose="02020603050405020304" pitchFamily="18" charset="0"/>
                <a:cs typeface="Times New Roman" panose="02020603050405020304" pitchFamily="18" charset="0"/>
              </a:rPr>
              <a:t>PAKTON achieved better performance than existing Legal QA models on long contracts. It significantly improved contextual understanding and reasoning accuracy.</a:t>
            </a:r>
          </a:p>
          <a:p>
            <a:pPr marL="482600" lvl="1" indent="0" algn="just"/>
            <a:endParaRPr lang="en-IN" sz="1400"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Limitations and Future Scope: </a:t>
            </a:r>
            <a:r>
              <a:rPr lang="en-IN" sz="1400" dirty="0">
                <a:solidFill>
                  <a:schemeClr val="tx1"/>
                </a:solidFill>
                <a:latin typeface="Times New Roman" panose="02020603050405020304" pitchFamily="18" charset="0"/>
                <a:cs typeface="Times New Roman" panose="02020603050405020304" pitchFamily="18" charset="0"/>
              </a:rPr>
              <a:t>The framework mainly supports legal agreements and contracts. Future work can extend it to statutes, court judgments, and multilingual legal documents.</a:t>
            </a:r>
            <a:endParaRPr lang="en-IN" sz="1400" b="1" dirty="0">
              <a:solidFill>
                <a:schemeClr val="tx1"/>
              </a:solidFill>
              <a:latin typeface="Times New Roman" panose="02020603050405020304" pitchFamily="18" charset="0"/>
              <a:cs typeface="Times New Roman" panose="02020603050405020304" pitchFamily="18" charset="0"/>
            </a:endParaRPr>
          </a:p>
          <a:p>
            <a:pPr marL="482600" lvl="1" indent="0" algn="just"/>
            <a:endParaRPr lang="en-IN" sz="1400" dirty="0">
              <a:solidFill>
                <a:schemeClr val="tx1"/>
              </a:solidFill>
              <a:latin typeface="Times New Roman" panose="02020603050405020304" pitchFamily="18" charset="0"/>
              <a:cs typeface="Times New Roman" panose="02020603050405020304" pitchFamily="18" charset="0"/>
            </a:endParaRPr>
          </a:p>
          <a:p>
            <a:pPr marL="482600" lvl="1" indent="0" algn="just"/>
            <a:endParaRPr lang="en-IN"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707994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F2344-9C89-9BE5-87EB-D04E165246BE}"/>
            </a:ext>
          </a:extLst>
        </p:cNvPr>
        <p:cNvGrpSpPr/>
        <p:nvPr/>
      </p:nvGrpSpPr>
      <p:grpSpPr>
        <a:xfrm>
          <a:off x="0" y="0"/>
          <a:ext cx="0" cy="0"/>
          <a:chOff x="0" y="0"/>
          <a:chExt cx="0" cy="0"/>
        </a:xfrm>
      </p:grpSpPr>
      <p:sp>
        <p:nvSpPr>
          <p:cNvPr id="4" name="Google Shape;55;p13">
            <a:extLst>
              <a:ext uri="{FF2B5EF4-FFF2-40B4-BE49-F238E27FC236}">
                <a16:creationId xmlns:a16="http://schemas.microsoft.com/office/drawing/2014/main" id="{1CB9EF71-F34B-E43F-76EC-A9A30CA501AE}"/>
              </a:ext>
            </a:extLst>
          </p:cNvPr>
          <p:cNvSpPr txBox="1">
            <a:spLocks/>
          </p:cNvSpPr>
          <p:nvPr/>
        </p:nvSpPr>
        <p:spPr>
          <a:xfrm>
            <a:off x="0" y="-121920"/>
            <a:ext cx="9144000" cy="903841"/>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r>
              <a:rPr lang="en-IN" sz="2800" b="1" dirty="0">
                <a:latin typeface="Times New Roman" panose="02020603050405020304" pitchFamily="18" charset="0"/>
                <a:cs typeface="Times New Roman" panose="02020603050405020304" pitchFamily="18" charset="0"/>
              </a:rPr>
              <a:t> </a:t>
            </a:r>
          </a:p>
        </p:txBody>
      </p:sp>
      <p:sp>
        <p:nvSpPr>
          <p:cNvPr id="5" name="Google Shape;55;p13">
            <a:extLst>
              <a:ext uri="{FF2B5EF4-FFF2-40B4-BE49-F238E27FC236}">
                <a16:creationId xmlns:a16="http://schemas.microsoft.com/office/drawing/2014/main" id="{98644E7E-1BBC-678D-FDCB-5301DFF074D1}"/>
              </a:ext>
            </a:extLst>
          </p:cNvPr>
          <p:cNvSpPr txBox="1">
            <a:spLocks/>
          </p:cNvSpPr>
          <p:nvPr/>
        </p:nvSpPr>
        <p:spPr>
          <a:xfrm>
            <a:off x="0" y="537183"/>
            <a:ext cx="8972798" cy="444458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algn="just"/>
            <a:r>
              <a:rPr lang="en-IN" sz="1800" b="1" dirty="0">
                <a:solidFill>
                  <a:schemeClr val="tx1"/>
                </a:solidFill>
                <a:latin typeface="Times New Roman" panose="02020603050405020304" pitchFamily="18" charset="0"/>
                <a:cs typeface="Times New Roman" panose="02020603050405020304" pitchFamily="18" charset="0"/>
              </a:rPr>
              <a:t>3. </a:t>
            </a:r>
            <a:r>
              <a:rPr lang="en-IN" sz="1800" b="1" dirty="0" err="1">
                <a:solidFill>
                  <a:schemeClr val="tx1"/>
                </a:solidFill>
                <a:latin typeface="Times New Roman" panose="02020603050405020304" pitchFamily="18" charset="0"/>
                <a:cs typeface="Times New Roman" panose="02020603050405020304" pitchFamily="18" charset="0"/>
              </a:rPr>
              <a:t>LegalBench</a:t>
            </a:r>
            <a:r>
              <a:rPr lang="en-IN" sz="1800" b="1" dirty="0">
                <a:solidFill>
                  <a:schemeClr val="tx1"/>
                </a:solidFill>
                <a:latin typeface="Times New Roman" panose="02020603050405020304" pitchFamily="18" charset="0"/>
                <a:cs typeface="Times New Roman" panose="02020603050405020304" pitchFamily="18" charset="0"/>
              </a:rPr>
              <a:t>: A Collaboratively Built Benchmark for Measuring Legal Reasoning in Large Language Models </a:t>
            </a:r>
          </a:p>
          <a:p>
            <a:pPr algn="just"/>
            <a:endParaRPr lang="en-IN" sz="2000" b="1" dirty="0">
              <a:solidFill>
                <a:schemeClr val="tx1"/>
              </a:solidFill>
              <a:latin typeface="Times New Roman" panose="02020603050405020304" pitchFamily="18" charset="0"/>
              <a:cs typeface="Times New Roman" panose="02020603050405020304" pitchFamily="18" charset="0"/>
            </a:endParaRPr>
          </a:p>
          <a:p>
            <a:pPr algn="just"/>
            <a:r>
              <a:rPr lang="en-IN" sz="1400" b="1" dirty="0">
                <a:solidFill>
                  <a:schemeClr val="tx1"/>
                </a:solidFill>
                <a:latin typeface="Times New Roman" panose="02020603050405020304" pitchFamily="18" charset="0"/>
                <a:cs typeface="Times New Roman" panose="02020603050405020304" pitchFamily="18" charset="0"/>
              </a:rPr>
              <a:t>Introduction: </a:t>
            </a:r>
            <a:r>
              <a:rPr lang="en-IN" sz="1400" dirty="0" err="1">
                <a:solidFill>
                  <a:schemeClr val="tx1"/>
                </a:solidFill>
                <a:latin typeface="Times New Roman" panose="02020603050405020304" pitchFamily="18" charset="0"/>
                <a:cs typeface="Times New Roman" panose="02020603050405020304" pitchFamily="18" charset="0"/>
              </a:rPr>
              <a:t>LegalBench</a:t>
            </a:r>
            <a:r>
              <a:rPr lang="en-IN" sz="1400" dirty="0">
                <a:solidFill>
                  <a:schemeClr val="tx1"/>
                </a:solidFill>
                <a:latin typeface="Times New Roman" panose="02020603050405020304" pitchFamily="18" charset="0"/>
                <a:cs typeface="Times New Roman" panose="02020603050405020304" pitchFamily="18" charset="0"/>
              </a:rPr>
              <a:t> is a benchmark developed to evaluate the legal reasoning ability of Large Language Models.</a:t>
            </a:r>
          </a:p>
          <a:p>
            <a:pPr algn="just"/>
            <a:r>
              <a:rPr lang="en-IN" sz="1400" dirty="0">
                <a:solidFill>
                  <a:schemeClr val="tx1"/>
                </a:solidFill>
                <a:latin typeface="Times New Roman" panose="02020603050405020304" pitchFamily="18" charset="0"/>
                <a:cs typeface="Times New Roman" panose="02020603050405020304" pitchFamily="18" charset="0"/>
              </a:rPr>
              <a:t>It contains multiple datasets covering different legal tasks.</a:t>
            </a:r>
          </a:p>
          <a:p>
            <a:pPr algn="just"/>
            <a:endParaRPr lang="en-IN" sz="1400" dirty="0">
              <a:solidFill>
                <a:schemeClr val="tx1"/>
              </a:solidFill>
              <a:latin typeface="Times New Roman" panose="02020603050405020304" pitchFamily="18" charset="0"/>
              <a:cs typeface="Times New Roman" panose="02020603050405020304" pitchFamily="18" charset="0"/>
            </a:endParaRPr>
          </a:p>
          <a:p>
            <a:pPr algn="just"/>
            <a:r>
              <a:rPr lang="en-IN" sz="1400" b="1" dirty="0">
                <a:solidFill>
                  <a:schemeClr val="tx1"/>
                </a:solidFill>
                <a:latin typeface="Times New Roman" panose="02020603050405020304" pitchFamily="18" charset="0"/>
                <a:cs typeface="Times New Roman" panose="02020603050405020304" pitchFamily="18" charset="0"/>
              </a:rPr>
              <a:t>Objective: </a:t>
            </a:r>
            <a:r>
              <a:rPr lang="en-IN" sz="1400" dirty="0">
                <a:solidFill>
                  <a:schemeClr val="tx1"/>
                </a:solidFill>
                <a:latin typeface="Times New Roman" panose="02020603050405020304" pitchFamily="18" charset="0"/>
                <a:cs typeface="Times New Roman" panose="02020603050405020304" pitchFamily="18" charset="0"/>
              </a:rPr>
              <a:t>Its objective is to provide a standard evaluation platform for legal AI models. It also helps identify the</a:t>
            </a:r>
          </a:p>
          <a:p>
            <a:pPr algn="just"/>
            <a:r>
              <a:rPr lang="en-IN" sz="1400" dirty="0">
                <a:solidFill>
                  <a:schemeClr val="tx1"/>
                </a:solidFill>
                <a:latin typeface="Times New Roman" panose="02020603050405020304" pitchFamily="18" charset="0"/>
                <a:cs typeface="Times New Roman" panose="02020603050405020304" pitchFamily="18" charset="0"/>
              </a:rPr>
              <a:t>strengths and weaknesses of modern LLMs.</a:t>
            </a:r>
          </a:p>
          <a:p>
            <a:pPr algn="just"/>
            <a:endParaRPr lang="en-IN" sz="1400" dirty="0">
              <a:solidFill>
                <a:schemeClr val="tx1"/>
              </a:solidFill>
              <a:latin typeface="Times New Roman" panose="02020603050405020304" pitchFamily="18" charset="0"/>
              <a:cs typeface="Times New Roman" panose="02020603050405020304" pitchFamily="18" charset="0"/>
            </a:endParaRPr>
          </a:p>
          <a:p>
            <a:pPr algn="just"/>
            <a:r>
              <a:rPr lang="en-IN" sz="1400" b="1" dirty="0">
                <a:solidFill>
                  <a:schemeClr val="tx1"/>
                </a:solidFill>
                <a:latin typeface="Times New Roman" panose="02020603050405020304" pitchFamily="18" charset="0"/>
                <a:cs typeface="Times New Roman" panose="02020603050405020304" pitchFamily="18" charset="0"/>
              </a:rPr>
              <a:t>Methodology: </a:t>
            </a:r>
            <a:r>
              <a:rPr lang="en-IN" sz="1400" dirty="0">
                <a:solidFill>
                  <a:schemeClr val="tx1"/>
                </a:solidFill>
                <a:latin typeface="Times New Roman" panose="02020603050405020304" pitchFamily="18" charset="0"/>
                <a:cs typeface="Times New Roman" panose="02020603050405020304" pitchFamily="18" charset="0"/>
              </a:rPr>
              <a:t>The benchmark includes datasets for legal reasoning, contract analysis, and statutory interpretation.</a:t>
            </a:r>
          </a:p>
          <a:p>
            <a:pPr algn="just"/>
            <a:r>
              <a:rPr lang="en-IN" sz="1400" dirty="0">
                <a:solidFill>
                  <a:schemeClr val="tx1"/>
                </a:solidFill>
                <a:latin typeface="Times New Roman" panose="02020603050405020304" pitchFamily="18" charset="0"/>
                <a:cs typeface="Times New Roman" panose="02020603050405020304" pitchFamily="18" charset="0"/>
              </a:rPr>
              <a:t>Various language models are evaluated using common performance metrics. Their reasoning accuracy is compared</a:t>
            </a:r>
          </a:p>
          <a:p>
            <a:pPr algn="just"/>
            <a:r>
              <a:rPr lang="en-IN" sz="1400" dirty="0">
                <a:solidFill>
                  <a:schemeClr val="tx1"/>
                </a:solidFill>
                <a:latin typeface="Times New Roman" panose="02020603050405020304" pitchFamily="18" charset="0"/>
                <a:cs typeface="Times New Roman" panose="02020603050405020304" pitchFamily="18" charset="0"/>
              </a:rPr>
              <a:t>across multiple legal tasks.</a:t>
            </a:r>
          </a:p>
          <a:p>
            <a:pPr algn="just"/>
            <a:endParaRPr lang="en-IN" sz="1400" b="1" dirty="0">
              <a:solidFill>
                <a:schemeClr val="tx1"/>
              </a:solidFill>
              <a:latin typeface="Times New Roman" panose="02020603050405020304" pitchFamily="18" charset="0"/>
              <a:cs typeface="Times New Roman" panose="02020603050405020304" pitchFamily="18" charset="0"/>
            </a:endParaRPr>
          </a:p>
          <a:p>
            <a:pPr algn="just"/>
            <a:r>
              <a:rPr lang="en-IN" sz="1400" b="1" dirty="0">
                <a:solidFill>
                  <a:schemeClr val="tx1"/>
                </a:solidFill>
                <a:latin typeface="Times New Roman" panose="02020603050405020304" pitchFamily="18" charset="0"/>
                <a:cs typeface="Times New Roman" panose="02020603050405020304" pitchFamily="18" charset="0"/>
              </a:rPr>
              <a:t>Results: </a:t>
            </a:r>
            <a:r>
              <a:rPr lang="en-IN" sz="1400" dirty="0">
                <a:solidFill>
                  <a:schemeClr val="tx1"/>
                </a:solidFill>
                <a:latin typeface="Times New Roman" panose="02020603050405020304" pitchFamily="18" charset="0"/>
                <a:cs typeface="Times New Roman" panose="02020603050405020304" pitchFamily="18" charset="0"/>
              </a:rPr>
              <a:t>Large language models performed well on simple legal tasks but struggled with complex reasoning. The</a:t>
            </a:r>
          </a:p>
          <a:p>
            <a:pPr algn="just"/>
            <a:r>
              <a:rPr lang="en-IN" sz="1400" dirty="0">
                <a:solidFill>
                  <a:schemeClr val="tx1"/>
                </a:solidFill>
                <a:latin typeface="Times New Roman" panose="02020603050405020304" pitchFamily="18" charset="0"/>
                <a:cs typeface="Times New Roman" panose="02020603050405020304" pitchFamily="18" charset="0"/>
              </a:rPr>
              <a:t>benchmark highlighted the need for better legal AI systems.</a:t>
            </a:r>
          </a:p>
          <a:p>
            <a:pPr algn="just"/>
            <a:endParaRPr lang="en-IN" sz="1400" dirty="0">
              <a:solidFill>
                <a:schemeClr val="tx1"/>
              </a:solidFill>
              <a:latin typeface="Times New Roman" panose="02020603050405020304" pitchFamily="18" charset="0"/>
              <a:cs typeface="Times New Roman" panose="02020603050405020304" pitchFamily="18" charset="0"/>
            </a:endParaRPr>
          </a:p>
          <a:p>
            <a:pPr algn="just"/>
            <a:r>
              <a:rPr lang="en-IN" sz="1400" b="1" dirty="0">
                <a:solidFill>
                  <a:schemeClr val="tx1"/>
                </a:solidFill>
                <a:latin typeface="Times New Roman" panose="02020603050405020304" pitchFamily="18" charset="0"/>
                <a:cs typeface="Times New Roman" panose="02020603050405020304" pitchFamily="18" charset="0"/>
              </a:rPr>
              <a:t>Limitations and Future Scope: </a:t>
            </a:r>
            <a:r>
              <a:rPr lang="en-IN" sz="1400" dirty="0" err="1">
                <a:solidFill>
                  <a:schemeClr val="tx1"/>
                </a:solidFill>
                <a:latin typeface="Times New Roman" panose="02020603050405020304" pitchFamily="18" charset="0"/>
                <a:cs typeface="Times New Roman" panose="02020603050405020304" pitchFamily="18" charset="0"/>
              </a:rPr>
              <a:t>LegalBench</a:t>
            </a:r>
            <a:r>
              <a:rPr lang="en-IN" sz="1400" dirty="0">
                <a:solidFill>
                  <a:schemeClr val="tx1"/>
                </a:solidFill>
                <a:latin typeface="Times New Roman" panose="02020603050405020304" pitchFamily="18" charset="0"/>
                <a:cs typeface="Times New Roman" panose="02020603050405020304" pitchFamily="18" charset="0"/>
              </a:rPr>
              <a:t> is only an evaluation benchmark and not a legal assistant. Future versions</a:t>
            </a:r>
          </a:p>
          <a:p>
            <a:pPr algn="just"/>
            <a:r>
              <a:rPr lang="en-IN" sz="1400" dirty="0">
                <a:solidFill>
                  <a:schemeClr val="tx1"/>
                </a:solidFill>
                <a:latin typeface="Times New Roman" panose="02020603050405020304" pitchFamily="18" charset="0"/>
                <a:cs typeface="Times New Roman" panose="02020603050405020304" pitchFamily="18" charset="0"/>
              </a:rPr>
              <a:t>can include multilingual datasets and real-time legal knowledge</a:t>
            </a:r>
            <a:r>
              <a:rPr lang="en-IN" sz="1400" dirty="0">
                <a:solidFill>
                  <a:schemeClr val="tx1"/>
                </a:solidFill>
              </a:rPr>
              <a:t>.</a:t>
            </a:r>
          </a:p>
          <a:p>
            <a:pPr algn="just"/>
            <a:endParaRPr lang="en-IN" sz="1400" dirty="0">
              <a:solidFill>
                <a:schemeClr val="tx1"/>
              </a:solidFill>
              <a:latin typeface="Times New Roman" panose="02020603050405020304" pitchFamily="18" charset="0"/>
              <a:cs typeface="Times New Roman" panose="02020603050405020304" pitchFamily="18" charset="0"/>
            </a:endParaRPr>
          </a:p>
          <a:p>
            <a:pPr algn="just"/>
            <a:endParaRPr lang="en-IN" sz="145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935563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EEC5A3-7883-AEBF-BD93-97593E7CD543}"/>
            </a:ext>
          </a:extLst>
        </p:cNvPr>
        <p:cNvGrpSpPr/>
        <p:nvPr/>
      </p:nvGrpSpPr>
      <p:grpSpPr>
        <a:xfrm>
          <a:off x="0" y="0"/>
          <a:ext cx="0" cy="0"/>
          <a:chOff x="0" y="0"/>
          <a:chExt cx="0" cy="0"/>
        </a:xfrm>
      </p:grpSpPr>
      <p:sp>
        <p:nvSpPr>
          <p:cNvPr id="4" name="Google Shape;55;p13">
            <a:extLst>
              <a:ext uri="{FF2B5EF4-FFF2-40B4-BE49-F238E27FC236}">
                <a16:creationId xmlns:a16="http://schemas.microsoft.com/office/drawing/2014/main" id="{2D36E175-4D40-6852-0F0E-ECB6E2A546B3}"/>
              </a:ext>
            </a:extLst>
          </p:cNvPr>
          <p:cNvSpPr txBox="1">
            <a:spLocks/>
          </p:cNvSpPr>
          <p:nvPr/>
        </p:nvSpPr>
        <p:spPr>
          <a:xfrm>
            <a:off x="0" y="-121920"/>
            <a:ext cx="9144000" cy="903841"/>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 </a:t>
            </a:r>
          </a:p>
          <a:p>
            <a:pPr algn="ctr"/>
            <a:endParaRPr lang="en-IN" sz="2800" b="1" dirty="0">
              <a:latin typeface="Times New Roman" panose="02020603050405020304" pitchFamily="18" charset="0"/>
              <a:cs typeface="Times New Roman" panose="02020603050405020304" pitchFamily="18" charset="0"/>
            </a:endParaRPr>
          </a:p>
        </p:txBody>
      </p:sp>
      <p:sp>
        <p:nvSpPr>
          <p:cNvPr id="5" name="Google Shape;55;p13">
            <a:extLst>
              <a:ext uri="{FF2B5EF4-FFF2-40B4-BE49-F238E27FC236}">
                <a16:creationId xmlns:a16="http://schemas.microsoft.com/office/drawing/2014/main" id="{6099413E-30C6-D42D-C811-D8C24B3A968A}"/>
              </a:ext>
            </a:extLst>
          </p:cNvPr>
          <p:cNvSpPr txBox="1">
            <a:spLocks/>
          </p:cNvSpPr>
          <p:nvPr/>
        </p:nvSpPr>
        <p:spPr>
          <a:xfrm>
            <a:off x="-358140" y="568561"/>
            <a:ext cx="9397679" cy="48135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482600" lvl="1" indent="0" algn="just"/>
            <a:endParaRPr lang="en-IN" sz="16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800" b="1" dirty="0">
                <a:solidFill>
                  <a:schemeClr val="tx1"/>
                </a:solidFill>
                <a:latin typeface="Times New Roman" panose="02020603050405020304" pitchFamily="18" charset="0"/>
                <a:cs typeface="Times New Roman" panose="02020603050405020304" pitchFamily="18" charset="0"/>
              </a:rPr>
              <a:t>4. </a:t>
            </a:r>
            <a:r>
              <a:rPr lang="en-IN" sz="1800" b="1" dirty="0" err="1">
                <a:solidFill>
                  <a:schemeClr val="tx1"/>
                </a:solidFill>
                <a:latin typeface="Times New Roman" panose="02020603050405020304" pitchFamily="18" charset="0"/>
                <a:cs typeface="Times New Roman" panose="02020603050405020304" pitchFamily="18" charset="0"/>
              </a:rPr>
              <a:t>LegalBench</a:t>
            </a:r>
            <a:r>
              <a:rPr lang="en-IN" sz="1800" b="1" dirty="0">
                <a:solidFill>
                  <a:schemeClr val="tx1"/>
                </a:solidFill>
                <a:latin typeface="Times New Roman" panose="02020603050405020304" pitchFamily="18" charset="0"/>
                <a:cs typeface="Times New Roman" panose="02020603050405020304" pitchFamily="18" charset="0"/>
              </a:rPr>
              <a:t>-RAG: A Benchmark for Retrieval-Augmented Generation in Legal Domain </a:t>
            </a:r>
          </a:p>
          <a:p>
            <a:pPr marL="482600" lvl="1" indent="0" algn="just"/>
            <a:endParaRPr lang="en-IN" sz="14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Introduction: </a:t>
            </a:r>
            <a:r>
              <a:rPr lang="en-IN" sz="1400" dirty="0" err="1">
                <a:solidFill>
                  <a:schemeClr val="tx1"/>
                </a:solidFill>
                <a:latin typeface="Times New Roman" panose="02020603050405020304" pitchFamily="18" charset="0"/>
                <a:cs typeface="Times New Roman" panose="02020603050405020304" pitchFamily="18" charset="0"/>
              </a:rPr>
              <a:t>LegalBench</a:t>
            </a:r>
            <a:r>
              <a:rPr lang="en-IN" sz="1400" dirty="0">
                <a:solidFill>
                  <a:schemeClr val="tx1"/>
                </a:solidFill>
                <a:latin typeface="Times New Roman" panose="02020603050405020304" pitchFamily="18" charset="0"/>
                <a:cs typeface="Times New Roman" panose="02020603050405020304" pitchFamily="18" charset="0"/>
              </a:rPr>
              <a:t>-RAG is a benchmark for evaluating Retrieval-Augmented Generation systems in legal applications. It measures how effectively AI retrieves legal evidence before generating answers.</a:t>
            </a:r>
          </a:p>
          <a:p>
            <a:pPr marL="482600" lvl="1" indent="0" algn="just"/>
            <a:endParaRPr lang="en-IN" sz="14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Objective: </a:t>
            </a:r>
            <a:r>
              <a:rPr lang="en-IN" sz="1400" dirty="0">
                <a:solidFill>
                  <a:schemeClr val="tx1"/>
                </a:solidFill>
                <a:latin typeface="Times New Roman" panose="02020603050405020304" pitchFamily="18" charset="0"/>
                <a:cs typeface="Times New Roman" panose="02020603050405020304" pitchFamily="18" charset="0"/>
              </a:rPr>
              <a:t>Its objective is to improve legal question answering through better document retrieval. It also aims to reduce hallucinations in legal AI systems.</a:t>
            </a:r>
          </a:p>
          <a:p>
            <a:pPr marL="482600" lvl="1" indent="0" algn="just"/>
            <a:endParaRPr lang="en-IN" sz="14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Methodology: </a:t>
            </a:r>
            <a:r>
              <a:rPr lang="en-IN" sz="1400" dirty="0">
                <a:solidFill>
                  <a:schemeClr val="tx1"/>
                </a:solidFill>
                <a:latin typeface="Times New Roman" panose="02020603050405020304" pitchFamily="18" charset="0"/>
                <a:cs typeface="Times New Roman" panose="02020603050405020304" pitchFamily="18" charset="0"/>
              </a:rPr>
              <a:t>The benchmark evaluates different retrieval models and language models. It measures retrieval quality, answer accuracy, and factual consistency. Various RAG pipelines are compared using legal datasets.</a:t>
            </a:r>
          </a:p>
          <a:p>
            <a:pPr marL="482600" lvl="1" indent="0" algn="just"/>
            <a:endParaRPr lang="en-IN" sz="1400"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Results: </a:t>
            </a:r>
            <a:r>
              <a:rPr lang="en-IN" sz="1400" dirty="0">
                <a:solidFill>
                  <a:schemeClr val="tx1"/>
                </a:solidFill>
                <a:latin typeface="Times New Roman" panose="02020603050405020304" pitchFamily="18" charset="0"/>
                <a:cs typeface="Times New Roman" panose="02020603050405020304" pitchFamily="18" charset="0"/>
              </a:rPr>
              <a:t>RAG-based models generated more accurate and evidence-supported legal responses. Better retrieval methods significantly improved overall performance.</a:t>
            </a:r>
          </a:p>
          <a:p>
            <a:pPr marL="482600" lvl="1" indent="0" algn="just"/>
            <a:endParaRPr lang="en-IN" sz="1400"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Limitations and Future Scope: </a:t>
            </a:r>
            <a:r>
              <a:rPr lang="en-IN" sz="1400" dirty="0">
                <a:solidFill>
                  <a:schemeClr val="tx1"/>
                </a:solidFill>
                <a:latin typeface="Times New Roman" panose="02020603050405020304" pitchFamily="18" charset="0"/>
                <a:cs typeface="Times New Roman" panose="02020603050405020304" pitchFamily="18" charset="0"/>
              </a:rPr>
              <a:t>Performance depends on the quality of retrieved legal documents. Future work can include dynamic legal databases and multilingual retrieval.</a:t>
            </a:r>
          </a:p>
          <a:p>
            <a:pPr marL="482600" lvl="1" indent="0" algn="just"/>
            <a:endParaRPr lang="en-IN" sz="1400" b="1" dirty="0">
              <a:solidFill>
                <a:schemeClr val="tx1"/>
              </a:solidFill>
              <a:latin typeface="Times New Roman" panose="02020603050405020304" pitchFamily="18" charset="0"/>
              <a:cs typeface="Times New Roman" panose="02020603050405020304" pitchFamily="18" charset="0"/>
            </a:endParaRPr>
          </a:p>
          <a:p>
            <a:pPr marL="482600" lvl="1" indent="0" algn="just"/>
            <a:endParaRPr lang="en-IN" sz="145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934840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561076-A3D9-AEF2-087B-685A21BE64EB}"/>
            </a:ext>
          </a:extLst>
        </p:cNvPr>
        <p:cNvGrpSpPr/>
        <p:nvPr/>
      </p:nvGrpSpPr>
      <p:grpSpPr>
        <a:xfrm>
          <a:off x="0" y="0"/>
          <a:ext cx="0" cy="0"/>
          <a:chOff x="0" y="0"/>
          <a:chExt cx="0" cy="0"/>
        </a:xfrm>
      </p:grpSpPr>
      <p:sp>
        <p:nvSpPr>
          <p:cNvPr id="4" name="Google Shape;55;p13">
            <a:extLst>
              <a:ext uri="{FF2B5EF4-FFF2-40B4-BE49-F238E27FC236}">
                <a16:creationId xmlns:a16="http://schemas.microsoft.com/office/drawing/2014/main" id="{6C928723-6521-6E68-8EF0-D5B9911D6E71}"/>
              </a:ext>
            </a:extLst>
          </p:cNvPr>
          <p:cNvSpPr txBox="1">
            <a:spLocks/>
          </p:cNvSpPr>
          <p:nvPr/>
        </p:nvSpPr>
        <p:spPr>
          <a:xfrm>
            <a:off x="0" y="-121920"/>
            <a:ext cx="9144000" cy="903841"/>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 </a:t>
            </a:r>
          </a:p>
        </p:txBody>
      </p:sp>
      <p:sp>
        <p:nvSpPr>
          <p:cNvPr id="5" name="Google Shape;55;p13">
            <a:extLst>
              <a:ext uri="{FF2B5EF4-FFF2-40B4-BE49-F238E27FC236}">
                <a16:creationId xmlns:a16="http://schemas.microsoft.com/office/drawing/2014/main" id="{91EC8F1C-5106-3D17-0D23-3168470E27D0}"/>
              </a:ext>
            </a:extLst>
          </p:cNvPr>
          <p:cNvSpPr txBox="1">
            <a:spLocks/>
          </p:cNvSpPr>
          <p:nvPr/>
        </p:nvSpPr>
        <p:spPr>
          <a:xfrm>
            <a:off x="-435480" y="238560"/>
            <a:ext cx="9397679" cy="466637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482600" lvl="1" indent="0" algn="just"/>
            <a:endParaRPr lang="en-IN" sz="20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800" b="1" dirty="0">
                <a:solidFill>
                  <a:schemeClr val="tx1"/>
                </a:solidFill>
                <a:latin typeface="Times New Roman" panose="02020603050405020304" pitchFamily="18" charset="0"/>
                <a:cs typeface="Times New Roman" panose="02020603050405020304" pitchFamily="18" charset="0"/>
              </a:rPr>
              <a:t>5.</a:t>
            </a:r>
            <a:r>
              <a:rPr lang="en-IN" sz="1800" dirty="0"/>
              <a:t> </a:t>
            </a:r>
            <a:r>
              <a:rPr lang="en-IN" sz="1800" b="1" dirty="0">
                <a:solidFill>
                  <a:schemeClr val="tx1"/>
                </a:solidFill>
                <a:latin typeface="Times New Roman" panose="02020603050405020304" pitchFamily="18" charset="0"/>
                <a:cs typeface="Times New Roman" panose="02020603050405020304" pitchFamily="18" charset="0"/>
              </a:rPr>
              <a:t>CUAD: An Expert-Annotated NLP Dataset for Legal Contract Review</a:t>
            </a:r>
          </a:p>
          <a:p>
            <a:pPr marL="482600" lvl="1" indent="0" algn="just"/>
            <a:endParaRPr lang="en-IN" sz="20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Introduction: </a:t>
            </a:r>
            <a:r>
              <a:rPr lang="en-IN" sz="1400" dirty="0">
                <a:solidFill>
                  <a:schemeClr val="tx1"/>
                </a:solidFill>
                <a:latin typeface="Times New Roman "/>
                <a:cs typeface="TH SarabunPSK" panose="020B0500040200020003" pitchFamily="34" charset="-34"/>
              </a:rPr>
              <a:t>CUAD is a large legal contract dataset created for Natural Language Processing research. It contains expert-annotated legal clauses from commercial agreements.</a:t>
            </a:r>
          </a:p>
          <a:p>
            <a:pPr marL="482600" lvl="1" indent="0" algn="just"/>
            <a:endParaRPr lang="en-IN" sz="14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Objective: </a:t>
            </a:r>
            <a:r>
              <a:rPr lang="en-IN" sz="1400" dirty="0">
                <a:solidFill>
                  <a:schemeClr val="tx1"/>
                </a:solidFill>
                <a:latin typeface="Times New Roman" panose="02020603050405020304" pitchFamily="18" charset="0"/>
                <a:cs typeface="Times New Roman" panose="02020603050405020304" pitchFamily="18" charset="0"/>
              </a:rPr>
              <a:t>Its objective is to automate legal contract review using Artificial Intelligence. It also helps develop accurate legal clause classification models.</a:t>
            </a:r>
          </a:p>
          <a:p>
            <a:pPr marL="482600" lvl="1" indent="0" algn="just"/>
            <a:endParaRPr lang="en-IN" sz="14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Methodology: </a:t>
            </a:r>
            <a:r>
              <a:rPr lang="en-IN" sz="1400" dirty="0">
                <a:solidFill>
                  <a:schemeClr val="tx1"/>
                </a:solidFill>
                <a:latin typeface="Times New Roman" panose="02020603050405020304" pitchFamily="18" charset="0"/>
                <a:cs typeface="Times New Roman" panose="02020603050405020304" pitchFamily="18" charset="0"/>
              </a:rPr>
              <a:t>The dataset includes over 13,000 annotated legal clauses from more than 500 contracts. Important clauses such as confidentiality, liability, and termination are </a:t>
            </a:r>
            <a:r>
              <a:rPr lang="en-IN" sz="1400" dirty="0" err="1">
                <a:solidFill>
                  <a:schemeClr val="tx1"/>
                </a:solidFill>
                <a:latin typeface="Times New Roman" panose="02020603050405020304" pitchFamily="18" charset="0"/>
                <a:cs typeface="Times New Roman" panose="02020603050405020304" pitchFamily="18" charset="0"/>
              </a:rPr>
              <a:t>labeled</a:t>
            </a:r>
            <a:r>
              <a:rPr lang="en-IN" sz="1400" dirty="0">
                <a:solidFill>
                  <a:schemeClr val="tx1"/>
                </a:solidFill>
                <a:latin typeface="Times New Roman" panose="02020603050405020304" pitchFamily="18" charset="0"/>
                <a:cs typeface="Times New Roman" panose="02020603050405020304" pitchFamily="18" charset="0"/>
              </a:rPr>
              <a:t> by legal experts. Baseline NLP models were trained to evaluate the dataset.</a:t>
            </a:r>
          </a:p>
          <a:p>
            <a:pPr marL="482600" lvl="1" indent="0" algn="just"/>
            <a:endParaRPr lang="en-IN" sz="1400"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Results: </a:t>
            </a:r>
            <a:r>
              <a:rPr lang="en-IN" sz="1400" dirty="0">
                <a:solidFill>
                  <a:schemeClr val="tx1"/>
                </a:solidFill>
                <a:latin typeface="Times New Roman" panose="02020603050405020304" pitchFamily="18" charset="0"/>
                <a:cs typeface="Times New Roman" panose="02020603050405020304" pitchFamily="18" charset="0"/>
              </a:rPr>
              <a:t>CUAD became one of the most widely used datasets for legal contract analysis. It significantly improved research in legal clause extraction and classification.</a:t>
            </a:r>
          </a:p>
          <a:p>
            <a:pPr marL="482600" lvl="1" indent="0" algn="just"/>
            <a:endParaRPr lang="en-IN" sz="1400"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Limitations and Future Scope: </a:t>
            </a:r>
            <a:r>
              <a:rPr lang="en-IN" sz="1400" dirty="0">
                <a:solidFill>
                  <a:schemeClr val="tx1"/>
                </a:solidFill>
                <a:latin typeface="Times New Roman" panose="02020603050405020304" pitchFamily="18" charset="0"/>
                <a:cs typeface="Times New Roman" panose="02020603050405020304" pitchFamily="18" charset="0"/>
              </a:rPr>
              <a:t>The dataset mainly focuses on commercial contracts. Future work can include court cases, statutes, and multilingual legal documents.</a:t>
            </a:r>
          </a:p>
          <a:p>
            <a:pPr marL="482600" lvl="1" indent="0" algn="just"/>
            <a:endParaRPr lang="en-IN" sz="145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728387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9E7DB2-464A-4B33-ED94-8A66CE9AD51B}"/>
            </a:ext>
          </a:extLst>
        </p:cNvPr>
        <p:cNvGrpSpPr/>
        <p:nvPr/>
      </p:nvGrpSpPr>
      <p:grpSpPr>
        <a:xfrm>
          <a:off x="0" y="0"/>
          <a:ext cx="0" cy="0"/>
          <a:chOff x="0" y="0"/>
          <a:chExt cx="0" cy="0"/>
        </a:xfrm>
      </p:grpSpPr>
      <p:sp>
        <p:nvSpPr>
          <p:cNvPr id="4" name="Google Shape;55;p13">
            <a:extLst>
              <a:ext uri="{FF2B5EF4-FFF2-40B4-BE49-F238E27FC236}">
                <a16:creationId xmlns:a16="http://schemas.microsoft.com/office/drawing/2014/main" id="{0B0796B4-896E-FA47-456E-B0EC3BA29B0B}"/>
              </a:ext>
            </a:extLst>
          </p:cNvPr>
          <p:cNvSpPr txBox="1">
            <a:spLocks/>
          </p:cNvSpPr>
          <p:nvPr/>
        </p:nvSpPr>
        <p:spPr>
          <a:xfrm>
            <a:off x="0" y="-121920"/>
            <a:ext cx="9144000" cy="903841"/>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2800" b="1" dirty="0">
                <a:latin typeface="Times New Roman" panose="02020603050405020304" pitchFamily="18" charset="0"/>
                <a:cs typeface="Times New Roman" panose="02020603050405020304" pitchFamily="18" charset="0"/>
              </a:rPr>
              <a:t>Existing Approaches (Literature Survey) </a:t>
            </a:r>
          </a:p>
        </p:txBody>
      </p:sp>
      <p:sp>
        <p:nvSpPr>
          <p:cNvPr id="5" name="Google Shape;55;p13">
            <a:extLst>
              <a:ext uri="{FF2B5EF4-FFF2-40B4-BE49-F238E27FC236}">
                <a16:creationId xmlns:a16="http://schemas.microsoft.com/office/drawing/2014/main" id="{36282912-30D9-2FAB-4921-5652C086AD15}"/>
              </a:ext>
            </a:extLst>
          </p:cNvPr>
          <p:cNvSpPr txBox="1">
            <a:spLocks/>
          </p:cNvSpPr>
          <p:nvPr/>
        </p:nvSpPr>
        <p:spPr>
          <a:xfrm>
            <a:off x="-476120" y="330000"/>
            <a:ext cx="9397679" cy="466637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482600" lvl="1" indent="0" algn="just"/>
            <a:endParaRPr lang="en-IN" sz="16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800" b="1" dirty="0">
                <a:solidFill>
                  <a:schemeClr val="tx1"/>
                </a:solidFill>
                <a:latin typeface="Times New Roman" panose="02020603050405020304" pitchFamily="18" charset="0"/>
                <a:cs typeface="Times New Roman" panose="02020603050405020304" pitchFamily="18" charset="0"/>
              </a:rPr>
              <a:t>6.</a:t>
            </a:r>
            <a:r>
              <a:rPr lang="en-IN" sz="1800" dirty="0"/>
              <a:t> </a:t>
            </a:r>
            <a:r>
              <a:rPr lang="en-IN" sz="1800" b="1" dirty="0" err="1">
                <a:solidFill>
                  <a:schemeClr val="tx1"/>
                </a:solidFill>
                <a:latin typeface="Times New Roman" panose="02020603050405020304" pitchFamily="18" charset="0"/>
                <a:cs typeface="Times New Roman" panose="02020603050405020304" pitchFamily="18" charset="0"/>
              </a:rPr>
              <a:t>ContractNLI</a:t>
            </a:r>
            <a:r>
              <a:rPr lang="en-IN" sz="1800" b="1" dirty="0">
                <a:solidFill>
                  <a:schemeClr val="tx1"/>
                </a:solidFill>
                <a:latin typeface="Times New Roman" panose="02020603050405020304" pitchFamily="18" charset="0"/>
                <a:cs typeface="Times New Roman" panose="02020603050405020304" pitchFamily="18" charset="0"/>
              </a:rPr>
              <a:t>: A Dataset for Document-Level Natural Language Inference for Contracts</a:t>
            </a:r>
          </a:p>
          <a:p>
            <a:pPr marL="482600" lvl="1" indent="0" algn="just"/>
            <a:endParaRPr lang="en-IN" sz="24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Introduction: </a:t>
            </a:r>
            <a:r>
              <a:rPr lang="en-IN" sz="1400" dirty="0" err="1">
                <a:solidFill>
                  <a:schemeClr val="tx1"/>
                </a:solidFill>
                <a:latin typeface="Times New Roman" panose="02020603050405020304" pitchFamily="18" charset="0"/>
                <a:cs typeface="Times New Roman" panose="02020603050405020304" pitchFamily="18" charset="0"/>
              </a:rPr>
              <a:t>ContractNLI</a:t>
            </a:r>
            <a:r>
              <a:rPr lang="en-IN" sz="1400" dirty="0">
                <a:solidFill>
                  <a:schemeClr val="tx1"/>
                </a:solidFill>
                <a:latin typeface="Times New Roman" panose="02020603050405020304" pitchFamily="18" charset="0"/>
                <a:cs typeface="Times New Roman" panose="02020603050405020304" pitchFamily="18" charset="0"/>
              </a:rPr>
              <a:t> is a benchmark dataset developed for understanding legal contracts using Natural Language Inference (NLI). It helps AI determine whether legal statements are supported, contradicted, or absent in contracts</a:t>
            </a:r>
            <a:r>
              <a:rPr lang="en-IN" sz="1400" dirty="0">
                <a:solidFill>
                  <a:schemeClr val="tx1"/>
                </a:solidFill>
                <a:latin typeface="Times New Roman "/>
                <a:cs typeface="TH SarabunPSK" panose="020B0500040200020003" pitchFamily="34" charset="-34"/>
              </a:rPr>
              <a:t>.</a:t>
            </a:r>
          </a:p>
          <a:p>
            <a:pPr marL="482600" lvl="1" indent="0" algn="just"/>
            <a:endParaRPr lang="en-IN" sz="14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Objective: </a:t>
            </a:r>
            <a:r>
              <a:rPr lang="en-IN" sz="1400" dirty="0">
                <a:solidFill>
                  <a:schemeClr val="tx1"/>
                </a:solidFill>
                <a:latin typeface="Times New Roman" panose="02020603050405020304" pitchFamily="18" charset="0"/>
                <a:cs typeface="Times New Roman" panose="02020603050405020304" pitchFamily="18" charset="0"/>
              </a:rPr>
              <a:t>The primary objective is to improve document-level reasoning in legal contracts. It also provides a benchmark for evaluating AI models on legal inference tasks.</a:t>
            </a:r>
          </a:p>
          <a:p>
            <a:pPr marL="482600" lvl="1" indent="0" algn="just"/>
            <a:endParaRPr lang="en-IN" sz="145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Methodology: </a:t>
            </a:r>
            <a:r>
              <a:rPr lang="en-IN" sz="1400" dirty="0">
                <a:solidFill>
                  <a:schemeClr val="tx1"/>
                </a:solidFill>
                <a:latin typeface="Times New Roman" panose="02020603050405020304" pitchFamily="18" charset="0"/>
                <a:cs typeface="Times New Roman" panose="02020603050405020304" pitchFamily="18" charset="0"/>
              </a:rPr>
              <a:t>The dataset contains legal contracts with expert-created hypothesis statements. Each statement is </a:t>
            </a:r>
            <a:r>
              <a:rPr lang="en-IN" sz="1400" dirty="0" err="1">
                <a:solidFill>
                  <a:schemeClr val="tx1"/>
                </a:solidFill>
                <a:latin typeface="Times New Roman" panose="02020603050405020304" pitchFamily="18" charset="0"/>
                <a:cs typeface="Times New Roman" panose="02020603050405020304" pitchFamily="18" charset="0"/>
              </a:rPr>
              <a:t>labeled</a:t>
            </a:r>
            <a:r>
              <a:rPr lang="en-IN" sz="1400" dirty="0">
                <a:solidFill>
                  <a:schemeClr val="tx1"/>
                </a:solidFill>
                <a:latin typeface="Times New Roman" panose="02020603050405020304" pitchFamily="18" charset="0"/>
                <a:cs typeface="Times New Roman" panose="02020603050405020304" pitchFamily="18" charset="0"/>
              </a:rPr>
              <a:t> as Entailment, Contradiction, or Not Mentioned. Transformer-based language models are evaluated using these annotated examples.</a:t>
            </a:r>
          </a:p>
          <a:p>
            <a:pPr marL="482600" lvl="1" indent="0" algn="just"/>
            <a:endParaRPr lang="en-IN" sz="14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Results: </a:t>
            </a:r>
            <a:r>
              <a:rPr lang="en-IN" sz="1400" dirty="0">
                <a:solidFill>
                  <a:schemeClr val="tx1"/>
                </a:solidFill>
                <a:latin typeface="Times New Roman" panose="02020603050405020304" pitchFamily="18" charset="0"/>
                <a:cs typeface="Times New Roman" panose="02020603050405020304" pitchFamily="18" charset="0"/>
              </a:rPr>
              <a:t>The dataset improved research in legal reasoning and contract understanding. It showed that existing AI models still struggle with long-document legal inference.</a:t>
            </a:r>
          </a:p>
          <a:p>
            <a:pPr marL="482600" lvl="1" indent="0" algn="just"/>
            <a:endParaRPr lang="en-IN" sz="14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Limitations and Future Scope: </a:t>
            </a:r>
            <a:r>
              <a:rPr lang="en-IN" sz="1400" dirty="0">
                <a:solidFill>
                  <a:schemeClr val="tx1"/>
                </a:solidFill>
                <a:latin typeface="Times New Roman" panose="02020603050405020304" pitchFamily="18" charset="0"/>
                <a:cs typeface="Times New Roman" panose="02020603050405020304" pitchFamily="18" charset="0"/>
              </a:rPr>
              <a:t>The dataset mainly focuses on commercial contracts. Future work can include multilingual contracts and Retrieval-Augmented Generation for improved reasoning</a:t>
            </a:r>
            <a:r>
              <a:rPr lang="en-IN" sz="1400" dirty="0"/>
              <a:t>.</a:t>
            </a:r>
            <a:endParaRPr lang="en-IN" sz="1400" dirty="0">
              <a:solidFill>
                <a:schemeClr val="tx1"/>
              </a:solidFill>
              <a:latin typeface="Times New Roman" panose="02020603050405020304" pitchFamily="18" charset="0"/>
              <a:cs typeface="Times New Roman" panose="02020603050405020304" pitchFamily="18" charset="0"/>
            </a:endParaRPr>
          </a:p>
          <a:p>
            <a:pPr marL="482600" lvl="1" indent="0" algn="just"/>
            <a:endParaRPr lang="en-IN" sz="145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98655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37AB60-B1AA-F15F-FD50-80F259AF5FD4}"/>
            </a:ext>
          </a:extLst>
        </p:cNvPr>
        <p:cNvGrpSpPr/>
        <p:nvPr/>
      </p:nvGrpSpPr>
      <p:grpSpPr>
        <a:xfrm>
          <a:off x="0" y="0"/>
          <a:ext cx="0" cy="0"/>
          <a:chOff x="0" y="0"/>
          <a:chExt cx="0" cy="0"/>
        </a:xfrm>
      </p:grpSpPr>
      <p:sp>
        <p:nvSpPr>
          <p:cNvPr id="4" name="Google Shape;55;p13">
            <a:extLst>
              <a:ext uri="{FF2B5EF4-FFF2-40B4-BE49-F238E27FC236}">
                <a16:creationId xmlns:a16="http://schemas.microsoft.com/office/drawing/2014/main" id="{DC284C27-6DA9-C7B1-F359-0925A2C8E0B1}"/>
              </a:ext>
            </a:extLst>
          </p:cNvPr>
          <p:cNvSpPr txBox="1">
            <a:spLocks/>
          </p:cNvSpPr>
          <p:nvPr/>
        </p:nvSpPr>
        <p:spPr>
          <a:xfrm>
            <a:off x="0" y="-121920"/>
            <a:ext cx="9144000" cy="903841"/>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 </a:t>
            </a:r>
          </a:p>
        </p:txBody>
      </p:sp>
      <p:sp>
        <p:nvSpPr>
          <p:cNvPr id="5" name="Google Shape;55;p13">
            <a:extLst>
              <a:ext uri="{FF2B5EF4-FFF2-40B4-BE49-F238E27FC236}">
                <a16:creationId xmlns:a16="http://schemas.microsoft.com/office/drawing/2014/main" id="{1D69C10E-766F-1A18-8DD3-C1335D08A4DF}"/>
              </a:ext>
            </a:extLst>
          </p:cNvPr>
          <p:cNvSpPr txBox="1">
            <a:spLocks/>
          </p:cNvSpPr>
          <p:nvPr/>
        </p:nvSpPr>
        <p:spPr>
          <a:xfrm>
            <a:off x="-284480" y="330001"/>
            <a:ext cx="9256839" cy="463824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482600" lvl="1" indent="0" algn="just"/>
            <a:endParaRPr lang="en-IN" sz="16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800" b="1" dirty="0">
                <a:solidFill>
                  <a:schemeClr val="tx1"/>
                </a:solidFill>
                <a:latin typeface="Times New Roman" panose="02020603050405020304" pitchFamily="18" charset="0"/>
                <a:cs typeface="Times New Roman" panose="02020603050405020304" pitchFamily="18" charset="0"/>
              </a:rPr>
              <a:t>7.</a:t>
            </a:r>
            <a:r>
              <a:rPr lang="en-IN" sz="1800" dirty="0"/>
              <a:t> </a:t>
            </a:r>
            <a:r>
              <a:rPr lang="en-IN" sz="1800" b="1" dirty="0">
                <a:solidFill>
                  <a:schemeClr val="tx1"/>
                </a:solidFill>
                <a:latin typeface="Times New Roman" panose="02020603050405020304" pitchFamily="18" charset="0"/>
                <a:cs typeface="Times New Roman" panose="02020603050405020304" pitchFamily="18" charset="0"/>
              </a:rPr>
              <a:t>MAUD: An Expert-Annotated Legal NLP Dataset for Merger Agreement Understanding</a:t>
            </a:r>
          </a:p>
          <a:p>
            <a:pPr marL="482600" lvl="1" indent="0" algn="just"/>
            <a:endParaRPr lang="en-IN" sz="20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Introduction: </a:t>
            </a:r>
            <a:r>
              <a:rPr lang="en-IN" sz="1400" dirty="0">
                <a:solidFill>
                  <a:schemeClr val="tx1"/>
                </a:solidFill>
                <a:latin typeface="Times New Roman" panose="02020603050405020304" pitchFamily="18" charset="0"/>
                <a:cs typeface="Times New Roman" panose="02020603050405020304" pitchFamily="18" charset="0"/>
              </a:rPr>
              <a:t>MAUD is an expert-annotated dataset developed for understanding merger and acquisition agreements. It supports AI research in corporate legal document analysis</a:t>
            </a:r>
            <a:r>
              <a:rPr lang="en-IN" sz="1400" dirty="0">
                <a:solidFill>
                  <a:schemeClr val="tx1"/>
                </a:solidFill>
                <a:latin typeface="Times New Roman "/>
                <a:cs typeface="TH SarabunPSK" panose="020B0500040200020003" pitchFamily="34" charset="-34"/>
              </a:rPr>
              <a:t>.</a:t>
            </a:r>
          </a:p>
          <a:p>
            <a:pPr marL="482600" lvl="1" indent="0" algn="just"/>
            <a:endParaRPr lang="en-IN" sz="14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Objective: </a:t>
            </a:r>
            <a:r>
              <a:rPr lang="en-IN" sz="1400" dirty="0">
                <a:solidFill>
                  <a:schemeClr val="tx1"/>
                </a:solidFill>
                <a:latin typeface="Times New Roman" panose="02020603050405020304" pitchFamily="18" charset="0"/>
                <a:cs typeface="Times New Roman" panose="02020603050405020304" pitchFamily="18" charset="0"/>
              </a:rPr>
              <a:t>Its objective is to automate the extraction of important legal information from merger agreements. It also aims to reduce the manual effort involved in legal document review.</a:t>
            </a:r>
          </a:p>
          <a:p>
            <a:pPr marL="482600" lvl="1" indent="0" algn="just"/>
            <a:endParaRPr lang="en-IN" sz="1450" b="1" dirty="0">
              <a:solidFill>
                <a:schemeClr val="tx1"/>
              </a:solidFill>
              <a:latin typeface="Times New Roman" panose="02020603050405020304" pitchFamily="18" charset="0"/>
              <a:cs typeface="Times New Roman" panose="02020603050405020304" pitchFamily="18" charset="0"/>
            </a:endParaRPr>
          </a:p>
          <a:p>
            <a:pPr marL="482600" lvl="1" indent="0" algn="just"/>
            <a:endParaRPr lang="en-IN" sz="14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Methodology: </a:t>
            </a:r>
            <a:r>
              <a:rPr lang="en-IN" sz="1400" dirty="0">
                <a:solidFill>
                  <a:schemeClr val="tx1"/>
                </a:solidFill>
                <a:latin typeface="Times New Roman" panose="02020603050405020304" pitchFamily="18" charset="0"/>
                <a:cs typeface="Times New Roman" panose="02020603050405020304" pitchFamily="18" charset="0"/>
              </a:rPr>
              <a:t>The dataset contains publicly available merger agreements annotated by legal experts. Various contractual obligations and legal clauses are carefully </a:t>
            </a:r>
            <a:r>
              <a:rPr lang="en-IN" sz="1400" dirty="0" err="1">
                <a:solidFill>
                  <a:schemeClr val="tx1"/>
                </a:solidFill>
                <a:latin typeface="Times New Roman" panose="02020603050405020304" pitchFamily="18" charset="0"/>
                <a:cs typeface="Times New Roman" panose="02020603050405020304" pitchFamily="18" charset="0"/>
              </a:rPr>
              <a:t>labeled</a:t>
            </a:r>
            <a:r>
              <a:rPr lang="en-IN" sz="1400" dirty="0">
                <a:solidFill>
                  <a:schemeClr val="tx1"/>
                </a:solidFill>
                <a:latin typeface="Times New Roman" panose="02020603050405020304" pitchFamily="18" charset="0"/>
                <a:cs typeface="Times New Roman" panose="02020603050405020304" pitchFamily="18" charset="0"/>
              </a:rPr>
              <a:t>. Baseline transformer models are trained and evaluated on the dataset.</a:t>
            </a:r>
          </a:p>
          <a:p>
            <a:pPr marL="482600" lvl="1" indent="0" algn="just"/>
            <a:endParaRPr lang="en-IN" sz="14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Results: </a:t>
            </a:r>
            <a:r>
              <a:rPr lang="en-IN" sz="1400" dirty="0">
                <a:solidFill>
                  <a:schemeClr val="tx1"/>
                </a:solidFill>
                <a:latin typeface="Times New Roman" panose="02020603050405020304" pitchFamily="18" charset="0"/>
                <a:cs typeface="Times New Roman" panose="02020603050405020304" pitchFamily="18" charset="0"/>
              </a:rPr>
              <a:t>MAUD provides high-quality annotations for legal information extraction. It has improved the performance of AI models in </a:t>
            </a:r>
            <a:r>
              <a:rPr lang="en-IN" sz="1400" dirty="0" err="1">
                <a:solidFill>
                  <a:schemeClr val="tx1"/>
                </a:solidFill>
                <a:latin typeface="Times New Roman" panose="02020603050405020304" pitchFamily="18" charset="0"/>
                <a:cs typeface="Times New Roman" panose="02020603050405020304" pitchFamily="18" charset="0"/>
              </a:rPr>
              <a:t>analyzing</a:t>
            </a:r>
            <a:r>
              <a:rPr lang="en-IN" sz="1400" dirty="0">
                <a:solidFill>
                  <a:schemeClr val="tx1"/>
                </a:solidFill>
                <a:latin typeface="Times New Roman" panose="02020603050405020304" pitchFamily="18" charset="0"/>
                <a:cs typeface="Times New Roman" panose="02020603050405020304" pitchFamily="18" charset="0"/>
              </a:rPr>
              <a:t> merger agreements.</a:t>
            </a:r>
          </a:p>
          <a:p>
            <a:pPr marL="482600" lvl="1" indent="0" algn="just"/>
            <a:endParaRPr lang="en-IN" sz="14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Limitations and Future Scope: </a:t>
            </a:r>
            <a:r>
              <a:rPr lang="en-IN" sz="1400" dirty="0">
                <a:solidFill>
                  <a:schemeClr val="tx1"/>
                </a:solidFill>
                <a:latin typeface="Times New Roman" panose="02020603050405020304" pitchFamily="18" charset="0"/>
                <a:cs typeface="Times New Roman" panose="02020603050405020304" pitchFamily="18" charset="0"/>
              </a:rPr>
              <a:t>The dataset focuses only on merger agreements. Future work can include other corporate legal documents and multilingual datasets.</a:t>
            </a:r>
          </a:p>
          <a:p>
            <a:pPr marL="482600" lvl="1" indent="0" algn="just"/>
            <a:endParaRPr lang="en-IN" sz="1400" b="1" dirty="0">
              <a:solidFill>
                <a:schemeClr val="tx1"/>
              </a:solidFill>
              <a:latin typeface="Times New Roman" panose="02020603050405020304" pitchFamily="18" charset="0"/>
              <a:cs typeface="Times New Roman" panose="02020603050405020304" pitchFamily="18" charset="0"/>
            </a:endParaRPr>
          </a:p>
          <a:p>
            <a:pPr marL="482600" lvl="1" indent="0" algn="just"/>
            <a:endParaRPr lang="en-IN" sz="1400" b="1" dirty="0">
              <a:solidFill>
                <a:schemeClr val="tx1"/>
              </a:solidFill>
              <a:latin typeface="Times New Roman" panose="02020603050405020304" pitchFamily="18" charset="0"/>
              <a:cs typeface="Times New Roman" panose="02020603050405020304" pitchFamily="18" charset="0"/>
            </a:endParaRPr>
          </a:p>
          <a:p>
            <a:pPr marL="482600" lvl="1" indent="0" algn="just"/>
            <a:endParaRPr lang="en-IN" sz="145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91680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AB07B5-D142-C33B-C529-1EEC55DCBE6E}"/>
            </a:ext>
          </a:extLst>
        </p:cNvPr>
        <p:cNvGrpSpPr/>
        <p:nvPr/>
      </p:nvGrpSpPr>
      <p:grpSpPr>
        <a:xfrm>
          <a:off x="0" y="0"/>
          <a:ext cx="0" cy="0"/>
          <a:chOff x="0" y="0"/>
          <a:chExt cx="0" cy="0"/>
        </a:xfrm>
      </p:grpSpPr>
      <p:sp>
        <p:nvSpPr>
          <p:cNvPr id="4" name="Google Shape;55;p13">
            <a:extLst>
              <a:ext uri="{FF2B5EF4-FFF2-40B4-BE49-F238E27FC236}">
                <a16:creationId xmlns:a16="http://schemas.microsoft.com/office/drawing/2014/main" id="{B0B6F0A2-CC3E-F98D-4E15-1183659201E9}"/>
              </a:ext>
            </a:extLst>
          </p:cNvPr>
          <p:cNvSpPr txBox="1">
            <a:spLocks/>
          </p:cNvSpPr>
          <p:nvPr/>
        </p:nvSpPr>
        <p:spPr>
          <a:xfrm>
            <a:off x="0" y="-121920"/>
            <a:ext cx="9144000" cy="903841"/>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 </a:t>
            </a:r>
          </a:p>
        </p:txBody>
      </p:sp>
      <p:sp>
        <p:nvSpPr>
          <p:cNvPr id="5" name="Google Shape;55;p13">
            <a:extLst>
              <a:ext uri="{FF2B5EF4-FFF2-40B4-BE49-F238E27FC236}">
                <a16:creationId xmlns:a16="http://schemas.microsoft.com/office/drawing/2014/main" id="{1ADE225F-7859-B4C3-2CEF-250C6940DDEF}"/>
              </a:ext>
            </a:extLst>
          </p:cNvPr>
          <p:cNvSpPr txBox="1">
            <a:spLocks/>
          </p:cNvSpPr>
          <p:nvPr/>
        </p:nvSpPr>
        <p:spPr>
          <a:xfrm>
            <a:off x="-216221" y="410243"/>
            <a:ext cx="9144000" cy="456815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482600" lvl="1" indent="0" algn="just"/>
            <a:endParaRPr lang="en-IN" sz="16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800" b="1" dirty="0">
                <a:solidFill>
                  <a:schemeClr val="tx1"/>
                </a:solidFill>
                <a:latin typeface="Times New Roman" panose="02020603050405020304" pitchFamily="18" charset="0"/>
                <a:cs typeface="Times New Roman" panose="02020603050405020304" pitchFamily="18" charset="0"/>
              </a:rPr>
              <a:t>8. </a:t>
            </a:r>
            <a:r>
              <a:rPr lang="en-IN" sz="1800" b="1" dirty="0" err="1">
                <a:solidFill>
                  <a:schemeClr val="tx1"/>
                </a:solidFill>
                <a:latin typeface="Times New Roman" panose="02020603050405020304" pitchFamily="18" charset="0"/>
                <a:cs typeface="Times New Roman" panose="02020603050405020304" pitchFamily="18" charset="0"/>
              </a:rPr>
              <a:t>LexGLUE</a:t>
            </a:r>
            <a:r>
              <a:rPr lang="en-IN" sz="1800" b="1" dirty="0">
                <a:solidFill>
                  <a:schemeClr val="tx1"/>
                </a:solidFill>
                <a:latin typeface="Times New Roman" panose="02020603050405020304" pitchFamily="18" charset="0"/>
                <a:cs typeface="Times New Roman" panose="02020603050405020304" pitchFamily="18" charset="0"/>
              </a:rPr>
              <a:t>: A Benchmark Dataset for Legal Language Understanding</a:t>
            </a:r>
          </a:p>
          <a:p>
            <a:pPr marL="482600" lvl="1" indent="0" algn="just"/>
            <a:endParaRPr lang="en-IN" sz="20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Introduction: </a:t>
            </a:r>
            <a:r>
              <a:rPr lang="en-IN" sz="1400" dirty="0" err="1">
                <a:solidFill>
                  <a:schemeClr val="tx1"/>
                </a:solidFill>
                <a:latin typeface="Times New Roman" panose="02020603050405020304" pitchFamily="18" charset="0"/>
                <a:cs typeface="Times New Roman" panose="02020603050405020304" pitchFamily="18" charset="0"/>
              </a:rPr>
              <a:t>LexGLUE</a:t>
            </a:r>
            <a:r>
              <a:rPr lang="en-IN" sz="1400" dirty="0">
                <a:solidFill>
                  <a:schemeClr val="tx1"/>
                </a:solidFill>
                <a:latin typeface="Times New Roman" panose="02020603050405020304" pitchFamily="18" charset="0"/>
                <a:cs typeface="Times New Roman" panose="02020603050405020304" pitchFamily="18" charset="0"/>
              </a:rPr>
              <a:t> is a benchmark designed to evaluate legal language understanding models. It combines multiple legal datasets into a single evaluation framework.</a:t>
            </a:r>
          </a:p>
          <a:p>
            <a:pPr marL="482600" lvl="1" indent="0" algn="just"/>
            <a:endParaRPr lang="en-IN" sz="14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Objective: </a:t>
            </a:r>
            <a:r>
              <a:rPr lang="en-IN" sz="1400" dirty="0">
                <a:solidFill>
                  <a:schemeClr val="tx1"/>
                </a:solidFill>
                <a:latin typeface="Times New Roman" panose="02020603050405020304" pitchFamily="18" charset="0"/>
                <a:cs typeface="Times New Roman" panose="02020603050405020304" pitchFamily="18" charset="0"/>
              </a:rPr>
              <a:t>Its objective is to provide a common benchmark for legal NLP research. It also helps compare different legal language models fairly.</a:t>
            </a:r>
          </a:p>
          <a:p>
            <a:pPr marL="482600" lvl="1" indent="0" algn="just"/>
            <a:endParaRPr lang="en-IN" sz="14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Methodology: </a:t>
            </a:r>
            <a:r>
              <a:rPr lang="en-IN" sz="1400" dirty="0" err="1">
                <a:solidFill>
                  <a:schemeClr val="tx1"/>
                </a:solidFill>
                <a:latin typeface="Times New Roman" panose="02020603050405020304" pitchFamily="18" charset="0"/>
                <a:cs typeface="Times New Roman" panose="02020603050405020304" pitchFamily="18" charset="0"/>
              </a:rPr>
              <a:t>LexGLUE</a:t>
            </a:r>
            <a:r>
              <a:rPr lang="en-IN" sz="1400" dirty="0">
                <a:solidFill>
                  <a:schemeClr val="tx1"/>
                </a:solidFill>
                <a:latin typeface="Times New Roman" panose="02020603050405020304" pitchFamily="18" charset="0"/>
                <a:cs typeface="Times New Roman" panose="02020603050405020304" pitchFamily="18" charset="0"/>
              </a:rPr>
              <a:t> includes datasets for legal classification, contract analysis, and case prediction. Various transformer models are evaluated using standardized metrics. Performance is measured using accuracy and F1-score.</a:t>
            </a:r>
          </a:p>
          <a:p>
            <a:pPr marL="482600" lvl="1" indent="0" algn="just"/>
            <a:endParaRPr lang="en-IN" sz="14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Results: </a:t>
            </a:r>
            <a:r>
              <a:rPr lang="en-IN" sz="1400" dirty="0">
                <a:solidFill>
                  <a:schemeClr val="tx1"/>
                </a:solidFill>
                <a:latin typeface="Times New Roman" panose="02020603050405020304" pitchFamily="18" charset="0"/>
                <a:cs typeface="Times New Roman" panose="02020603050405020304" pitchFamily="18" charset="0"/>
              </a:rPr>
              <a:t>Legal-specific language models outperformed general-purpose models. The benchmark became a standard evaluation platform for legal AI research.</a:t>
            </a:r>
          </a:p>
          <a:p>
            <a:pPr marL="482600" lvl="1" indent="0" algn="just"/>
            <a:endParaRPr lang="en-IN" sz="14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Limitations and Future Scope: </a:t>
            </a:r>
            <a:r>
              <a:rPr lang="en-IN" sz="1400" dirty="0" err="1">
                <a:solidFill>
                  <a:schemeClr val="tx1"/>
                </a:solidFill>
                <a:latin typeface="Times New Roman" panose="02020603050405020304" pitchFamily="18" charset="0"/>
                <a:cs typeface="Times New Roman" panose="02020603050405020304" pitchFamily="18" charset="0"/>
              </a:rPr>
              <a:t>LexGLUE</a:t>
            </a:r>
            <a:r>
              <a:rPr lang="en-IN" sz="1400" dirty="0">
                <a:solidFill>
                  <a:schemeClr val="tx1"/>
                </a:solidFill>
                <a:latin typeface="Times New Roman" panose="02020603050405020304" pitchFamily="18" charset="0"/>
                <a:cs typeface="Times New Roman" panose="02020603050405020304" pitchFamily="18" charset="0"/>
              </a:rPr>
              <a:t> mainly evaluates existing models rather than proposing new methods. Future work can include multilingual benchmarks and explainable legal AI</a:t>
            </a:r>
            <a:r>
              <a:rPr lang="en-IN" sz="1400" dirty="0"/>
              <a:t>.</a:t>
            </a:r>
            <a:endParaRPr lang="en-IN" sz="1400" dirty="0">
              <a:solidFill>
                <a:schemeClr val="tx1"/>
              </a:solidFill>
              <a:latin typeface="Times New Roman" panose="02020603050405020304" pitchFamily="18" charset="0"/>
              <a:cs typeface="Times New Roman" panose="02020603050405020304" pitchFamily="18" charset="0"/>
            </a:endParaRPr>
          </a:p>
          <a:p>
            <a:pPr marL="482600" lvl="1" indent="0" algn="just"/>
            <a:endParaRPr lang="en-IN" sz="1450" b="1" dirty="0">
              <a:solidFill>
                <a:schemeClr val="tx1"/>
              </a:solidFill>
              <a:latin typeface="Times New Roman" panose="02020603050405020304" pitchFamily="18" charset="0"/>
              <a:cs typeface="Times New Roman" panose="02020603050405020304" pitchFamily="18" charset="0"/>
            </a:endParaRPr>
          </a:p>
          <a:p>
            <a:pPr marL="482600" lvl="1" indent="0" algn="just"/>
            <a:endParaRPr lang="en-IN" sz="145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865088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1B47E-8500-2EFD-E027-79B2E7D3A96C}"/>
            </a:ext>
          </a:extLst>
        </p:cNvPr>
        <p:cNvGrpSpPr/>
        <p:nvPr/>
      </p:nvGrpSpPr>
      <p:grpSpPr>
        <a:xfrm>
          <a:off x="0" y="0"/>
          <a:ext cx="0" cy="0"/>
          <a:chOff x="0" y="0"/>
          <a:chExt cx="0" cy="0"/>
        </a:xfrm>
      </p:grpSpPr>
      <p:sp>
        <p:nvSpPr>
          <p:cNvPr id="4" name="Google Shape;55;p13">
            <a:extLst>
              <a:ext uri="{FF2B5EF4-FFF2-40B4-BE49-F238E27FC236}">
                <a16:creationId xmlns:a16="http://schemas.microsoft.com/office/drawing/2014/main" id="{F5EC9635-0A8A-1893-D104-21D3A6EFC36E}"/>
              </a:ext>
            </a:extLst>
          </p:cNvPr>
          <p:cNvSpPr txBox="1">
            <a:spLocks/>
          </p:cNvSpPr>
          <p:nvPr/>
        </p:nvSpPr>
        <p:spPr>
          <a:xfrm>
            <a:off x="0" y="-121920"/>
            <a:ext cx="9144000" cy="903841"/>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 </a:t>
            </a:r>
          </a:p>
        </p:txBody>
      </p:sp>
      <p:sp>
        <p:nvSpPr>
          <p:cNvPr id="5" name="Google Shape;55;p13">
            <a:extLst>
              <a:ext uri="{FF2B5EF4-FFF2-40B4-BE49-F238E27FC236}">
                <a16:creationId xmlns:a16="http://schemas.microsoft.com/office/drawing/2014/main" id="{DA024131-AFB9-60CD-6E6A-DC8903F31C44}"/>
              </a:ext>
            </a:extLst>
          </p:cNvPr>
          <p:cNvSpPr txBox="1">
            <a:spLocks/>
          </p:cNvSpPr>
          <p:nvPr/>
        </p:nvSpPr>
        <p:spPr>
          <a:xfrm>
            <a:off x="-279918" y="401120"/>
            <a:ext cx="9319457" cy="466637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482600" lvl="1" indent="0" algn="just"/>
            <a:endParaRPr lang="en-IN" sz="16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800" b="1" dirty="0">
                <a:solidFill>
                  <a:schemeClr val="tx1"/>
                </a:solidFill>
                <a:latin typeface="Times New Roman" panose="02020603050405020304" pitchFamily="18" charset="0"/>
                <a:cs typeface="Times New Roman" panose="02020603050405020304" pitchFamily="18" charset="0"/>
              </a:rPr>
              <a:t>9.</a:t>
            </a:r>
            <a:r>
              <a:rPr lang="en-IN" sz="1800" dirty="0"/>
              <a:t> </a:t>
            </a:r>
            <a:r>
              <a:rPr lang="en-IN" sz="1800" b="1" dirty="0">
                <a:solidFill>
                  <a:schemeClr val="tx1"/>
                </a:solidFill>
                <a:latin typeface="Times New Roman" panose="02020603050405020304" pitchFamily="18" charset="0"/>
                <a:cs typeface="Times New Roman" panose="02020603050405020304" pitchFamily="18" charset="0"/>
              </a:rPr>
              <a:t>LEDGAR: A Large-Scale Multi-Label Corpus for Text Classification of Legal Provisions</a:t>
            </a:r>
          </a:p>
          <a:p>
            <a:pPr marL="482600" lvl="1" indent="0" algn="just"/>
            <a:endParaRPr lang="en-IN" sz="20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Introduction: </a:t>
            </a:r>
            <a:r>
              <a:rPr lang="en-IN" sz="1400" dirty="0">
                <a:solidFill>
                  <a:schemeClr val="tx1"/>
                </a:solidFill>
                <a:latin typeface="Times New Roman" panose="02020603050405020304" pitchFamily="18" charset="0"/>
                <a:cs typeface="Times New Roman" panose="02020603050405020304" pitchFamily="18" charset="0"/>
              </a:rPr>
              <a:t>LEDGAR is a large legal corpus developed for classifying contractual provisions. It contains thousands of legal clauses collected from commercial contracts.</a:t>
            </a:r>
            <a:endParaRPr lang="en-IN" sz="1400" dirty="0">
              <a:solidFill>
                <a:schemeClr val="tx1"/>
              </a:solidFill>
              <a:latin typeface="Times New Roman "/>
              <a:cs typeface="TH SarabunPSK" panose="020B0500040200020003" pitchFamily="34" charset="-34"/>
            </a:endParaRPr>
          </a:p>
          <a:p>
            <a:pPr marL="482600" lvl="1" indent="0" algn="just"/>
            <a:endParaRPr lang="en-IN" sz="14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Objective: </a:t>
            </a:r>
            <a:r>
              <a:rPr lang="en-IN" sz="1400" dirty="0">
                <a:solidFill>
                  <a:schemeClr val="tx1"/>
                </a:solidFill>
                <a:latin typeface="Times New Roman" panose="02020603050405020304" pitchFamily="18" charset="0"/>
                <a:cs typeface="Times New Roman" panose="02020603050405020304" pitchFamily="18" charset="0"/>
              </a:rPr>
              <a:t>Its objective is to automate legal clause classification using machine learning. It also supports research in large-scale legal document analysis.</a:t>
            </a:r>
          </a:p>
          <a:p>
            <a:pPr marL="482600" lvl="1" indent="0" algn="just"/>
            <a:endParaRPr lang="en-IN" sz="1400"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Methodology: </a:t>
            </a:r>
            <a:r>
              <a:rPr lang="en-IN" sz="1400" dirty="0">
                <a:solidFill>
                  <a:schemeClr val="tx1"/>
                </a:solidFill>
                <a:latin typeface="Times New Roman" panose="02020603050405020304" pitchFamily="18" charset="0"/>
                <a:cs typeface="Times New Roman" panose="02020603050405020304" pitchFamily="18" charset="0"/>
              </a:rPr>
              <a:t>The dataset contains legal clauses </a:t>
            </a:r>
            <a:r>
              <a:rPr lang="en-IN" sz="1400" dirty="0" err="1">
                <a:solidFill>
                  <a:schemeClr val="tx1"/>
                </a:solidFill>
                <a:latin typeface="Times New Roman" panose="02020603050405020304" pitchFamily="18" charset="0"/>
                <a:cs typeface="Times New Roman" panose="02020603050405020304" pitchFamily="18" charset="0"/>
              </a:rPr>
              <a:t>labeled</a:t>
            </a:r>
            <a:r>
              <a:rPr lang="en-IN" sz="1400" dirty="0">
                <a:solidFill>
                  <a:schemeClr val="tx1"/>
                </a:solidFill>
                <a:latin typeface="Times New Roman" panose="02020603050405020304" pitchFamily="18" charset="0"/>
                <a:cs typeface="Times New Roman" panose="02020603050405020304" pitchFamily="18" charset="0"/>
              </a:rPr>
              <a:t> with multiple legal categories. Machine learning and deep learning models are trained for multi-label classification. Their performance is compared using standard evaluation metrics.</a:t>
            </a:r>
          </a:p>
          <a:p>
            <a:pPr marL="482600" lvl="1" indent="0" algn="just"/>
            <a:endParaRPr lang="en-IN" sz="14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Results: </a:t>
            </a:r>
            <a:r>
              <a:rPr lang="en-IN" sz="1400" dirty="0">
                <a:solidFill>
                  <a:schemeClr val="tx1"/>
                </a:solidFill>
                <a:latin typeface="Times New Roman" panose="02020603050405020304" pitchFamily="18" charset="0"/>
                <a:cs typeface="Times New Roman" panose="02020603050405020304" pitchFamily="18" charset="0"/>
              </a:rPr>
              <a:t>LEDGAR became one of the largest benchmarks for legal text classification. Transformer models achieved better performance than traditional machine learning methods.</a:t>
            </a:r>
          </a:p>
          <a:p>
            <a:pPr marL="482600" lvl="1" indent="0" algn="just"/>
            <a:endParaRPr lang="en-IN" sz="14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Limitations and Future Scope: </a:t>
            </a:r>
            <a:r>
              <a:rPr lang="en-IN" sz="1400" dirty="0">
                <a:solidFill>
                  <a:schemeClr val="tx1"/>
                </a:solidFill>
                <a:latin typeface="Times New Roman" panose="02020603050405020304" pitchFamily="18" charset="0"/>
                <a:cs typeface="Times New Roman" panose="02020603050405020304" pitchFamily="18" charset="0"/>
              </a:rPr>
              <a:t>The dataset focuses mainly on clause classification. Future work can include legal reasoning, multilingual contracts, and legal question answering.</a:t>
            </a:r>
          </a:p>
          <a:p>
            <a:pPr marL="482600" lvl="1" indent="0" algn="just"/>
            <a:endParaRPr lang="en-IN" sz="1400" dirty="0">
              <a:solidFill>
                <a:schemeClr val="tx1"/>
              </a:solidFill>
              <a:latin typeface="Times New Roman" panose="02020603050405020304" pitchFamily="18" charset="0"/>
              <a:cs typeface="Times New Roman" panose="02020603050405020304" pitchFamily="18" charset="0"/>
            </a:endParaRPr>
          </a:p>
          <a:p>
            <a:pPr marL="482600" lvl="1" indent="0" algn="just"/>
            <a:endParaRPr lang="en-IN" sz="1450" b="1" dirty="0">
              <a:solidFill>
                <a:schemeClr val="tx1"/>
              </a:solidFill>
              <a:latin typeface="Times New Roman" panose="02020603050405020304" pitchFamily="18" charset="0"/>
              <a:cs typeface="Times New Roman" panose="02020603050405020304" pitchFamily="18" charset="0"/>
            </a:endParaRPr>
          </a:p>
          <a:p>
            <a:pPr marL="482600" lvl="1" indent="0" algn="just"/>
            <a:endParaRPr lang="en-IN" sz="145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909821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F9F928-4D57-CADE-F595-165C3CB045EE}"/>
            </a:ext>
          </a:extLst>
        </p:cNvPr>
        <p:cNvGrpSpPr/>
        <p:nvPr/>
      </p:nvGrpSpPr>
      <p:grpSpPr>
        <a:xfrm>
          <a:off x="0" y="0"/>
          <a:ext cx="0" cy="0"/>
          <a:chOff x="0" y="0"/>
          <a:chExt cx="0" cy="0"/>
        </a:xfrm>
      </p:grpSpPr>
      <p:sp>
        <p:nvSpPr>
          <p:cNvPr id="4" name="Google Shape;55;p13">
            <a:extLst>
              <a:ext uri="{FF2B5EF4-FFF2-40B4-BE49-F238E27FC236}">
                <a16:creationId xmlns:a16="http://schemas.microsoft.com/office/drawing/2014/main" id="{8E2FD6C9-66C8-701B-C3B7-E568B4CD4AA6}"/>
              </a:ext>
            </a:extLst>
          </p:cNvPr>
          <p:cNvSpPr txBox="1">
            <a:spLocks/>
          </p:cNvSpPr>
          <p:nvPr/>
        </p:nvSpPr>
        <p:spPr>
          <a:xfrm>
            <a:off x="0" y="-121920"/>
            <a:ext cx="9144000" cy="903841"/>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 </a:t>
            </a:r>
          </a:p>
        </p:txBody>
      </p:sp>
      <p:sp>
        <p:nvSpPr>
          <p:cNvPr id="5" name="Google Shape;55;p13">
            <a:extLst>
              <a:ext uri="{FF2B5EF4-FFF2-40B4-BE49-F238E27FC236}">
                <a16:creationId xmlns:a16="http://schemas.microsoft.com/office/drawing/2014/main" id="{F71473F3-7B0C-63B8-F188-9334DA08D361}"/>
              </a:ext>
            </a:extLst>
          </p:cNvPr>
          <p:cNvSpPr txBox="1">
            <a:spLocks/>
          </p:cNvSpPr>
          <p:nvPr/>
        </p:nvSpPr>
        <p:spPr>
          <a:xfrm>
            <a:off x="-359841" y="414916"/>
            <a:ext cx="9397679" cy="466637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482600" lvl="1" indent="0" algn="just"/>
            <a:endParaRPr lang="en-IN" sz="16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800" b="1" dirty="0">
                <a:solidFill>
                  <a:schemeClr val="tx1"/>
                </a:solidFill>
                <a:latin typeface="Times New Roman" panose="02020603050405020304" pitchFamily="18" charset="0"/>
                <a:cs typeface="Times New Roman" panose="02020603050405020304" pitchFamily="18" charset="0"/>
              </a:rPr>
              <a:t>10.</a:t>
            </a:r>
            <a:r>
              <a:rPr lang="en-IN" sz="1800" dirty="0"/>
              <a:t> </a:t>
            </a:r>
            <a:r>
              <a:rPr lang="en-IN" sz="1800" b="1" dirty="0" err="1">
                <a:solidFill>
                  <a:schemeClr val="tx1"/>
                </a:solidFill>
                <a:latin typeface="Times New Roman" panose="02020603050405020304" pitchFamily="18" charset="0"/>
                <a:cs typeface="Times New Roman" panose="02020603050405020304" pitchFamily="18" charset="0"/>
              </a:rPr>
              <a:t>CaseHOLD</a:t>
            </a:r>
            <a:r>
              <a:rPr lang="en-IN" sz="1800" b="1" dirty="0">
                <a:solidFill>
                  <a:schemeClr val="tx1"/>
                </a:solidFill>
                <a:latin typeface="Times New Roman" panose="02020603050405020304" pitchFamily="18" charset="0"/>
                <a:cs typeface="Times New Roman" panose="02020603050405020304" pitchFamily="18" charset="0"/>
              </a:rPr>
              <a:t>: A Dataset for Legal Case Holdings</a:t>
            </a:r>
          </a:p>
          <a:p>
            <a:pPr marL="482600" lvl="1" indent="0" algn="just"/>
            <a:endParaRPr lang="en-IN" sz="20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Introduction: </a:t>
            </a:r>
            <a:r>
              <a:rPr lang="en-IN" sz="1400" dirty="0" err="1">
                <a:solidFill>
                  <a:schemeClr val="tx1"/>
                </a:solidFill>
                <a:latin typeface="Times New Roman" panose="02020603050405020304" pitchFamily="18" charset="0"/>
                <a:cs typeface="Times New Roman" panose="02020603050405020304" pitchFamily="18" charset="0"/>
              </a:rPr>
              <a:t>CaseHOLD</a:t>
            </a:r>
            <a:r>
              <a:rPr lang="en-IN" sz="1400" dirty="0">
                <a:solidFill>
                  <a:schemeClr val="tx1"/>
                </a:solidFill>
                <a:latin typeface="Times New Roman" panose="02020603050405020304" pitchFamily="18" charset="0"/>
                <a:cs typeface="Times New Roman" panose="02020603050405020304" pitchFamily="18" charset="0"/>
              </a:rPr>
              <a:t> is a benchmark dataset created for legal case understanding and judicial reasoning. It helps evaluate whether AI models can identify correct legal case holdings.</a:t>
            </a:r>
          </a:p>
          <a:p>
            <a:pPr marL="482600" lvl="1" indent="0" algn="just"/>
            <a:endParaRPr lang="en-IN" sz="14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Objective: </a:t>
            </a:r>
            <a:r>
              <a:rPr lang="en-IN" sz="1400" dirty="0">
                <a:solidFill>
                  <a:schemeClr val="tx1"/>
                </a:solidFill>
                <a:latin typeface="Times New Roman" panose="02020603050405020304" pitchFamily="18" charset="0"/>
                <a:cs typeface="Times New Roman" panose="02020603050405020304" pitchFamily="18" charset="0"/>
              </a:rPr>
              <a:t>Its objective is to improve AI-based legal reasoning using judicial case documents. It also provides a realistic benchmark for legal decision-making tasks.</a:t>
            </a:r>
          </a:p>
          <a:p>
            <a:pPr marL="482600" lvl="1" indent="0" algn="just"/>
            <a:endParaRPr lang="en-IN" sz="14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Methodology: </a:t>
            </a:r>
            <a:r>
              <a:rPr lang="en-IN" sz="1400" dirty="0">
                <a:solidFill>
                  <a:schemeClr val="tx1"/>
                </a:solidFill>
                <a:latin typeface="Times New Roman" panose="02020603050405020304" pitchFamily="18" charset="0"/>
                <a:cs typeface="Times New Roman" panose="02020603050405020304" pitchFamily="18" charset="0"/>
              </a:rPr>
              <a:t>The dataset contains legal case documents with multiple candidate holdings. AI models must identify the correct judicial conclusion based on the case context. Transformer models are evaluated using classification metrics.</a:t>
            </a:r>
          </a:p>
          <a:p>
            <a:pPr marL="482600" lvl="1" indent="0" algn="just"/>
            <a:endParaRPr lang="en-IN" sz="1400"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Results: </a:t>
            </a:r>
            <a:r>
              <a:rPr lang="en-IN" sz="1400" dirty="0">
                <a:solidFill>
                  <a:schemeClr val="tx1"/>
                </a:solidFill>
                <a:latin typeface="Times New Roman" panose="02020603050405020304" pitchFamily="18" charset="0"/>
                <a:cs typeface="Times New Roman" panose="02020603050405020304" pitchFamily="18" charset="0"/>
              </a:rPr>
              <a:t>Legal language models achieved better results than general language models. However, complex judicial reasoning remains a challenging task.</a:t>
            </a:r>
          </a:p>
          <a:p>
            <a:pPr marL="482600" lvl="1" indent="0" algn="just"/>
            <a:endParaRPr lang="en-IN" sz="14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Limitations and Future Scope: </a:t>
            </a:r>
            <a:r>
              <a:rPr lang="en-IN" sz="1400" dirty="0">
                <a:solidFill>
                  <a:schemeClr val="tx1"/>
                </a:solidFill>
                <a:latin typeface="Times New Roman" panose="02020603050405020304" pitchFamily="18" charset="0"/>
                <a:cs typeface="Times New Roman" panose="02020603050405020304" pitchFamily="18" charset="0"/>
              </a:rPr>
              <a:t>The dataset mainly supports multiple-choice legal reasoning. Future work can integrate Retrieval-Augmented Generation and Explainable AI for better legal decision support.</a:t>
            </a:r>
            <a:endParaRPr lang="en-IN" sz="1400" b="1" dirty="0">
              <a:solidFill>
                <a:schemeClr val="tx1"/>
              </a:solidFill>
              <a:latin typeface="Times New Roman" panose="02020603050405020304" pitchFamily="18" charset="0"/>
              <a:cs typeface="Times New Roman" panose="02020603050405020304" pitchFamily="18" charset="0"/>
            </a:endParaRPr>
          </a:p>
          <a:p>
            <a:pPr marL="482600" lvl="1" indent="0" algn="just"/>
            <a:endParaRPr lang="en-IN" sz="145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14321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1361A-17DE-2B5F-4FE4-FD0674EDF321}"/>
            </a:ext>
          </a:extLst>
        </p:cNvPr>
        <p:cNvGrpSpPr/>
        <p:nvPr/>
      </p:nvGrpSpPr>
      <p:grpSpPr>
        <a:xfrm>
          <a:off x="0" y="0"/>
          <a:ext cx="0" cy="0"/>
          <a:chOff x="0" y="0"/>
          <a:chExt cx="0" cy="0"/>
        </a:xfrm>
      </p:grpSpPr>
      <p:sp>
        <p:nvSpPr>
          <p:cNvPr id="4" name="Google Shape;55;p13">
            <a:extLst>
              <a:ext uri="{FF2B5EF4-FFF2-40B4-BE49-F238E27FC236}">
                <a16:creationId xmlns:a16="http://schemas.microsoft.com/office/drawing/2014/main" id="{52660FFC-F102-AEF2-C4B9-E54B1551A536}"/>
              </a:ext>
            </a:extLst>
          </p:cNvPr>
          <p:cNvSpPr txBox="1">
            <a:spLocks/>
          </p:cNvSpPr>
          <p:nvPr/>
        </p:nvSpPr>
        <p:spPr>
          <a:xfrm>
            <a:off x="0" y="-121920"/>
            <a:ext cx="9144000" cy="903841"/>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 </a:t>
            </a:r>
          </a:p>
        </p:txBody>
      </p:sp>
      <p:sp>
        <p:nvSpPr>
          <p:cNvPr id="5" name="Google Shape;55;p13">
            <a:extLst>
              <a:ext uri="{FF2B5EF4-FFF2-40B4-BE49-F238E27FC236}">
                <a16:creationId xmlns:a16="http://schemas.microsoft.com/office/drawing/2014/main" id="{3DC2972F-A9AA-8F1A-AB60-2C15DCE0A050}"/>
              </a:ext>
            </a:extLst>
          </p:cNvPr>
          <p:cNvSpPr txBox="1">
            <a:spLocks/>
          </p:cNvSpPr>
          <p:nvPr/>
        </p:nvSpPr>
        <p:spPr>
          <a:xfrm>
            <a:off x="-439420" y="238560"/>
            <a:ext cx="9397679" cy="466637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482600" lvl="1" indent="0" algn="just"/>
            <a:endParaRPr lang="en-IN" sz="16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800" b="1" dirty="0">
                <a:solidFill>
                  <a:schemeClr val="tx1"/>
                </a:solidFill>
                <a:latin typeface="Times New Roman" panose="02020603050405020304" pitchFamily="18" charset="0"/>
                <a:cs typeface="Times New Roman" panose="02020603050405020304" pitchFamily="18" charset="0"/>
              </a:rPr>
              <a:t>11.</a:t>
            </a:r>
            <a:r>
              <a:rPr lang="en-IN" sz="1800" dirty="0"/>
              <a:t> </a:t>
            </a:r>
            <a:r>
              <a:rPr lang="en-IN" sz="1800" b="1" dirty="0" err="1">
                <a:solidFill>
                  <a:schemeClr val="tx1"/>
                </a:solidFill>
                <a:latin typeface="Times New Roman" panose="02020603050405020304" pitchFamily="18" charset="0"/>
                <a:cs typeface="Times New Roman" panose="02020603050405020304" pitchFamily="18" charset="0"/>
              </a:rPr>
              <a:t>AutoGen</a:t>
            </a:r>
            <a:r>
              <a:rPr lang="en-IN" sz="1800" b="1" dirty="0">
                <a:solidFill>
                  <a:schemeClr val="tx1"/>
                </a:solidFill>
                <a:latin typeface="Times New Roman" panose="02020603050405020304" pitchFamily="18" charset="0"/>
                <a:cs typeface="Times New Roman" panose="02020603050405020304" pitchFamily="18" charset="0"/>
              </a:rPr>
              <a:t>: Enabling Next-Gen LLM Applications via Multi-Agent Conversation</a:t>
            </a:r>
          </a:p>
          <a:p>
            <a:pPr marL="482600" lvl="1" indent="0" algn="just"/>
            <a:endParaRPr lang="en-IN" sz="20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Introduction: </a:t>
            </a:r>
            <a:r>
              <a:rPr lang="en-IN" sz="1400" dirty="0" err="1">
                <a:solidFill>
                  <a:schemeClr val="tx1"/>
                </a:solidFill>
                <a:latin typeface="Times New Roman" panose="02020603050405020304" pitchFamily="18" charset="0"/>
                <a:cs typeface="Times New Roman" panose="02020603050405020304" pitchFamily="18" charset="0"/>
              </a:rPr>
              <a:t>AutoGen</a:t>
            </a:r>
            <a:r>
              <a:rPr lang="en-IN" sz="1400" dirty="0">
                <a:solidFill>
                  <a:schemeClr val="tx1"/>
                </a:solidFill>
                <a:latin typeface="Times New Roman" panose="02020603050405020304" pitchFamily="18" charset="0"/>
                <a:cs typeface="Times New Roman" panose="02020603050405020304" pitchFamily="18" charset="0"/>
              </a:rPr>
              <a:t> is a multi-agent framework developed by Microsoft for building intelligent AI applications. It enables multiple AI agents to communicate and collaborate to solve complex tasks.</a:t>
            </a:r>
          </a:p>
          <a:p>
            <a:pPr marL="482600" lvl="1" indent="0" algn="just"/>
            <a:endParaRPr lang="en-IN" sz="14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Objective: </a:t>
            </a:r>
            <a:r>
              <a:rPr lang="en-IN" sz="1400" dirty="0">
                <a:solidFill>
                  <a:schemeClr val="tx1"/>
                </a:solidFill>
                <a:latin typeface="Times New Roman" panose="02020603050405020304" pitchFamily="18" charset="0"/>
                <a:cs typeface="Times New Roman" panose="02020603050405020304" pitchFamily="18" charset="0"/>
              </a:rPr>
              <a:t>Its primary objective is to improve task-solving through collaboration among multiple AI agents. It also aims to reduce human effort by automating planning, reasoning, and execution.</a:t>
            </a:r>
          </a:p>
          <a:p>
            <a:pPr marL="482600" lvl="1" indent="0" algn="just"/>
            <a:endParaRPr lang="en-IN" sz="145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Methodology: </a:t>
            </a:r>
            <a:r>
              <a:rPr lang="en-IN" sz="1400" dirty="0" err="1">
                <a:solidFill>
                  <a:schemeClr val="tx1"/>
                </a:solidFill>
                <a:latin typeface="Times New Roman" panose="02020603050405020304" pitchFamily="18" charset="0"/>
                <a:cs typeface="Times New Roman" panose="02020603050405020304" pitchFamily="18" charset="0"/>
              </a:rPr>
              <a:t>AutoGen</a:t>
            </a:r>
            <a:r>
              <a:rPr lang="en-IN" sz="1400" dirty="0">
                <a:solidFill>
                  <a:schemeClr val="tx1"/>
                </a:solidFill>
                <a:latin typeface="Times New Roman" panose="02020603050405020304" pitchFamily="18" charset="0"/>
                <a:cs typeface="Times New Roman" panose="02020603050405020304" pitchFamily="18" charset="0"/>
              </a:rPr>
              <a:t> uses specialized agents such as Assistant Agents, User Proxy Agents, and Tool Agents. These agents communicate through structured conversations to complete assigned tasks. External tools and APIs can also be integrated to enhance problem-solving capabilities.</a:t>
            </a:r>
          </a:p>
          <a:p>
            <a:pPr marL="482600" lvl="1" indent="0" algn="just"/>
            <a:endParaRPr lang="en-IN" sz="14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Results: </a:t>
            </a:r>
            <a:r>
              <a:rPr lang="en-IN" sz="1400" dirty="0">
                <a:solidFill>
                  <a:schemeClr val="tx1"/>
                </a:solidFill>
                <a:latin typeface="Times New Roman" panose="02020603050405020304" pitchFamily="18" charset="0"/>
                <a:cs typeface="Times New Roman" panose="02020603050405020304" pitchFamily="18" charset="0"/>
              </a:rPr>
              <a:t>The framework achieved better performance than single-agent systems in coding, reasoning, and planning tasks. It also reduced manual intervention by enabling autonomous agent collaboration.</a:t>
            </a:r>
          </a:p>
          <a:p>
            <a:pPr marL="482600" lvl="1" indent="0" algn="just"/>
            <a:endParaRPr lang="en-IN" sz="14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Limitations and Future Scope: </a:t>
            </a:r>
            <a:r>
              <a:rPr lang="en-IN" sz="1400" dirty="0">
                <a:solidFill>
                  <a:schemeClr val="tx1"/>
                </a:solidFill>
                <a:latin typeface="Times New Roman" panose="02020603050405020304" pitchFamily="18" charset="0"/>
                <a:cs typeface="Times New Roman" panose="02020603050405020304" pitchFamily="18" charset="0"/>
              </a:rPr>
              <a:t>The framework requires high computational resources when many agents interact. Future work can improve communication efficiency and optimize agent coordination.</a:t>
            </a:r>
            <a:endParaRPr lang="en-IN" sz="1400" b="1" dirty="0">
              <a:solidFill>
                <a:schemeClr val="tx1"/>
              </a:solidFill>
              <a:latin typeface="Times New Roman" panose="02020603050405020304" pitchFamily="18" charset="0"/>
              <a:cs typeface="Times New Roman" panose="02020603050405020304" pitchFamily="18" charset="0"/>
            </a:endParaRPr>
          </a:p>
          <a:p>
            <a:pPr marL="482600" lvl="1" indent="0" algn="just"/>
            <a:endParaRPr lang="en-IN" sz="145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41258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059B9-948B-AF46-ED4D-CA3BDD45C8CE}"/>
            </a:ext>
          </a:extLst>
        </p:cNvPr>
        <p:cNvGrpSpPr/>
        <p:nvPr/>
      </p:nvGrpSpPr>
      <p:grpSpPr>
        <a:xfrm>
          <a:off x="0" y="0"/>
          <a:ext cx="0" cy="0"/>
          <a:chOff x="0" y="0"/>
          <a:chExt cx="0" cy="0"/>
        </a:xfrm>
      </p:grpSpPr>
      <p:sp>
        <p:nvSpPr>
          <p:cNvPr id="4" name="Google Shape;55;p13">
            <a:extLst>
              <a:ext uri="{FF2B5EF4-FFF2-40B4-BE49-F238E27FC236}">
                <a16:creationId xmlns:a16="http://schemas.microsoft.com/office/drawing/2014/main" id="{49636E8B-285C-BBBB-43F5-419C6BA55449}"/>
              </a:ext>
            </a:extLst>
          </p:cNvPr>
          <p:cNvSpPr txBox="1">
            <a:spLocks/>
          </p:cNvSpPr>
          <p:nvPr/>
        </p:nvSpPr>
        <p:spPr>
          <a:xfrm>
            <a:off x="0" y="-121920"/>
            <a:ext cx="9144000" cy="903841"/>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2800" b="1" dirty="0">
                <a:latin typeface="Times New Roman" panose="02020603050405020304" pitchFamily="18" charset="0"/>
                <a:cs typeface="Times New Roman" panose="02020603050405020304" pitchFamily="18" charset="0"/>
              </a:rPr>
              <a:t>Existing Approaches (Literature Survey) </a:t>
            </a:r>
          </a:p>
        </p:txBody>
      </p:sp>
      <p:sp>
        <p:nvSpPr>
          <p:cNvPr id="5" name="Google Shape;55;p13">
            <a:extLst>
              <a:ext uri="{FF2B5EF4-FFF2-40B4-BE49-F238E27FC236}">
                <a16:creationId xmlns:a16="http://schemas.microsoft.com/office/drawing/2014/main" id="{DDA655D6-A5AD-FFB6-31D3-AAB58D45C968}"/>
              </a:ext>
            </a:extLst>
          </p:cNvPr>
          <p:cNvSpPr txBox="1">
            <a:spLocks/>
          </p:cNvSpPr>
          <p:nvPr/>
        </p:nvSpPr>
        <p:spPr>
          <a:xfrm>
            <a:off x="-354562" y="477121"/>
            <a:ext cx="9625402" cy="466637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482600" lvl="1" indent="0" algn="just"/>
            <a:r>
              <a:rPr lang="en-IN" sz="1800" b="1" dirty="0">
                <a:solidFill>
                  <a:schemeClr val="tx1"/>
                </a:solidFill>
                <a:latin typeface="Times New Roman" panose="02020603050405020304" pitchFamily="18" charset="0"/>
                <a:cs typeface="Times New Roman" panose="02020603050405020304" pitchFamily="18" charset="0"/>
              </a:rPr>
              <a:t>12.</a:t>
            </a:r>
            <a:r>
              <a:rPr lang="en-IN" sz="1800" dirty="0"/>
              <a:t> </a:t>
            </a:r>
            <a:r>
              <a:rPr lang="en-IN" sz="1800" b="1" dirty="0">
                <a:solidFill>
                  <a:schemeClr val="tx1"/>
                </a:solidFill>
                <a:latin typeface="Times New Roman" panose="02020603050405020304" pitchFamily="18" charset="0"/>
                <a:cs typeface="Times New Roman" panose="02020603050405020304" pitchFamily="18" charset="0"/>
              </a:rPr>
              <a:t>CAMEL: Communicative Agents for Mind Exploration</a:t>
            </a:r>
          </a:p>
          <a:p>
            <a:pPr marL="482600" lvl="1" indent="0" algn="just"/>
            <a:endParaRPr lang="en-IN" sz="20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Introduction: </a:t>
            </a:r>
            <a:r>
              <a:rPr lang="en-IN" sz="1400" dirty="0">
                <a:solidFill>
                  <a:schemeClr val="tx1"/>
                </a:solidFill>
                <a:latin typeface="Times New Roman" panose="02020603050405020304" pitchFamily="18" charset="0"/>
                <a:cs typeface="Times New Roman" panose="02020603050405020304" pitchFamily="18" charset="0"/>
              </a:rPr>
              <a:t>CAMEL is a multi-agent framework where AI agents communicate using predefined roles. It demonstrates how collaborative AI agents can solve complex tasks through natural language conversations.</a:t>
            </a:r>
          </a:p>
          <a:p>
            <a:pPr marL="482600" lvl="1" indent="0" algn="just"/>
            <a:endParaRPr lang="en-IN" sz="14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Objective: </a:t>
            </a:r>
            <a:r>
              <a:rPr lang="en-IN" sz="1400" dirty="0">
                <a:solidFill>
                  <a:schemeClr val="tx1"/>
                </a:solidFill>
                <a:latin typeface="Times New Roman" panose="02020603050405020304" pitchFamily="18" charset="0"/>
                <a:cs typeface="Times New Roman" panose="02020603050405020304" pitchFamily="18" charset="0"/>
              </a:rPr>
              <a:t>Its objective is to improve AI collaboration through role-based communication. It also aims to enhance reasoning and task completion with minimal human supervision.</a:t>
            </a:r>
          </a:p>
          <a:p>
            <a:pPr marL="482600" lvl="1" indent="0" algn="just"/>
            <a:endParaRPr lang="en-IN" sz="145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Methodology: </a:t>
            </a:r>
            <a:r>
              <a:rPr lang="en-IN" sz="1400" dirty="0">
                <a:solidFill>
                  <a:schemeClr val="tx1"/>
                </a:solidFill>
                <a:latin typeface="Times New Roman" panose="02020603050405020304" pitchFamily="18" charset="0"/>
                <a:cs typeface="Times New Roman" panose="02020603050405020304" pitchFamily="18" charset="0"/>
              </a:rPr>
              <a:t>Each AI agent is assigned a specific role before starting the task. The agents exchange information through iterative conversations to solve problems collaboratively. Their responses are refined until a final solution is obtained</a:t>
            </a:r>
            <a:r>
              <a:rPr lang="en-IN" sz="1400" dirty="0"/>
              <a:t>.</a:t>
            </a:r>
          </a:p>
          <a:p>
            <a:pPr marL="482600" lvl="1" indent="0" algn="just"/>
            <a:endParaRPr lang="en-IN" sz="14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Results: </a:t>
            </a:r>
            <a:r>
              <a:rPr lang="en-IN" sz="1400" dirty="0">
                <a:solidFill>
                  <a:schemeClr val="tx1"/>
                </a:solidFill>
                <a:latin typeface="Times New Roman" panose="02020603050405020304" pitchFamily="18" charset="0"/>
                <a:cs typeface="Times New Roman" panose="02020603050405020304" pitchFamily="18" charset="0"/>
              </a:rPr>
              <a:t>CAMEL improved reasoning accuracy and collaborative decision-making compared to single-agent systems. It also demonstrated the effectiveness of role-based AI communication.</a:t>
            </a:r>
          </a:p>
          <a:p>
            <a:pPr marL="482600" lvl="1" indent="0" algn="just"/>
            <a:endParaRPr lang="en-IN" sz="14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Limitations and Future Scope: </a:t>
            </a:r>
            <a:r>
              <a:rPr lang="en-IN" sz="1400" dirty="0">
                <a:solidFill>
                  <a:schemeClr val="tx1"/>
                </a:solidFill>
                <a:latin typeface="Times New Roman" panose="02020603050405020304" pitchFamily="18" charset="0"/>
                <a:cs typeface="Times New Roman" panose="02020603050405020304" pitchFamily="18" charset="0"/>
              </a:rPr>
              <a:t>The framework may generate repetitive conversations between agents. Future work can improve coordination mechanisms and incorporate long-term memory.</a:t>
            </a:r>
            <a:endParaRPr lang="en-IN" sz="1400" b="1" dirty="0">
              <a:solidFill>
                <a:schemeClr val="tx1"/>
              </a:solidFill>
              <a:latin typeface="Times New Roman" panose="02020603050405020304" pitchFamily="18" charset="0"/>
              <a:cs typeface="Times New Roman" panose="02020603050405020304" pitchFamily="18" charset="0"/>
            </a:endParaRPr>
          </a:p>
          <a:p>
            <a:pPr marL="482600" lvl="1" indent="0" algn="just"/>
            <a:endParaRPr lang="en-IN" sz="145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084253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8665C-9F1B-C16C-0B77-43F3010793BA}"/>
            </a:ext>
          </a:extLst>
        </p:cNvPr>
        <p:cNvGrpSpPr/>
        <p:nvPr/>
      </p:nvGrpSpPr>
      <p:grpSpPr>
        <a:xfrm>
          <a:off x="0" y="0"/>
          <a:ext cx="0" cy="0"/>
          <a:chOff x="0" y="0"/>
          <a:chExt cx="0" cy="0"/>
        </a:xfrm>
      </p:grpSpPr>
      <p:sp>
        <p:nvSpPr>
          <p:cNvPr id="4" name="Google Shape;55;p13">
            <a:extLst>
              <a:ext uri="{FF2B5EF4-FFF2-40B4-BE49-F238E27FC236}">
                <a16:creationId xmlns:a16="http://schemas.microsoft.com/office/drawing/2014/main" id="{BF8F9AEE-FD4D-5CAB-51CD-F477D9E06920}"/>
              </a:ext>
            </a:extLst>
          </p:cNvPr>
          <p:cNvSpPr txBox="1">
            <a:spLocks/>
          </p:cNvSpPr>
          <p:nvPr/>
        </p:nvSpPr>
        <p:spPr>
          <a:xfrm>
            <a:off x="0" y="-121920"/>
            <a:ext cx="9144000" cy="903841"/>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 </a:t>
            </a:r>
          </a:p>
        </p:txBody>
      </p:sp>
      <p:sp>
        <p:nvSpPr>
          <p:cNvPr id="5" name="Google Shape;55;p13">
            <a:extLst>
              <a:ext uri="{FF2B5EF4-FFF2-40B4-BE49-F238E27FC236}">
                <a16:creationId xmlns:a16="http://schemas.microsoft.com/office/drawing/2014/main" id="{59BA8BCD-27A3-7D9D-B432-69EEDC526631}"/>
              </a:ext>
            </a:extLst>
          </p:cNvPr>
          <p:cNvSpPr txBox="1">
            <a:spLocks/>
          </p:cNvSpPr>
          <p:nvPr/>
        </p:nvSpPr>
        <p:spPr>
          <a:xfrm>
            <a:off x="-480060" y="477121"/>
            <a:ext cx="9397679" cy="466637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482600" lvl="1" indent="0" algn="just"/>
            <a:endParaRPr lang="en-IN" sz="20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800" b="1" dirty="0">
                <a:solidFill>
                  <a:schemeClr val="tx1"/>
                </a:solidFill>
                <a:latin typeface="Times New Roman" panose="02020603050405020304" pitchFamily="18" charset="0"/>
                <a:cs typeface="Times New Roman" panose="02020603050405020304" pitchFamily="18" charset="0"/>
              </a:rPr>
              <a:t>13.</a:t>
            </a:r>
            <a:r>
              <a:rPr lang="en-IN" sz="1800" dirty="0"/>
              <a:t> </a:t>
            </a:r>
            <a:r>
              <a:rPr lang="en-IN" sz="1800" b="1" dirty="0" err="1">
                <a:solidFill>
                  <a:schemeClr val="tx1"/>
                </a:solidFill>
                <a:latin typeface="Times New Roman" panose="02020603050405020304" pitchFamily="18" charset="0"/>
                <a:cs typeface="Times New Roman" panose="02020603050405020304" pitchFamily="18" charset="0"/>
              </a:rPr>
              <a:t>MetaGPT</a:t>
            </a:r>
            <a:r>
              <a:rPr lang="en-IN" sz="1800" b="1" dirty="0">
                <a:solidFill>
                  <a:schemeClr val="tx1"/>
                </a:solidFill>
                <a:latin typeface="Times New Roman" panose="02020603050405020304" pitchFamily="18" charset="0"/>
                <a:cs typeface="Times New Roman" panose="02020603050405020304" pitchFamily="18" charset="0"/>
              </a:rPr>
              <a:t>: Meta Programming for Multi-Agent Collaborative Framework</a:t>
            </a:r>
          </a:p>
          <a:p>
            <a:pPr marL="482600" lvl="1" indent="0" algn="just"/>
            <a:endParaRPr lang="en-IN" sz="20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Introduction: </a:t>
            </a:r>
            <a:r>
              <a:rPr lang="en-IN" sz="1400" dirty="0" err="1">
                <a:solidFill>
                  <a:schemeClr val="tx1"/>
                </a:solidFill>
                <a:latin typeface="Times New Roman" panose="02020603050405020304" pitchFamily="18" charset="0"/>
                <a:cs typeface="Times New Roman" panose="02020603050405020304" pitchFamily="18" charset="0"/>
              </a:rPr>
              <a:t>MetaGPT</a:t>
            </a:r>
            <a:r>
              <a:rPr lang="en-IN" sz="1400" dirty="0">
                <a:solidFill>
                  <a:schemeClr val="tx1"/>
                </a:solidFill>
                <a:latin typeface="Times New Roman" panose="02020603050405020304" pitchFamily="18" charset="0"/>
                <a:cs typeface="Times New Roman" panose="02020603050405020304" pitchFamily="18" charset="0"/>
              </a:rPr>
              <a:t> is a multi-agent framework that simulates a real software development company. It assigns different software engineering roles to AI agents for collaborative project development.</a:t>
            </a:r>
          </a:p>
          <a:p>
            <a:pPr marL="482600" lvl="1" indent="0" algn="just"/>
            <a:endParaRPr lang="en-IN" sz="14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Objective: </a:t>
            </a:r>
            <a:r>
              <a:rPr lang="en-IN" sz="1400" dirty="0">
                <a:solidFill>
                  <a:schemeClr val="tx1"/>
                </a:solidFill>
                <a:latin typeface="Times New Roman" panose="02020603050405020304" pitchFamily="18" charset="0"/>
                <a:cs typeface="Times New Roman" panose="02020603050405020304" pitchFamily="18" charset="0"/>
              </a:rPr>
              <a:t>Its objective is to automate software development using specialized AI agents. It also aims to improve software quality through structured collaboration.</a:t>
            </a:r>
          </a:p>
          <a:p>
            <a:pPr marL="482600" lvl="1" indent="0" algn="just"/>
            <a:endParaRPr lang="en-IN" sz="14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Methodology: </a:t>
            </a:r>
            <a:r>
              <a:rPr lang="en-IN" sz="1400" dirty="0" err="1">
                <a:solidFill>
                  <a:schemeClr val="tx1"/>
                </a:solidFill>
                <a:latin typeface="Times New Roman" panose="02020603050405020304" pitchFamily="18" charset="0"/>
                <a:cs typeface="Times New Roman" panose="02020603050405020304" pitchFamily="18" charset="0"/>
              </a:rPr>
              <a:t>MetaGPT</a:t>
            </a:r>
            <a:r>
              <a:rPr lang="en-IN" sz="1400" dirty="0">
                <a:solidFill>
                  <a:schemeClr val="tx1"/>
                </a:solidFill>
                <a:latin typeface="Times New Roman" panose="02020603050405020304" pitchFamily="18" charset="0"/>
                <a:cs typeface="Times New Roman" panose="02020603050405020304" pitchFamily="18" charset="0"/>
              </a:rPr>
              <a:t> assigns roles such as Product Manager, Architect, Engineer, and Tester to different AI agents. Each agent performs its assigned task following Standard Operating Procedures (SOPs). The outputs are shared among agents until the project is completed.</a:t>
            </a:r>
          </a:p>
          <a:p>
            <a:pPr marL="482600" lvl="1" indent="0" algn="just"/>
            <a:endParaRPr lang="en-IN" sz="14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Results: </a:t>
            </a:r>
            <a:r>
              <a:rPr lang="en-IN" sz="1400" dirty="0">
                <a:solidFill>
                  <a:schemeClr val="tx1"/>
                </a:solidFill>
                <a:latin typeface="Times New Roman" panose="02020603050405020304" pitchFamily="18" charset="0"/>
                <a:cs typeface="Times New Roman" panose="02020603050405020304" pitchFamily="18" charset="0"/>
              </a:rPr>
              <a:t>The framework produced better-organized software projects than traditional AI coding approaches. It also improved development efficiency and reduced logical errors.</a:t>
            </a:r>
          </a:p>
          <a:p>
            <a:pPr marL="482600" lvl="1" indent="0" algn="just"/>
            <a:endParaRPr lang="en-IN" sz="14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Limitations and Future Scope: </a:t>
            </a:r>
            <a:r>
              <a:rPr lang="en-IN" sz="1400" dirty="0" err="1">
                <a:solidFill>
                  <a:schemeClr val="tx1"/>
                </a:solidFill>
                <a:latin typeface="Times New Roman" panose="02020603050405020304" pitchFamily="18" charset="0"/>
                <a:cs typeface="Times New Roman" panose="02020603050405020304" pitchFamily="18" charset="0"/>
              </a:rPr>
              <a:t>MetaGPT</a:t>
            </a:r>
            <a:r>
              <a:rPr lang="en-IN" sz="1400" dirty="0">
                <a:solidFill>
                  <a:schemeClr val="tx1"/>
                </a:solidFill>
                <a:latin typeface="Times New Roman" panose="02020603050405020304" pitchFamily="18" charset="0"/>
                <a:cs typeface="Times New Roman" panose="02020603050405020304" pitchFamily="18" charset="0"/>
              </a:rPr>
              <a:t> mainly focuses on software engineering applications. Future work can extend the framework to healthcare, finance, education, and legal systems.</a:t>
            </a:r>
            <a:endParaRPr lang="en-IN" sz="1400" b="1" dirty="0">
              <a:solidFill>
                <a:schemeClr val="tx1"/>
              </a:solidFill>
              <a:latin typeface="Times New Roman" panose="02020603050405020304" pitchFamily="18" charset="0"/>
              <a:cs typeface="Times New Roman" panose="02020603050405020304" pitchFamily="18" charset="0"/>
            </a:endParaRPr>
          </a:p>
          <a:p>
            <a:pPr marL="482600" lvl="1" indent="0" algn="just"/>
            <a:endParaRPr lang="en-IN" sz="1400" b="1" dirty="0">
              <a:solidFill>
                <a:schemeClr val="tx1"/>
              </a:solidFill>
              <a:latin typeface="Times New Roman" panose="02020603050405020304" pitchFamily="18" charset="0"/>
              <a:cs typeface="Times New Roman" panose="02020603050405020304" pitchFamily="18" charset="0"/>
            </a:endParaRPr>
          </a:p>
          <a:p>
            <a:pPr marL="482600" lvl="1" indent="0" algn="just"/>
            <a:endParaRPr lang="en-IN" sz="145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527177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E42A6D-A972-314B-C661-E8BAAA23922E}"/>
            </a:ext>
          </a:extLst>
        </p:cNvPr>
        <p:cNvGrpSpPr/>
        <p:nvPr/>
      </p:nvGrpSpPr>
      <p:grpSpPr>
        <a:xfrm>
          <a:off x="0" y="0"/>
          <a:ext cx="0" cy="0"/>
          <a:chOff x="0" y="0"/>
          <a:chExt cx="0" cy="0"/>
        </a:xfrm>
      </p:grpSpPr>
      <p:sp>
        <p:nvSpPr>
          <p:cNvPr id="4" name="Google Shape;55;p13">
            <a:extLst>
              <a:ext uri="{FF2B5EF4-FFF2-40B4-BE49-F238E27FC236}">
                <a16:creationId xmlns:a16="http://schemas.microsoft.com/office/drawing/2014/main" id="{7B8222C2-B26D-E713-5ECF-D70A3F84DD85}"/>
              </a:ext>
            </a:extLst>
          </p:cNvPr>
          <p:cNvSpPr txBox="1">
            <a:spLocks/>
          </p:cNvSpPr>
          <p:nvPr/>
        </p:nvSpPr>
        <p:spPr>
          <a:xfrm>
            <a:off x="0" y="-121920"/>
            <a:ext cx="9144000" cy="903841"/>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 </a:t>
            </a:r>
          </a:p>
        </p:txBody>
      </p:sp>
      <p:sp>
        <p:nvSpPr>
          <p:cNvPr id="5" name="Google Shape;55;p13">
            <a:extLst>
              <a:ext uri="{FF2B5EF4-FFF2-40B4-BE49-F238E27FC236}">
                <a16:creationId xmlns:a16="http://schemas.microsoft.com/office/drawing/2014/main" id="{7B22B213-2ED2-CB68-4EC7-C43856C2CDB9}"/>
              </a:ext>
            </a:extLst>
          </p:cNvPr>
          <p:cNvSpPr txBox="1">
            <a:spLocks/>
          </p:cNvSpPr>
          <p:nvPr/>
        </p:nvSpPr>
        <p:spPr>
          <a:xfrm>
            <a:off x="-443360" y="330000"/>
            <a:ext cx="9397679" cy="466637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482600" lvl="1" indent="0" algn="just"/>
            <a:endParaRPr lang="en-IN" sz="20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800" b="1" dirty="0">
                <a:solidFill>
                  <a:schemeClr val="tx1"/>
                </a:solidFill>
                <a:latin typeface="Times New Roman" panose="02020603050405020304" pitchFamily="18" charset="0"/>
                <a:cs typeface="Times New Roman" panose="02020603050405020304" pitchFamily="18" charset="0"/>
              </a:rPr>
              <a:t>14.</a:t>
            </a:r>
            <a:r>
              <a:rPr lang="en-IN" sz="1800" dirty="0"/>
              <a:t> </a:t>
            </a:r>
            <a:r>
              <a:rPr lang="en-IN" sz="1800" b="1" dirty="0" err="1">
                <a:solidFill>
                  <a:schemeClr val="tx1"/>
                </a:solidFill>
                <a:latin typeface="Times New Roman" panose="02020603050405020304" pitchFamily="18" charset="0"/>
                <a:cs typeface="Times New Roman" panose="02020603050405020304" pitchFamily="18" charset="0"/>
              </a:rPr>
              <a:t>ReAct</a:t>
            </a:r>
            <a:r>
              <a:rPr lang="en-IN" sz="1800" b="1" dirty="0">
                <a:solidFill>
                  <a:schemeClr val="tx1"/>
                </a:solidFill>
                <a:latin typeface="Times New Roman" panose="02020603050405020304" pitchFamily="18" charset="0"/>
                <a:cs typeface="Times New Roman" panose="02020603050405020304" pitchFamily="18" charset="0"/>
              </a:rPr>
              <a:t>: Synergizing Reasoning and Acting in Language Models</a:t>
            </a:r>
          </a:p>
          <a:p>
            <a:pPr marL="482600" lvl="1" indent="0" algn="just"/>
            <a:endParaRPr lang="en-IN" sz="20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Introduction: </a:t>
            </a:r>
            <a:r>
              <a:rPr lang="en-IN" sz="1400" dirty="0" err="1">
                <a:solidFill>
                  <a:schemeClr val="tx1"/>
                </a:solidFill>
                <a:latin typeface="Times New Roman" panose="02020603050405020304" pitchFamily="18" charset="0"/>
                <a:cs typeface="Times New Roman" panose="02020603050405020304" pitchFamily="18" charset="0"/>
              </a:rPr>
              <a:t>ReAct</a:t>
            </a:r>
            <a:r>
              <a:rPr lang="en-IN" sz="1400" dirty="0">
                <a:solidFill>
                  <a:schemeClr val="tx1"/>
                </a:solidFill>
                <a:latin typeface="Times New Roman" panose="02020603050405020304" pitchFamily="18" charset="0"/>
                <a:cs typeface="Times New Roman" panose="02020603050405020304" pitchFamily="18" charset="0"/>
              </a:rPr>
              <a:t> is a prompting technique that combines reasoning and action within Large Language Models. It allows AI systems to think, retrieve information, and then generate responses.</a:t>
            </a:r>
          </a:p>
          <a:p>
            <a:pPr marL="482600" lvl="1" indent="0" algn="just"/>
            <a:endParaRPr lang="en-IN" sz="14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Objective: </a:t>
            </a:r>
            <a:r>
              <a:rPr lang="en-IN" sz="1400" dirty="0">
                <a:solidFill>
                  <a:schemeClr val="tx1"/>
                </a:solidFill>
                <a:latin typeface="Times New Roman" panose="02020603050405020304" pitchFamily="18" charset="0"/>
                <a:cs typeface="Times New Roman" panose="02020603050405020304" pitchFamily="18" charset="0"/>
              </a:rPr>
              <a:t>Its objective is to improve reasoning accuracy while reducing hallucinations. It also increases transparency by exposing intermediate reasoning steps.</a:t>
            </a:r>
          </a:p>
          <a:p>
            <a:pPr marL="482600" lvl="1" indent="0" algn="just"/>
            <a:endParaRPr lang="en-IN" sz="20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Methodology: </a:t>
            </a:r>
            <a:r>
              <a:rPr lang="en-IN" sz="1400" dirty="0">
                <a:solidFill>
                  <a:schemeClr val="tx1"/>
                </a:solidFill>
                <a:latin typeface="Times New Roman" panose="02020603050405020304" pitchFamily="18" charset="0"/>
                <a:cs typeface="Times New Roman" panose="02020603050405020304" pitchFamily="18" charset="0"/>
              </a:rPr>
              <a:t>The model alternates between reasoning and external actions such as searching or retrieving information. Retrieved knowledge is incorporated into subsequent reasoning steps. This process continues until the model generates the final response.</a:t>
            </a:r>
          </a:p>
          <a:p>
            <a:pPr marL="482600" lvl="1" indent="0" algn="just"/>
            <a:endParaRPr lang="en-IN" sz="14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Results: </a:t>
            </a:r>
            <a:r>
              <a:rPr lang="en-IN" sz="1400" dirty="0" err="1">
                <a:solidFill>
                  <a:schemeClr val="tx1"/>
                </a:solidFill>
                <a:latin typeface="Times New Roman" panose="02020603050405020304" pitchFamily="18" charset="0"/>
                <a:cs typeface="Times New Roman" panose="02020603050405020304" pitchFamily="18" charset="0"/>
              </a:rPr>
              <a:t>ReAct</a:t>
            </a:r>
            <a:r>
              <a:rPr lang="en-IN" sz="1400" dirty="0">
                <a:solidFill>
                  <a:schemeClr val="tx1"/>
                </a:solidFill>
                <a:latin typeface="Times New Roman" panose="02020603050405020304" pitchFamily="18" charset="0"/>
                <a:cs typeface="Times New Roman" panose="02020603050405020304" pitchFamily="18" charset="0"/>
              </a:rPr>
              <a:t> significantly improved reasoning performance in knowledge-intensive tasks. It also generated more reliable and explainable answers than traditional prompting methods.</a:t>
            </a:r>
          </a:p>
          <a:p>
            <a:pPr marL="482600" lvl="1" indent="0" algn="just"/>
            <a:endParaRPr lang="en-IN" sz="14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Limitations and Future Scope: </a:t>
            </a:r>
            <a:r>
              <a:rPr lang="en-IN" sz="1400" dirty="0">
                <a:solidFill>
                  <a:schemeClr val="tx1"/>
                </a:solidFill>
                <a:latin typeface="Times New Roman" panose="02020603050405020304" pitchFamily="18" charset="0"/>
                <a:cs typeface="Times New Roman" panose="02020603050405020304" pitchFamily="18" charset="0"/>
              </a:rPr>
              <a:t>The framework depends heavily on external tools and retrieved information. Future work can integrate </a:t>
            </a:r>
            <a:r>
              <a:rPr lang="en-IN" sz="1400" dirty="0" err="1">
                <a:solidFill>
                  <a:schemeClr val="tx1"/>
                </a:solidFill>
                <a:latin typeface="Times New Roman" panose="02020603050405020304" pitchFamily="18" charset="0"/>
                <a:cs typeface="Times New Roman" panose="02020603050405020304" pitchFamily="18" charset="0"/>
              </a:rPr>
              <a:t>ReAct</a:t>
            </a:r>
            <a:r>
              <a:rPr lang="en-IN" sz="1400" dirty="0">
                <a:solidFill>
                  <a:schemeClr val="tx1"/>
                </a:solidFill>
                <a:latin typeface="Times New Roman" panose="02020603050405020304" pitchFamily="18" charset="0"/>
                <a:cs typeface="Times New Roman" panose="02020603050405020304" pitchFamily="18" charset="0"/>
              </a:rPr>
              <a:t> with multi-agent systems and advanced retrieval techniques.</a:t>
            </a:r>
          </a:p>
          <a:p>
            <a:pPr marL="482600" lvl="1" indent="0" algn="just"/>
            <a:endParaRPr lang="en-IN" sz="1400" b="1" dirty="0">
              <a:solidFill>
                <a:schemeClr val="tx1"/>
              </a:solidFill>
              <a:latin typeface="Times New Roman" panose="02020603050405020304" pitchFamily="18" charset="0"/>
              <a:cs typeface="Times New Roman" panose="02020603050405020304" pitchFamily="18" charset="0"/>
            </a:endParaRPr>
          </a:p>
          <a:p>
            <a:pPr marL="482600" lvl="1" indent="0" algn="just"/>
            <a:endParaRPr lang="en-IN" sz="145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75346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E08FBC-6B52-05D3-DA63-279167C02207}"/>
            </a:ext>
          </a:extLst>
        </p:cNvPr>
        <p:cNvGrpSpPr/>
        <p:nvPr/>
      </p:nvGrpSpPr>
      <p:grpSpPr>
        <a:xfrm>
          <a:off x="0" y="0"/>
          <a:ext cx="0" cy="0"/>
          <a:chOff x="0" y="0"/>
          <a:chExt cx="0" cy="0"/>
        </a:xfrm>
      </p:grpSpPr>
      <p:sp>
        <p:nvSpPr>
          <p:cNvPr id="4" name="Google Shape;55;p13">
            <a:extLst>
              <a:ext uri="{FF2B5EF4-FFF2-40B4-BE49-F238E27FC236}">
                <a16:creationId xmlns:a16="http://schemas.microsoft.com/office/drawing/2014/main" id="{F9AE8465-1416-E6F1-2F72-6699FBD9C64D}"/>
              </a:ext>
            </a:extLst>
          </p:cNvPr>
          <p:cNvSpPr txBox="1">
            <a:spLocks/>
          </p:cNvSpPr>
          <p:nvPr/>
        </p:nvSpPr>
        <p:spPr>
          <a:xfrm>
            <a:off x="0" y="-121920"/>
            <a:ext cx="9144000" cy="903841"/>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r>
              <a:rPr lang="en-IN" sz="2800" b="1" dirty="0">
                <a:latin typeface="Times New Roman" panose="02020603050405020304" pitchFamily="18" charset="0"/>
                <a:cs typeface="Times New Roman" panose="02020603050405020304" pitchFamily="18" charset="0"/>
              </a:rPr>
              <a:t> </a:t>
            </a:r>
          </a:p>
        </p:txBody>
      </p:sp>
      <p:sp>
        <p:nvSpPr>
          <p:cNvPr id="5" name="Google Shape;55;p13">
            <a:extLst>
              <a:ext uri="{FF2B5EF4-FFF2-40B4-BE49-F238E27FC236}">
                <a16:creationId xmlns:a16="http://schemas.microsoft.com/office/drawing/2014/main" id="{B718C06B-AFFB-0209-88F1-B9C631B77D3A}"/>
              </a:ext>
            </a:extLst>
          </p:cNvPr>
          <p:cNvSpPr txBox="1">
            <a:spLocks/>
          </p:cNvSpPr>
          <p:nvPr/>
        </p:nvSpPr>
        <p:spPr>
          <a:xfrm>
            <a:off x="-402720" y="330000"/>
            <a:ext cx="9397679" cy="466637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482600" lvl="1" indent="0" algn="just"/>
            <a:endParaRPr lang="en-IN" sz="16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800" b="1" dirty="0">
                <a:solidFill>
                  <a:schemeClr val="tx1"/>
                </a:solidFill>
                <a:latin typeface="Times New Roman" panose="02020603050405020304" pitchFamily="18" charset="0"/>
                <a:cs typeface="Times New Roman" panose="02020603050405020304" pitchFamily="18" charset="0"/>
              </a:rPr>
              <a:t>15.</a:t>
            </a:r>
            <a:r>
              <a:rPr lang="en-IN" sz="1800" dirty="0"/>
              <a:t> </a:t>
            </a:r>
            <a:r>
              <a:rPr lang="en-IN" sz="1800" b="1" dirty="0">
                <a:solidFill>
                  <a:schemeClr val="tx1"/>
                </a:solidFill>
                <a:latin typeface="Times New Roman" panose="02020603050405020304" pitchFamily="18" charset="0"/>
                <a:cs typeface="Times New Roman" panose="02020603050405020304" pitchFamily="18" charset="0"/>
              </a:rPr>
              <a:t>Reflexion: Language Agents with Verbal Reinforcement Learning</a:t>
            </a:r>
          </a:p>
          <a:p>
            <a:pPr marL="482600" lvl="1" indent="0" algn="just"/>
            <a:endParaRPr lang="en-IN" sz="20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Introduction: </a:t>
            </a:r>
            <a:r>
              <a:rPr lang="en-IN" sz="1400" dirty="0">
                <a:solidFill>
                  <a:schemeClr val="tx1"/>
                </a:solidFill>
                <a:latin typeface="Times New Roman" panose="02020603050405020304" pitchFamily="18" charset="0"/>
                <a:cs typeface="Times New Roman" panose="02020603050405020304" pitchFamily="18" charset="0"/>
              </a:rPr>
              <a:t>Reflexion is an AI framework that enables language models to learn from previous mistakes through self-reflection. It improves performance without retraining the underlying model.</a:t>
            </a:r>
          </a:p>
          <a:p>
            <a:pPr marL="482600" lvl="1" indent="0" algn="just"/>
            <a:endParaRPr lang="en-IN" sz="14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Objective: </a:t>
            </a:r>
            <a:r>
              <a:rPr lang="en-IN" sz="1400" dirty="0">
                <a:solidFill>
                  <a:schemeClr val="tx1"/>
                </a:solidFill>
                <a:latin typeface="Times New Roman" panose="02020603050405020304" pitchFamily="18" charset="0"/>
                <a:cs typeface="Times New Roman" panose="02020603050405020304" pitchFamily="18" charset="0"/>
              </a:rPr>
              <a:t>Its objective is to enhance reasoning through continuous self-evaluation. It also aims to reduce repeated mistakes by using reflective feedback.</a:t>
            </a:r>
          </a:p>
          <a:p>
            <a:pPr marL="482600" lvl="1" indent="0" algn="just"/>
            <a:endParaRPr lang="en-IN" sz="16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Methodology: </a:t>
            </a:r>
            <a:r>
              <a:rPr lang="en-IN" sz="1400" dirty="0">
                <a:solidFill>
                  <a:schemeClr val="tx1"/>
                </a:solidFill>
                <a:latin typeface="Times New Roman" panose="02020603050405020304" pitchFamily="18" charset="0"/>
                <a:cs typeface="Times New Roman" panose="02020603050405020304" pitchFamily="18" charset="0"/>
              </a:rPr>
              <a:t>After completing a task, the AI evaluates its own performance. It generates textual reflections describing mistakes and improvements. These reflections are stored and reused to improve future reasoning.</a:t>
            </a:r>
          </a:p>
          <a:p>
            <a:pPr marL="482600" lvl="1" indent="0" algn="just"/>
            <a:endParaRPr lang="en-IN" sz="14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Results: </a:t>
            </a:r>
            <a:r>
              <a:rPr lang="en-IN" sz="1400" dirty="0">
                <a:solidFill>
                  <a:schemeClr val="tx1"/>
                </a:solidFill>
                <a:latin typeface="Times New Roman" panose="02020603050405020304" pitchFamily="18" charset="0"/>
                <a:cs typeface="Times New Roman" panose="02020603050405020304" pitchFamily="18" charset="0"/>
              </a:rPr>
              <a:t>Reflexion achieved higher success rates in reasoning, coding, and planning tasks. It reduced repeated errors by learning from previous experiences.</a:t>
            </a:r>
          </a:p>
          <a:p>
            <a:pPr marL="482600" lvl="1" indent="0" algn="just"/>
            <a:endParaRPr lang="en-IN" sz="14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Limitations and Future Scope: </a:t>
            </a:r>
            <a:r>
              <a:rPr lang="en-IN" sz="1400" dirty="0">
                <a:solidFill>
                  <a:schemeClr val="tx1"/>
                </a:solidFill>
                <a:latin typeface="Times New Roman" panose="02020603050405020304" pitchFamily="18" charset="0"/>
                <a:cs typeface="Times New Roman" panose="02020603050405020304" pitchFamily="18" charset="0"/>
              </a:rPr>
              <a:t>The quality of improvement depends on accurate self-reflection. Future work can combine Reflexion with Retrieval-Augmented Generation and Multi-Agent systems.</a:t>
            </a:r>
            <a:endParaRPr lang="en-IN" sz="1400" b="1" dirty="0">
              <a:solidFill>
                <a:schemeClr val="tx1"/>
              </a:solidFill>
              <a:latin typeface="Times New Roman" panose="02020603050405020304" pitchFamily="18" charset="0"/>
              <a:cs typeface="Times New Roman" panose="02020603050405020304" pitchFamily="18" charset="0"/>
            </a:endParaRPr>
          </a:p>
          <a:p>
            <a:pPr marL="482600" lvl="1" indent="0" algn="just"/>
            <a:endParaRPr lang="en-IN" sz="145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806927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AF0DA2-3CBB-B4CE-FF80-3C4C8219F823}"/>
            </a:ext>
          </a:extLst>
        </p:cNvPr>
        <p:cNvGrpSpPr/>
        <p:nvPr/>
      </p:nvGrpSpPr>
      <p:grpSpPr>
        <a:xfrm>
          <a:off x="0" y="0"/>
          <a:ext cx="0" cy="0"/>
          <a:chOff x="0" y="0"/>
          <a:chExt cx="0" cy="0"/>
        </a:xfrm>
      </p:grpSpPr>
      <p:sp>
        <p:nvSpPr>
          <p:cNvPr id="4" name="Google Shape;55;p13">
            <a:extLst>
              <a:ext uri="{FF2B5EF4-FFF2-40B4-BE49-F238E27FC236}">
                <a16:creationId xmlns:a16="http://schemas.microsoft.com/office/drawing/2014/main" id="{30B56374-93D8-CD0D-9155-0CFB9639CE52}"/>
              </a:ext>
            </a:extLst>
          </p:cNvPr>
          <p:cNvSpPr txBox="1">
            <a:spLocks/>
          </p:cNvSpPr>
          <p:nvPr/>
        </p:nvSpPr>
        <p:spPr>
          <a:xfrm>
            <a:off x="0" y="-121920"/>
            <a:ext cx="9144000" cy="903841"/>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r>
              <a:rPr lang="en-IN" sz="2800" b="1" dirty="0">
                <a:latin typeface="Times New Roman" panose="02020603050405020304" pitchFamily="18" charset="0"/>
                <a:cs typeface="Times New Roman" panose="02020603050405020304" pitchFamily="18" charset="0"/>
              </a:rPr>
              <a:t> </a:t>
            </a:r>
          </a:p>
        </p:txBody>
      </p:sp>
      <p:sp>
        <p:nvSpPr>
          <p:cNvPr id="5" name="Google Shape;55;p13">
            <a:extLst>
              <a:ext uri="{FF2B5EF4-FFF2-40B4-BE49-F238E27FC236}">
                <a16:creationId xmlns:a16="http://schemas.microsoft.com/office/drawing/2014/main" id="{8897A9ED-22D9-719B-7903-EFA41126120A}"/>
              </a:ext>
            </a:extLst>
          </p:cNvPr>
          <p:cNvSpPr txBox="1">
            <a:spLocks/>
          </p:cNvSpPr>
          <p:nvPr/>
        </p:nvSpPr>
        <p:spPr>
          <a:xfrm>
            <a:off x="-429260" y="477121"/>
            <a:ext cx="9397679" cy="466637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482600" lvl="1" indent="0" algn="just"/>
            <a:endParaRPr lang="en-IN" sz="16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800" b="1" dirty="0">
                <a:solidFill>
                  <a:schemeClr val="tx1"/>
                </a:solidFill>
                <a:latin typeface="Times New Roman" panose="02020603050405020304" pitchFamily="18" charset="0"/>
                <a:cs typeface="Times New Roman" panose="02020603050405020304" pitchFamily="18" charset="0"/>
              </a:rPr>
              <a:t>16.</a:t>
            </a:r>
            <a:r>
              <a:rPr lang="en-IN" sz="1800" dirty="0"/>
              <a:t> </a:t>
            </a:r>
            <a:r>
              <a:rPr lang="en-IN" sz="1800" b="1" dirty="0">
                <a:solidFill>
                  <a:schemeClr val="tx1"/>
                </a:solidFill>
                <a:latin typeface="Times New Roman" panose="02020603050405020304" pitchFamily="18" charset="0"/>
                <a:cs typeface="Times New Roman" panose="02020603050405020304" pitchFamily="18" charset="0"/>
              </a:rPr>
              <a:t>Self-RAG: Learning to Retrieve, Generate and Critique through Self-Reflection</a:t>
            </a:r>
          </a:p>
          <a:p>
            <a:pPr marL="482600" lvl="1" indent="0" algn="just"/>
            <a:endParaRPr lang="en-IN" sz="20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Introduction: </a:t>
            </a:r>
            <a:r>
              <a:rPr lang="en-IN" sz="1400" dirty="0">
                <a:solidFill>
                  <a:schemeClr val="tx1"/>
                </a:solidFill>
                <a:latin typeface="Times New Roman" panose="02020603050405020304" pitchFamily="18" charset="0"/>
                <a:cs typeface="Times New Roman" panose="02020603050405020304" pitchFamily="18" charset="0"/>
              </a:rPr>
              <a:t>Self-RAG is an advanced Retrieval-Augmented Generation framework that combines retrieval, generation, and self-critique. It enables AI models to evaluate their own responses before presenting the final answer.</a:t>
            </a:r>
          </a:p>
          <a:p>
            <a:pPr marL="482600" lvl="1" indent="0" algn="just"/>
            <a:endParaRPr lang="en-IN" sz="14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Objective: </a:t>
            </a:r>
            <a:r>
              <a:rPr lang="en-IN" sz="1400" dirty="0">
                <a:solidFill>
                  <a:schemeClr val="tx1"/>
                </a:solidFill>
                <a:latin typeface="Times New Roman" panose="02020603050405020304" pitchFamily="18" charset="0"/>
                <a:cs typeface="Times New Roman" panose="02020603050405020304" pitchFamily="18" charset="0"/>
              </a:rPr>
              <a:t>Its objective is to improve factual accuracy and reduce hallucinations in AI-generated responses. It also enhances answer quality through self-reflection.</a:t>
            </a:r>
          </a:p>
          <a:p>
            <a:pPr marL="482600" lvl="1" indent="0" algn="just"/>
            <a:endParaRPr lang="en-IN" sz="145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Methodology: </a:t>
            </a:r>
            <a:r>
              <a:rPr lang="en-IN" sz="1400" dirty="0">
                <a:solidFill>
                  <a:schemeClr val="tx1"/>
                </a:solidFill>
                <a:latin typeface="Times New Roman" panose="02020603050405020304" pitchFamily="18" charset="0"/>
                <a:cs typeface="Times New Roman" panose="02020603050405020304" pitchFamily="18" charset="0"/>
              </a:rPr>
              <a:t>The framework retrieves relevant documents before generating responses. It evaluates the generated answer using reflection tokens and determines whether additional retrieval is needed. The final response is produced only after internal verification.</a:t>
            </a:r>
          </a:p>
          <a:p>
            <a:pPr marL="482600" lvl="1" indent="0" algn="just"/>
            <a:endParaRPr lang="en-IN" sz="14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Results: </a:t>
            </a:r>
            <a:r>
              <a:rPr lang="en-IN" sz="1400" dirty="0">
                <a:solidFill>
                  <a:schemeClr val="tx1"/>
                </a:solidFill>
                <a:latin typeface="Times New Roman" panose="02020603050405020304" pitchFamily="18" charset="0"/>
                <a:cs typeface="Times New Roman" panose="02020603050405020304" pitchFamily="18" charset="0"/>
              </a:rPr>
              <a:t>Self-RAG outperformed traditional RAG systems on knowledge-intensive tasks. It generated more reliable and evidence-supported responses</a:t>
            </a:r>
            <a:r>
              <a:rPr lang="en-IN" sz="1400" dirty="0"/>
              <a:t>.</a:t>
            </a:r>
            <a:endParaRPr lang="en-IN" sz="1400" dirty="0">
              <a:solidFill>
                <a:schemeClr val="tx1"/>
              </a:solidFill>
              <a:latin typeface="Times New Roman" panose="02020603050405020304" pitchFamily="18" charset="0"/>
              <a:cs typeface="Times New Roman" panose="02020603050405020304" pitchFamily="18" charset="0"/>
            </a:endParaRPr>
          </a:p>
          <a:p>
            <a:pPr marL="482600" lvl="1" indent="0" algn="just"/>
            <a:endParaRPr lang="en-IN" sz="14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Limitations and Future Scope: </a:t>
            </a:r>
            <a:r>
              <a:rPr lang="en-IN" sz="1400" dirty="0">
                <a:solidFill>
                  <a:schemeClr val="tx1"/>
                </a:solidFill>
                <a:latin typeface="Times New Roman" panose="02020603050405020304" pitchFamily="18" charset="0"/>
                <a:cs typeface="Times New Roman" panose="02020603050405020304" pitchFamily="18" charset="0"/>
              </a:rPr>
              <a:t>The framework increases computational cost due to multiple retrieval cycles. Future work can improve efficiency and integrate multi-agent collaboration.</a:t>
            </a:r>
            <a:endParaRPr lang="en-IN" sz="1400" b="1" dirty="0">
              <a:solidFill>
                <a:schemeClr val="tx1"/>
              </a:solidFill>
              <a:latin typeface="Times New Roman" panose="02020603050405020304" pitchFamily="18" charset="0"/>
              <a:cs typeface="Times New Roman" panose="02020603050405020304" pitchFamily="18" charset="0"/>
            </a:endParaRPr>
          </a:p>
          <a:p>
            <a:pPr marL="482600" lvl="1" indent="0" algn="just"/>
            <a:endParaRPr lang="en-IN" sz="145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659407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7F3CA-9539-83D9-8ED5-FDC06D62C335}"/>
            </a:ext>
          </a:extLst>
        </p:cNvPr>
        <p:cNvGrpSpPr/>
        <p:nvPr/>
      </p:nvGrpSpPr>
      <p:grpSpPr>
        <a:xfrm>
          <a:off x="0" y="0"/>
          <a:ext cx="0" cy="0"/>
          <a:chOff x="0" y="0"/>
          <a:chExt cx="0" cy="0"/>
        </a:xfrm>
      </p:grpSpPr>
      <p:sp>
        <p:nvSpPr>
          <p:cNvPr id="4" name="Google Shape;55;p13">
            <a:extLst>
              <a:ext uri="{FF2B5EF4-FFF2-40B4-BE49-F238E27FC236}">
                <a16:creationId xmlns:a16="http://schemas.microsoft.com/office/drawing/2014/main" id="{391E223C-58E2-03BF-1CFD-574263269CD1}"/>
              </a:ext>
            </a:extLst>
          </p:cNvPr>
          <p:cNvSpPr txBox="1">
            <a:spLocks/>
          </p:cNvSpPr>
          <p:nvPr/>
        </p:nvSpPr>
        <p:spPr>
          <a:xfrm>
            <a:off x="0" y="-121920"/>
            <a:ext cx="9144000" cy="903841"/>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r>
              <a:rPr lang="en-IN" sz="2800" b="1" dirty="0">
                <a:latin typeface="Times New Roman" panose="02020603050405020304" pitchFamily="18" charset="0"/>
                <a:cs typeface="Times New Roman" panose="02020603050405020304" pitchFamily="18" charset="0"/>
              </a:rPr>
              <a:t> </a:t>
            </a:r>
          </a:p>
        </p:txBody>
      </p:sp>
      <p:sp>
        <p:nvSpPr>
          <p:cNvPr id="5" name="Google Shape;55;p13">
            <a:extLst>
              <a:ext uri="{FF2B5EF4-FFF2-40B4-BE49-F238E27FC236}">
                <a16:creationId xmlns:a16="http://schemas.microsoft.com/office/drawing/2014/main" id="{86E83BB3-84D1-91F1-221B-0DC86ADF08EC}"/>
              </a:ext>
            </a:extLst>
          </p:cNvPr>
          <p:cNvSpPr txBox="1">
            <a:spLocks/>
          </p:cNvSpPr>
          <p:nvPr/>
        </p:nvSpPr>
        <p:spPr>
          <a:xfrm>
            <a:off x="-439420" y="477121"/>
            <a:ext cx="9397679" cy="466637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482600" lvl="1" indent="0" algn="just"/>
            <a:endParaRPr lang="en-IN" sz="16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800" b="1" dirty="0">
                <a:solidFill>
                  <a:schemeClr val="tx1"/>
                </a:solidFill>
                <a:latin typeface="Times New Roman" panose="02020603050405020304" pitchFamily="18" charset="0"/>
                <a:cs typeface="Times New Roman" panose="02020603050405020304" pitchFamily="18" charset="0"/>
              </a:rPr>
              <a:t>17.</a:t>
            </a:r>
            <a:r>
              <a:rPr lang="en-IN" sz="1800" dirty="0"/>
              <a:t> </a:t>
            </a:r>
            <a:r>
              <a:rPr lang="en-IN" sz="1800" b="1" dirty="0">
                <a:solidFill>
                  <a:schemeClr val="tx1"/>
                </a:solidFill>
                <a:latin typeface="Times New Roman" panose="02020603050405020304" pitchFamily="18" charset="0"/>
                <a:cs typeface="Times New Roman" panose="02020603050405020304" pitchFamily="18" charset="0"/>
              </a:rPr>
              <a:t>CRAG: Corrective Retrieval-Augmented Generation</a:t>
            </a:r>
          </a:p>
          <a:p>
            <a:pPr marL="482600" lvl="1" indent="0" algn="just"/>
            <a:endParaRPr lang="en-IN" sz="18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Introduction: </a:t>
            </a:r>
            <a:r>
              <a:rPr lang="en-IN" sz="1400" dirty="0">
                <a:solidFill>
                  <a:schemeClr val="tx1"/>
                </a:solidFill>
                <a:latin typeface="Times New Roman" panose="02020603050405020304" pitchFamily="18" charset="0"/>
                <a:cs typeface="Times New Roman" panose="02020603050405020304" pitchFamily="18" charset="0"/>
              </a:rPr>
              <a:t>CRAG is a Retrieval-Augmented Generation framework designed to improve retrieval quality before answer generation. It identifies and corrects poor retrieval results automatically.</a:t>
            </a:r>
          </a:p>
          <a:p>
            <a:pPr marL="482600" lvl="1" indent="0" algn="just"/>
            <a:endParaRPr lang="en-IN" sz="14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Objective: </a:t>
            </a:r>
            <a:r>
              <a:rPr lang="en-IN" sz="1400" dirty="0">
                <a:solidFill>
                  <a:schemeClr val="tx1"/>
                </a:solidFill>
                <a:latin typeface="Times New Roman" panose="02020603050405020304" pitchFamily="18" charset="0"/>
                <a:cs typeface="Times New Roman" panose="02020603050405020304" pitchFamily="18" charset="0"/>
              </a:rPr>
              <a:t>Its objective is to improve factual correctness by filtering low-quality retrieved documents. It also aims to reduce hallucinations in language models.</a:t>
            </a:r>
          </a:p>
          <a:p>
            <a:pPr marL="482600" lvl="1" indent="0" algn="just"/>
            <a:endParaRPr lang="en-IN" sz="20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Methodology: </a:t>
            </a:r>
            <a:r>
              <a:rPr lang="en-IN" sz="1400" dirty="0">
                <a:solidFill>
                  <a:schemeClr val="tx1"/>
                </a:solidFill>
                <a:latin typeface="Times New Roman" panose="02020603050405020304" pitchFamily="18" charset="0"/>
                <a:cs typeface="Times New Roman" panose="02020603050405020304" pitchFamily="18" charset="0"/>
              </a:rPr>
              <a:t>CRAG evaluates the relevance of retrieved documents using a retrieval evaluator. If the retrieved content is insufficient, corrective retrieval is performed. The verified documents are then used to generate the final response.</a:t>
            </a:r>
          </a:p>
          <a:p>
            <a:pPr marL="482600" lvl="1" indent="0" algn="just"/>
            <a:endParaRPr lang="en-IN" sz="14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Results: </a:t>
            </a:r>
            <a:r>
              <a:rPr lang="en-IN" sz="1400" dirty="0">
                <a:solidFill>
                  <a:schemeClr val="tx1"/>
                </a:solidFill>
                <a:latin typeface="Times New Roman" panose="02020603050405020304" pitchFamily="18" charset="0"/>
                <a:cs typeface="Times New Roman" panose="02020603050405020304" pitchFamily="18" charset="0"/>
              </a:rPr>
              <a:t>The framework produced more accurate responses than conventional RAG systems. It significantly reduced factual errors caused by poor retrieval.</a:t>
            </a:r>
          </a:p>
          <a:p>
            <a:pPr marL="482600" lvl="1" indent="0" algn="just"/>
            <a:endParaRPr lang="en-IN" sz="1400"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Limitations and Future Scope: </a:t>
            </a:r>
            <a:r>
              <a:rPr lang="en-IN" sz="1400" dirty="0">
                <a:solidFill>
                  <a:schemeClr val="tx1"/>
                </a:solidFill>
                <a:latin typeface="Times New Roman" panose="02020603050405020304" pitchFamily="18" charset="0"/>
                <a:cs typeface="Times New Roman" panose="02020603050405020304" pitchFamily="18" charset="0"/>
              </a:rPr>
              <a:t>Corrective retrieval increases response time and computational cost. Future work can optimize retrieval evaluation and improve real-time performance.</a:t>
            </a:r>
            <a:endParaRPr lang="en-IN" sz="1400" b="1" dirty="0">
              <a:solidFill>
                <a:schemeClr val="tx1"/>
              </a:solidFill>
              <a:latin typeface="Times New Roman" panose="02020603050405020304" pitchFamily="18" charset="0"/>
              <a:cs typeface="Times New Roman" panose="02020603050405020304" pitchFamily="18" charset="0"/>
            </a:endParaRPr>
          </a:p>
          <a:p>
            <a:pPr marL="482600" lvl="1" indent="0" algn="just"/>
            <a:endParaRPr lang="en-IN" sz="145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264597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8F129-5FC5-5EB5-6827-8C4CF829E988}"/>
            </a:ext>
          </a:extLst>
        </p:cNvPr>
        <p:cNvGrpSpPr/>
        <p:nvPr/>
      </p:nvGrpSpPr>
      <p:grpSpPr>
        <a:xfrm>
          <a:off x="0" y="0"/>
          <a:ext cx="0" cy="0"/>
          <a:chOff x="0" y="0"/>
          <a:chExt cx="0" cy="0"/>
        </a:xfrm>
      </p:grpSpPr>
      <p:sp>
        <p:nvSpPr>
          <p:cNvPr id="4" name="Google Shape;55;p13">
            <a:extLst>
              <a:ext uri="{FF2B5EF4-FFF2-40B4-BE49-F238E27FC236}">
                <a16:creationId xmlns:a16="http://schemas.microsoft.com/office/drawing/2014/main" id="{66D6DED6-D1EB-38D0-5518-442772E91756}"/>
              </a:ext>
            </a:extLst>
          </p:cNvPr>
          <p:cNvSpPr txBox="1">
            <a:spLocks/>
          </p:cNvSpPr>
          <p:nvPr/>
        </p:nvSpPr>
        <p:spPr>
          <a:xfrm>
            <a:off x="0" y="-121920"/>
            <a:ext cx="9144000" cy="903841"/>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 </a:t>
            </a:r>
          </a:p>
        </p:txBody>
      </p:sp>
      <p:sp>
        <p:nvSpPr>
          <p:cNvPr id="5" name="Google Shape;55;p13">
            <a:extLst>
              <a:ext uri="{FF2B5EF4-FFF2-40B4-BE49-F238E27FC236}">
                <a16:creationId xmlns:a16="http://schemas.microsoft.com/office/drawing/2014/main" id="{2F3FEBC4-76AB-C057-2A1E-7908CC9D0C8B}"/>
              </a:ext>
            </a:extLst>
          </p:cNvPr>
          <p:cNvSpPr txBox="1">
            <a:spLocks/>
          </p:cNvSpPr>
          <p:nvPr/>
        </p:nvSpPr>
        <p:spPr>
          <a:xfrm>
            <a:off x="-459740" y="330000"/>
            <a:ext cx="9397679" cy="466637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482600" lvl="1" indent="0" algn="just"/>
            <a:endParaRPr lang="en-IN" sz="16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800" b="1" dirty="0">
                <a:solidFill>
                  <a:schemeClr val="tx1"/>
                </a:solidFill>
                <a:latin typeface="Times New Roman" panose="02020603050405020304" pitchFamily="18" charset="0"/>
                <a:cs typeface="Times New Roman" panose="02020603050405020304" pitchFamily="18" charset="0"/>
              </a:rPr>
              <a:t>18.</a:t>
            </a:r>
            <a:r>
              <a:rPr lang="en-IN" sz="1800" dirty="0"/>
              <a:t> </a:t>
            </a:r>
            <a:r>
              <a:rPr lang="en-IN" sz="1800" b="1" dirty="0">
                <a:solidFill>
                  <a:schemeClr val="tx1"/>
                </a:solidFill>
                <a:latin typeface="Times New Roman" panose="02020603050405020304" pitchFamily="18" charset="0"/>
                <a:cs typeface="Times New Roman" panose="02020603050405020304" pitchFamily="18" charset="0"/>
              </a:rPr>
              <a:t>RAPTOR: Recursive Abstractive Processing for Tree-Organized Retrieval</a:t>
            </a:r>
          </a:p>
          <a:p>
            <a:pPr marL="482600" lvl="1" indent="0" algn="just"/>
            <a:endParaRPr lang="en-IN" sz="20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Introduction: </a:t>
            </a:r>
            <a:r>
              <a:rPr lang="en-IN" sz="1400" dirty="0">
                <a:solidFill>
                  <a:schemeClr val="tx1"/>
                </a:solidFill>
                <a:latin typeface="Times New Roman" panose="02020603050405020304" pitchFamily="18" charset="0"/>
                <a:cs typeface="Times New Roman" panose="02020603050405020304" pitchFamily="18" charset="0"/>
              </a:rPr>
              <a:t>RAPTOR is a hierarchical Retrieval-Augmented Generation framework for long-document retrieval. It organizes documents into a tree structure for efficient information retrieval.</a:t>
            </a:r>
          </a:p>
          <a:p>
            <a:pPr marL="482600" lvl="1" indent="0" algn="just"/>
            <a:endParaRPr lang="en-IN" sz="14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Objective: </a:t>
            </a:r>
            <a:r>
              <a:rPr lang="en-IN" sz="1400" dirty="0">
                <a:solidFill>
                  <a:schemeClr val="tx1"/>
                </a:solidFill>
                <a:latin typeface="Times New Roman" panose="02020603050405020304" pitchFamily="18" charset="0"/>
                <a:cs typeface="Times New Roman" panose="02020603050405020304" pitchFamily="18" charset="0"/>
              </a:rPr>
              <a:t>Its objective is to improve retrieval from lengthy documents while preserving contextual information. It also enhances reasoning over large knowledge bases.</a:t>
            </a:r>
          </a:p>
          <a:p>
            <a:pPr marL="482600" lvl="1" indent="0" algn="just"/>
            <a:endParaRPr lang="en-IN" sz="145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Methodology: </a:t>
            </a:r>
            <a:r>
              <a:rPr lang="en-IN" sz="1400" dirty="0">
                <a:solidFill>
                  <a:schemeClr val="tx1"/>
                </a:solidFill>
                <a:latin typeface="Times New Roman" panose="02020603050405020304" pitchFamily="18" charset="0"/>
                <a:cs typeface="Times New Roman" panose="02020603050405020304" pitchFamily="18" charset="0"/>
              </a:rPr>
              <a:t>The framework recursively summarizes documents into multiple abstraction levels. A hierarchical tree structure is created for efficient retrieval. The language model retrieves information from different tree levels before generating responses.</a:t>
            </a:r>
          </a:p>
          <a:p>
            <a:pPr marL="482600" lvl="1" indent="0" algn="just"/>
            <a:endParaRPr lang="en-IN" sz="14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Results: </a:t>
            </a:r>
            <a:r>
              <a:rPr lang="en-IN" sz="1400" dirty="0">
                <a:solidFill>
                  <a:schemeClr val="tx1"/>
                </a:solidFill>
                <a:latin typeface="Times New Roman" panose="02020603050405020304" pitchFamily="18" charset="0"/>
                <a:cs typeface="Times New Roman" panose="02020603050405020304" pitchFamily="18" charset="0"/>
              </a:rPr>
              <a:t>RAPTOR achieved better retrieval accuracy than traditional chunk-based RAG methods. It also improved reasoning performance for long documents</a:t>
            </a:r>
            <a:r>
              <a:rPr lang="en-IN" sz="1400" dirty="0"/>
              <a:t>.</a:t>
            </a:r>
          </a:p>
          <a:p>
            <a:pPr marL="482600" lvl="1" indent="0" algn="just"/>
            <a:endParaRPr lang="en-IN" sz="14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Limitations and Future Scope: </a:t>
            </a:r>
            <a:r>
              <a:rPr lang="en-IN" sz="1400" dirty="0">
                <a:solidFill>
                  <a:schemeClr val="tx1"/>
                </a:solidFill>
                <a:latin typeface="Times New Roman" panose="02020603050405020304" pitchFamily="18" charset="0"/>
                <a:cs typeface="Times New Roman" panose="02020603050405020304" pitchFamily="18" charset="0"/>
              </a:rPr>
              <a:t>Building the hierarchical tree requires additional preprocessing time. Future work can support dynamic document updates and adaptive retrieval methods</a:t>
            </a:r>
            <a:r>
              <a:rPr lang="en-IN" sz="1600" dirty="0">
                <a:solidFill>
                  <a:schemeClr val="tx1"/>
                </a:solidFill>
                <a:latin typeface="Times New Roman" panose="02020603050405020304" pitchFamily="18" charset="0"/>
                <a:cs typeface="Times New Roman" panose="02020603050405020304" pitchFamily="18" charset="0"/>
              </a:rPr>
              <a:t>.</a:t>
            </a:r>
            <a:endParaRPr lang="en-IN" sz="1600" b="1" dirty="0">
              <a:solidFill>
                <a:schemeClr val="tx1"/>
              </a:solidFill>
              <a:latin typeface="Times New Roman" panose="02020603050405020304" pitchFamily="18" charset="0"/>
              <a:cs typeface="Times New Roman" panose="02020603050405020304" pitchFamily="18" charset="0"/>
            </a:endParaRPr>
          </a:p>
          <a:p>
            <a:pPr marL="482600" lvl="1" indent="0" algn="just"/>
            <a:endParaRPr lang="en-IN" sz="145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659799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A820B7-4FDA-B05D-86DD-A5FE21CCC3F9}"/>
            </a:ext>
          </a:extLst>
        </p:cNvPr>
        <p:cNvGrpSpPr/>
        <p:nvPr/>
      </p:nvGrpSpPr>
      <p:grpSpPr>
        <a:xfrm>
          <a:off x="0" y="0"/>
          <a:ext cx="0" cy="0"/>
          <a:chOff x="0" y="0"/>
          <a:chExt cx="0" cy="0"/>
        </a:xfrm>
      </p:grpSpPr>
      <p:sp>
        <p:nvSpPr>
          <p:cNvPr id="4" name="Google Shape;55;p13">
            <a:extLst>
              <a:ext uri="{FF2B5EF4-FFF2-40B4-BE49-F238E27FC236}">
                <a16:creationId xmlns:a16="http://schemas.microsoft.com/office/drawing/2014/main" id="{D0BC1AE8-5EFE-5214-041A-1B3EA8DCE090}"/>
              </a:ext>
            </a:extLst>
          </p:cNvPr>
          <p:cNvSpPr txBox="1">
            <a:spLocks/>
          </p:cNvSpPr>
          <p:nvPr/>
        </p:nvSpPr>
        <p:spPr>
          <a:xfrm>
            <a:off x="0" y="-121920"/>
            <a:ext cx="9144000" cy="903841"/>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r>
              <a:rPr lang="en-IN" sz="2800" b="1" dirty="0">
                <a:latin typeface="Times New Roman" panose="02020603050405020304" pitchFamily="18" charset="0"/>
                <a:cs typeface="Times New Roman" panose="02020603050405020304" pitchFamily="18" charset="0"/>
              </a:rPr>
              <a:t> </a:t>
            </a:r>
          </a:p>
        </p:txBody>
      </p:sp>
      <p:sp>
        <p:nvSpPr>
          <p:cNvPr id="5" name="Google Shape;55;p13">
            <a:extLst>
              <a:ext uri="{FF2B5EF4-FFF2-40B4-BE49-F238E27FC236}">
                <a16:creationId xmlns:a16="http://schemas.microsoft.com/office/drawing/2014/main" id="{F4F17813-7835-B1AF-00AB-9C51B96009E5}"/>
              </a:ext>
            </a:extLst>
          </p:cNvPr>
          <p:cNvSpPr txBox="1">
            <a:spLocks/>
          </p:cNvSpPr>
          <p:nvPr/>
        </p:nvSpPr>
        <p:spPr>
          <a:xfrm>
            <a:off x="-450631" y="330000"/>
            <a:ext cx="9397679" cy="466637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482600" lvl="1" indent="0" algn="just"/>
            <a:endParaRPr lang="en-IN" sz="16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800" b="1" dirty="0">
                <a:solidFill>
                  <a:schemeClr val="tx1"/>
                </a:solidFill>
                <a:latin typeface="Times New Roman" panose="02020603050405020304" pitchFamily="18" charset="0"/>
                <a:cs typeface="Times New Roman" panose="02020603050405020304" pitchFamily="18" charset="0"/>
              </a:rPr>
              <a:t>19.</a:t>
            </a:r>
            <a:r>
              <a:rPr lang="en-IN" sz="1800" dirty="0"/>
              <a:t> </a:t>
            </a:r>
            <a:r>
              <a:rPr lang="en-IN" sz="1800" b="1" dirty="0">
                <a:solidFill>
                  <a:schemeClr val="tx1"/>
                </a:solidFill>
                <a:latin typeface="Times New Roman" panose="02020603050405020304" pitchFamily="18" charset="0"/>
                <a:cs typeface="Times New Roman" panose="02020603050405020304" pitchFamily="18" charset="0"/>
              </a:rPr>
              <a:t>Logic Rules as Explanations for Legal Case Retrieval</a:t>
            </a:r>
          </a:p>
          <a:p>
            <a:pPr marL="482600" lvl="1" indent="0" algn="just"/>
            <a:endParaRPr lang="en-IN" sz="20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Introduction: </a:t>
            </a:r>
            <a:r>
              <a:rPr lang="en-IN" sz="1400" dirty="0">
                <a:solidFill>
                  <a:schemeClr val="tx1"/>
                </a:solidFill>
                <a:latin typeface="Times New Roman" panose="02020603050405020304" pitchFamily="18" charset="0"/>
                <a:cs typeface="Times New Roman" panose="02020603050405020304" pitchFamily="18" charset="0"/>
              </a:rPr>
              <a:t>This paper focuses on making legal case retrieval systems more explainable, logical, and trustworthy for lawyers and judges. Instead of explaining retrieval results using only important sentences, it uses explicit logic rules to show why a particular case is relevant. </a:t>
            </a:r>
          </a:p>
          <a:p>
            <a:pPr marL="482600" lvl="1" indent="0" algn="just"/>
            <a:endParaRPr lang="en-IN" sz="1400"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Objective: </a:t>
            </a:r>
            <a:r>
              <a:rPr lang="en-IN" sz="1400" dirty="0">
                <a:solidFill>
                  <a:schemeClr val="tx1"/>
                </a:solidFill>
                <a:latin typeface="Times New Roman" panose="02020603050405020304" pitchFamily="18" charset="0"/>
                <a:cs typeface="Times New Roman" panose="02020603050405020304" pitchFamily="18" charset="0"/>
              </a:rPr>
              <a:t>The main objective is to develop a legal retrieval system that provides faithful and logically understandable explanations along with retrieved cases.</a:t>
            </a:r>
          </a:p>
          <a:p>
            <a:pPr marL="482600" lvl="1" indent="0" algn="just"/>
            <a:endParaRPr lang="en-IN" sz="2000"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Methodology: </a:t>
            </a:r>
            <a:r>
              <a:rPr lang="en-IN" sz="1400" dirty="0">
                <a:solidFill>
                  <a:schemeClr val="tx1"/>
                </a:solidFill>
                <a:latin typeface="Times New Roman" panose="02020603050405020304" pitchFamily="18" charset="0"/>
                <a:cs typeface="Times New Roman" panose="02020603050405020304" pitchFamily="18" charset="0"/>
              </a:rPr>
              <a:t>The authors propose Neural-Symbolic enhanced Legal Case Retrieval (NS-LCR), which combines neural models with symbolic logic rules. The framework contains law-level and case-level modules that learn first-order logic rules from laws and legal cases.</a:t>
            </a:r>
          </a:p>
          <a:p>
            <a:pPr marL="482600" lvl="1" indent="0" algn="just"/>
            <a:endParaRPr lang="en-IN" sz="1400"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Results</a:t>
            </a:r>
            <a:r>
              <a:rPr lang="en-IN" sz="1400" dirty="0">
                <a:solidFill>
                  <a:schemeClr val="tx1"/>
                </a:solidFill>
                <a:latin typeface="Times New Roman" panose="02020603050405020304" pitchFamily="18" charset="0"/>
                <a:cs typeface="Times New Roman" panose="02020603050405020304" pitchFamily="18" charset="0"/>
              </a:rPr>
              <a:t>: NS-LCR achieved state-of-the-art ranking performance and outperformed several neural retrieval baselines on the evaluated legal retrieval benchmarks</a:t>
            </a:r>
          </a:p>
          <a:p>
            <a:pPr marL="482600" lvl="1" indent="0" algn="just"/>
            <a:endParaRPr lang="en-IN" sz="14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Limitations and Future Scope: </a:t>
            </a:r>
            <a:r>
              <a:rPr lang="en-IN" sz="1400" dirty="0">
                <a:solidFill>
                  <a:schemeClr val="tx1"/>
                </a:solidFill>
                <a:latin typeface="Times New Roman" panose="02020603050405020304" pitchFamily="18" charset="0"/>
                <a:cs typeface="Times New Roman" panose="02020603050405020304" pitchFamily="18" charset="0"/>
              </a:rPr>
              <a:t>The approach requires manually annotated logic rules. Future work can reduce manual annotation, extend the framework to other legal jurisdictions such as India, and integrate it with RAG and Multi-Agent systems for more comprehensive explainable legal assistants.</a:t>
            </a:r>
          </a:p>
        </p:txBody>
      </p:sp>
    </p:spTree>
    <p:extLst>
      <p:ext uri="{BB962C8B-B14F-4D97-AF65-F5344CB8AC3E}">
        <p14:creationId xmlns:p14="http://schemas.microsoft.com/office/powerpoint/2010/main" val="19703606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AC680-E4E4-7A6C-4546-A5EB2DBA543A}"/>
            </a:ext>
          </a:extLst>
        </p:cNvPr>
        <p:cNvGrpSpPr/>
        <p:nvPr/>
      </p:nvGrpSpPr>
      <p:grpSpPr>
        <a:xfrm>
          <a:off x="0" y="0"/>
          <a:ext cx="0" cy="0"/>
          <a:chOff x="0" y="0"/>
          <a:chExt cx="0" cy="0"/>
        </a:xfrm>
      </p:grpSpPr>
      <p:sp>
        <p:nvSpPr>
          <p:cNvPr id="4" name="Google Shape;55;p13">
            <a:extLst>
              <a:ext uri="{FF2B5EF4-FFF2-40B4-BE49-F238E27FC236}">
                <a16:creationId xmlns:a16="http://schemas.microsoft.com/office/drawing/2014/main" id="{3D0078AD-D559-A6EC-794C-E8B38AD5B4FC}"/>
              </a:ext>
            </a:extLst>
          </p:cNvPr>
          <p:cNvSpPr txBox="1">
            <a:spLocks/>
          </p:cNvSpPr>
          <p:nvPr/>
        </p:nvSpPr>
        <p:spPr>
          <a:xfrm>
            <a:off x="0" y="-121920"/>
            <a:ext cx="9144000" cy="903841"/>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r>
              <a:rPr lang="en-IN" sz="2800" b="1" dirty="0">
                <a:latin typeface="Times New Roman" panose="02020603050405020304" pitchFamily="18" charset="0"/>
                <a:cs typeface="Times New Roman" panose="02020603050405020304" pitchFamily="18" charset="0"/>
              </a:rPr>
              <a:t> </a:t>
            </a:r>
          </a:p>
        </p:txBody>
      </p:sp>
      <p:sp>
        <p:nvSpPr>
          <p:cNvPr id="5" name="Google Shape;55;p13">
            <a:extLst>
              <a:ext uri="{FF2B5EF4-FFF2-40B4-BE49-F238E27FC236}">
                <a16:creationId xmlns:a16="http://schemas.microsoft.com/office/drawing/2014/main" id="{11D586B0-C5DF-803E-3591-5EBD826A7952}"/>
              </a:ext>
            </a:extLst>
          </p:cNvPr>
          <p:cNvSpPr txBox="1">
            <a:spLocks/>
          </p:cNvSpPr>
          <p:nvPr/>
        </p:nvSpPr>
        <p:spPr>
          <a:xfrm>
            <a:off x="-294319" y="206910"/>
            <a:ext cx="9296079" cy="472968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482600" lvl="1" indent="0" algn="just"/>
            <a:endParaRPr lang="en-IN" sz="16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800" b="1" dirty="0">
                <a:solidFill>
                  <a:schemeClr val="tx1"/>
                </a:solidFill>
                <a:latin typeface="Times New Roman" panose="02020603050405020304" pitchFamily="18" charset="0"/>
                <a:cs typeface="Times New Roman" panose="02020603050405020304" pitchFamily="18" charset="0"/>
              </a:rPr>
              <a:t>20.</a:t>
            </a:r>
            <a:r>
              <a:rPr lang="en-IN" sz="1800" dirty="0"/>
              <a:t> </a:t>
            </a:r>
            <a:r>
              <a:rPr lang="en-IN" sz="1800" b="1" dirty="0">
                <a:solidFill>
                  <a:schemeClr val="tx1"/>
                </a:solidFill>
                <a:latin typeface="Times New Roman" panose="02020603050405020304" pitchFamily="18" charset="0"/>
                <a:cs typeface="Times New Roman" panose="02020603050405020304" pitchFamily="18" charset="0"/>
              </a:rPr>
              <a:t>ILDC for CJPE: Indian Legal Documents Corpus for Court Judgment Prediction and Explanation</a:t>
            </a:r>
            <a:endParaRPr lang="en-US" sz="1800" b="1" dirty="0">
              <a:solidFill>
                <a:schemeClr val="tx1"/>
              </a:solidFill>
              <a:latin typeface="Times New Roman" panose="02020603050405020304" pitchFamily="18" charset="0"/>
              <a:cs typeface="Times New Roman" panose="02020603050405020304" pitchFamily="18" charset="0"/>
            </a:endParaRPr>
          </a:p>
          <a:p>
            <a:pPr marL="482600" lvl="1" indent="0" algn="just"/>
            <a:endParaRPr lang="en-IN" sz="20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Introduction: </a:t>
            </a:r>
            <a:r>
              <a:rPr lang="en-IN" sz="1400" dirty="0">
                <a:solidFill>
                  <a:schemeClr val="tx1"/>
                </a:solidFill>
                <a:latin typeface="Times New Roman" panose="02020603050405020304" pitchFamily="18" charset="0"/>
                <a:cs typeface="Times New Roman" panose="02020603050405020304" pitchFamily="18" charset="0"/>
              </a:rPr>
              <a:t>ILDC for CJPE introduces the Indian Legal Documents Corpus (ILDC) for automated court judgment prediction and explanation.</a:t>
            </a:r>
          </a:p>
          <a:p>
            <a:pPr marL="482600" lvl="1" indent="0" algn="just"/>
            <a:endParaRPr lang="en-IN" sz="14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err="1">
                <a:solidFill>
                  <a:schemeClr val="tx1"/>
                </a:solidFill>
                <a:latin typeface="Times New Roman" panose="02020603050405020304" pitchFamily="18" charset="0"/>
                <a:cs typeface="Times New Roman" panose="02020603050405020304" pitchFamily="18" charset="0"/>
              </a:rPr>
              <a:t>Objective:</a:t>
            </a:r>
            <a:r>
              <a:rPr lang="en-IN" sz="1400" dirty="0" err="1">
                <a:solidFill>
                  <a:schemeClr val="tx1"/>
                </a:solidFill>
                <a:latin typeface="Times New Roman" panose="02020603050405020304" pitchFamily="18" charset="0"/>
                <a:cs typeface="Times New Roman" panose="02020603050405020304" pitchFamily="18" charset="0"/>
              </a:rPr>
              <a:t>The</a:t>
            </a:r>
            <a:r>
              <a:rPr lang="en-IN" sz="1400" dirty="0">
                <a:solidFill>
                  <a:schemeClr val="tx1"/>
                </a:solidFill>
                <a:latin typeface="Times New Roman" panose="02020603050405020304" pitchFamily="18" charset="0"/>
                <a:cs typeface="Times New Roman" panose="02020603050405020304" pitchFamily="18" charset="0"/>
              </a:rPr>
              <a:t> main objective is to develop AI systems that can predict the outcome of Indian Supreme Court cases with understandable explanations.</a:t>
            </a:r>
          </a:p>
          <a:p>
            <a:pPr marL="482600" lvl="1" indent="0" algn="just"/>
            <a:endParaRPr lang="en-IN" sz="1400"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Methodology: </a:t>
            </a:r>
            <a:r>
              <a:rPr lang="en-IN" sz="1400" dirty="0">
                <a:solidFill>
                  <a:schemeClr val="tx1"/>
                </a:solidFill>
                <a:latin typeface="Times New Roman" panose="02020603050405020304" pitchFamily="18" charset="0"/>
                <a:cs typeface="Times New Roman" panose="02020603050405020304" pitchFamily="18" charset="0"/>
              </a:rPr>
              <a:t>The authors create ILDC containing around 35,000 Indian Supreme Court cases annotated with their original court decisions. Several baseline models are evaluated for court judgment prediction, and a hierarchical occlusion-based model is proposed for generating explanations.</a:t>
            </a:r>
          </a:p>
          <a:p>
            <a:pPr marL="482600" lvl="1" indent="0" algn="just"/>
            <a:endParaRPr lang="en-IN" sz="14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Results: </a:t>
            </a:r>
            <a:r>
              <a:rPr lang="en-IN" sz="1400" dirty="0">
                <a:solidFill>
                  <a:schemeClr val="tx1"/>
                </a:solidFill>
                <a:latin typeface="Times New Roman" panose="02020603050405020304" pitchFamily="18" charset="0"/>
                <a:cs typeface="Times New Roman" panose="02020603050405020304" pitchFamily="18" charset="0"/>
              </a:rPr>
              <a:t>The best prediction model achieved 78% accuracy, while human legal experts achieved approximately 94% accuracy. Analysis showed a significant difference between the explanations generated by the model and those provided by legal experts, demonstrating that explainable legal reasoning remains challenging.</a:t>
            </a:r>
          </a:p>
          <a:p>
            <a:pPr marL="482600" lvl="1" indent="0" algn="just"/>
            <a:endParaRPr lang="en-IN" sz="1400" b="1" dirty="0">
              <a:solidFill>
                <a:schemeClr val="tx1"/>
              </a:solidFill>
              <a:latin typeface="Times New Roman" panose="02020603050405020304" pitchFamily="18" charset="0"/>
              <a:cs typeface="Times New Roman" panose="02020603050405020304" pitchFamily="18" charset="0"/>
            </a:endParaRPr>
          </a:p>
          <a:p>
            <a:pPr marL="482600" lvl="1" indent="0" algn="just"/>
            <a:r>
              <a:rPr lang="en-IN" sz="1400" b="1" dirty="0">
                <a:solidFill>
                  <a:schemeClr val="tx1"/>
                </a:solidFill>
                <a:latin typeface="Times New Roman" panose="02020603050405020304" pitchFamily="18" charset="0"/>
                <a:cs typeface="Times New Roman" panose="02020603050405020304" pitchFamily="18" charset="0"/>
              </a:rPr>
              <a:t>Limitations and Future Scope: </a:t>
            </a:r>
            <a:r>
              <a:rPr lang="en-IN" sz="1400" dirty="0">
                <a:solidFill>
                  <a:schemeClr val="tx1"/>
                </a:solidFill>
                <a:latin typeface="Times New Roman" panose="02020603050405020304" pitchFamily="18" charset="0"/>
                <a:cs typeface="Times New Roman" panose="02020603050405020304" pitchFamily="18" charset="0"/>
              </a:rPr>
              <a:t>Future work can improve explanation quality using RAG, LLMs, multi-agent reasoning, and stronger legal evidence retrieval, particularly for building explainable Indian legal assistants.</a:t>
            </a:r>
          </a:p>
          <a:p>
            <a:pPr marL="482600" lvl="1" indent="0" algn="just"/>
            <a:endParaRPr lang="en-IN" sz="1450" b="1" dirty="0">
              <a:solidFill>
                <a:schemeClr val="tx1"/>
              </a:solidFill>
              <a:latin typeface="Times New Roman" panose="02020603050405020304" pitchFamily="18" charset="0"/>
              <a:cs typeface="Times New Roman" panose="02020603050405020304" pitchFamily="18" charset="0"/>
            </a:endParaRPr>
          </a:p>
          <a:p>
            <a:pPr marL="482600" lvl="1" indent="0" algn="just"/>
            <a:endParaRPr lang="en-IN" sz="145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804882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Limitations of Existing Approaches (Summary)</a:t>
            </a:r>
          </a:p>
        </p:txBody>
      </p:sp>
      <p:sp>
        <p:nvSpPr>
          <p:cNvPr id="6" name="Rectangle 5"/>
          <p:cNvSpPr/>
          <p:nvPr/>
        </p:nvSpPr>
        <p:spPr>
          <a:xfrm>
            <a:off x="91440" y="660001"/>
            <a:ext cx="9052560" cy="4783874"/>
          </a:xfrm>
          <a:prstGeom prst="rect">
            <a:avLst/>
          </a:prstGeom>
        </p:spPr>
        <p:txBody>
          <a:bodyPr wrap="square">
            <a:spAutoFit/>
          </a:bodyPr>
          <a:lstStyle/>
          <a:p>
            <a:pPr algn="just">
              <a:lnSpc>
                <a:spcPct val="107000"/>
              </a:lnSpc>
              <a:spcAft>
                <a:spcPts val="800"/>
              </a:spcAft>
            </a:pP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1. Algorithm Issues: </a:t>
            </a:r>
            <a:r>
              <a:rPr lang="en-US" sz="2000" dirty="0">
                <a:latin typeface="Times New Roman" panose="02020603050405020304" pitchFamily="18" charset="0"/>
                <a:ea typeface="Times New Roman" panose="02020603050405020304" pitchFamily="18" charset="0"/>
                <a:cs typeface="Times New Roman" panose="02020603050405020304" pitchFamily="18" charset="0"/>
              </a:rPr>
              <a:t>Most existing algorithms rely on single-agent reasoning and focus on individual legal tasks, making them less effective for long-document analysis, adversarial reasoning, and collaborative decision-making.</a:t>
            </a:r>
            <a:endParaRPr lang="en-US" sz="2000"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2. Multi-Agent System Issues: </a:t>
            </a:r>
            <a:r>
              <a:rPr lang="en-US" sz="2000" dirty="0">
                <a:latin typeface="Times New Roman" panose="02020603050405020304" pitchFamily="18" charset="0"/>
                <a:ea typeface="Times New Roman" panose="02020603050405020304" pitchFamily="18" charset="0"/>
                <a:cs typeface="Times New Roman" panose="02020603050405020304" pitchFamily="18" charset="0"/>
              </a:rPr>
              <a:t>Current multi-agent frameworks are general-purpose and do not simulate specialized legal professionals, consensus building, or conflict resolution required for complete legal document review.</a:t>
            </a:r>
            <a:endParaRPr lang="en-US" sz="2000"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3. Explain-ability Issues: </a:t>
            </a:r>
            <a:r>
              <a:rPr lang="en-US" sz="2000" dirty="0">
                <a:latin typeface="Times New Roman" panose="02020603050405020304" pitchFamily="18" charset="0"/>
                <a:ea typeface="Times New Roman" panose="02020603050405020304" pitchFamily="18" charset="0"/>
                <a:cs typeface="Times New Roman" panose="02020603050405020304" pitchFamily="18" charset="0"/>
              </a:rPr>
              <a:t>Most legal AI systems offer limited transparency and explain-ability, providing insufficient evidence, confidence scores, and reasoning behind their recommendations.</a:t>
            </a:r>
            <a:endParaRPr lang="en-US" sz="2000"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4. Overall Research Gap: </a:t>
            </a:r>
            <a:r>
              <a:rPr lang="en-US" sz="2000" dirty="0">
                <a:latin typeface="Times New Roman" panose="02020603050405020304" pitchFamily="18" charset="0"/>
                <a:ea typeface="Times New Roman" panose="02020603050405020304" pitchFamily="18" charset="0"/>
                <a:cs typeface="Times New Roman" panose="02020603050405020304" pitchFamily="18" charset="0"/>
              </a:rPr>
              <a:t>There is currently no unified legal AI framework that integrates multi-agent collaboration, adversarial legal stress testing, and comprehensive legal risk assessment into a single end-to-end legal document review system.</a:t>
            </a:r>
            <a:endParaRPr lang="en-US" sz="2000"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r>
              <a:rPr lang="en-US" sz="2000" dirty="0">
                <a:latin typeface="Times New Roman" panose="02020603050405020304" pitchFamily="18" charset="0"/>
                <a:ea typeface="Calibri" panose="020F0502020204030204" pitchFamily="34" charset="0"/>
                <a:cs typeface="Times New Roman" panose="02020603050405020304" pitchFamily="18" charset="0"/>
              </a:rPr>
              <a:t> </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0320333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Research Gap </a:t>
            </a:r>
          </a:p>
        </p:txBody>
      </p:sp>
      <p:sp>
        <p:nvSpPr>
          <p:cNvPr id="2" name="Rectangle 1"/>
          <p:cNvSpPr/>
          <p:nvPr/>
        </p:nvSpPr>
        <p:spPr>
          <a:xfrm>
            <a:off x="0" y="781921"/>
            <a:ext cx="9060180" cy="4114973"/>
          </a:xfrm>
          <a:prstGeom prst="rect">
            <a:avLst/>
          </a:prstGeom>
        </p:spPr>
        <p:txBody>
          <a:bodyPr wrap="square">
            <a:spAutoFit/>
          </a:bodyPr>
          <a:lstStyle/>
          <a:p>
            <a:pPr marL="342900" lvl="0" indent="-342900" algn="just">
              <a:buFont typeface="+mj-lt"/>
              <a:buAutoNum type="arabicPeriod"/>
            </a:pP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Limited Specialized Multi-Agent Collaboration: </a:t>
            </a:r>
            <a:r>
              <a:rPr lang="en-US" sz="2000" dirty="0">
                <a:latin typeface="Times New Roman" panose="02020603050405020304" pitchFamily="18" charset="0"/>
                <a:ea typeface="Times New Roman" panose="02020603050405020304" pitchFamily="18" charset="0"/>
                <a:cs typeface="Times New Roman" panose="02020603050405020304" pitchFamily="18" charset="0"/>
              </a:rPr>
              <a:t>Current multi-agent systems do not simulate specialized legal professionals working together in a collaborative review process.</a:t>
            </a:r>
            <a:endParaRPr 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buFont typeface="+mj-lt"/>
              <a:buAutoNum type="arabicPeriod"/>
            </a:pP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Absence of Adversarial Legal Analysis: </a:t>
            </a:r>
            <a:r>
              <a:rPr lang="en-US" sz="2000" dirty="0">
                <a:latin typeface="Times New Roman" panose="02020603050405020304" pitchFamily="18" charset="0"/>
                <a:ea typeface="Times New Roman" panose="02020603050405020304" pitchFamily="18" charset="0"/>
                <a:cs typeface="Times New Roman" panose="02020603050405020304" pitchFamily="18" charset="0"/>
              </a:rPr>
              <a:t>Existing approaches do not proactively identify litigation vulnerabilities, loopholes, and weaknesses from an opposing counsel's perspective.</a:t>
            </a:r>
            <a:endParaRPr 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buFont typeface="+mj-lt"/>
              <a:buAutoNum type="arabicPeriod"/>
            </a:pP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Limited </a:t>
            </a:r>
            <a:r>
              <a:rPr lang="en-US" sz="2000" b="1" dirty="0" err="1">
                <a:latin typeface="Times New Roman" panose="02020603050405020304" pitchFamily="18" charset="0"/>
                <a:ea typeface="Times New Roman" panose="02020603050405020304" pitchFamily="18" charset="0"/>
                <a:cs typeface="Times New Roman" panose="02020603050405020304" pitchFamily="18" charset="0"/>
              </a:rPr>
              <a:t>Explainability</a:t>
            </a: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 and Consensus:</a:t>
            </a:r>
            <a:r>
              <a:rPr lang="en-US" sz="2000" dirty="0">
                <a:latin typeface="Times New Roman" panose="02020603050405020304" pitchFamily="18" charset="0"/>
                <a:ea typeface="Times New Roman" panose="02020603050405020304" pitchFamily="18" charset="0"/>
                <a:cs typeface="Times New Roman" panose="02020603050405020304" pitchFamily="18" charset="0"/>
              </a:rPr>
              <a:t> Most systems lack explainable recommendations, consensus-based decision-making, and conflict resolution among multiple legal opinions.</a:t>
            </a:r>
            <a:endParaRPr 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buFont typeface="+mj-lt"/>
              <a:buAutoNum type="arabicPeriod"/>
            </a:pP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Lack of Comprehensive Legal Risk Assessment: </a:t>
            </a:r>
            <a:r>
              <a:rPr lang="en-US" sz="2000" dirty="0">
                <a:latin typeface="Times New Roman" panose="02020603050405020304" pitchFamily="18" charset="0"/>
                <a:ea typeface="Times New Roman" panose="02020603050405020304" pitchFamily="18" charset="0"/>
                <a:cs typeface="Times New Roman" panose="02020603050405020304" pitchFamily="18" charset="0"/>
              </a:rPr>
              <a:t>Existing research does not provide holistic document strength evaluation, clause-level risk analysis, or actionable recommendations for strengthening legal documents.</a:t>
            </a:r>
            <a:endParaRPr 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07000"/>
              </a:lnSpc>
              <a:spcAft>
                <a:spcPts val="800"/>
              </a:spcAft>
            </a:pPr>
            <a:r>
              <a:rPr lang="en-US" sz="2000" dirty="0">
                <a:latin typeface="Times New Roman" panose="02020603050405020304" pitchFamily="18" charset="0"/>
                <a:ea typeface="Calibri" panose="020F0502020204030204" pitchFamily="34" charset="0"/>
                <a:cs typeface="Times New Roman" panose="02020603050405020304" pitchFamily="18" charset="0"/>
              </a:rPr>
              <a:t> </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121118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Research Gap </a:t>
            </a:r>
          </a:p>
        </p:txBody>
      </p:sp>
      <p:graphicFrame>
        <p:nvGraphicFramePr>
          <p:cNvPr id="2" name="Table 3">
            <a:extLst>
              <a:ext uri="{FF2B5EF4-FFF2-40B4-BE49-F238E27FC236}">
                <a16:creationId xmlns:a16="http://schemas.microsoft.com/office/drawing/2014/main" id="{44451AF8-973F-4C97-8884-95D429B32473}"/>
              </a:ext>
            </a:extLst>
          </p:cNvPr>
          <p:cNvGraphicFramePr>
            <a:graphicFrameLocks noGrp="1"/>
          </p:cNvGraphicFramePr>
          <p:nvPr>
            <p:extLst>
              <p:ext uri="{D42A27DB-BD31-4B8C-83A1-F6EECF244321}">
                <p14:modId xmlns:p14="http://schemas.microsoft.com/office/powerpoint/2010/main" val="965079985"/>
              </p:ext>
            </p:extLst>
          </p:nvPr>
        </p:nvGraphicFramePr>
        <p:xfrm>
          <a:off x="368448" y="538080"/>
          <a:ext cx="8238564" cy="4258553"/>
        </p:xfrm>
        <a:graphic>
          <a:graphicData uri="http://schemas.openxmlformats.org/drawingml/2006/table">
            <a:tbl>
              <a:tblPr firstRow="1" bandRow="1">
                <a:tableStyleId>{5C22544A-7EE6-4342-B048-85BDC9FD1C3A}</a:tableStyleId>
              </a:tblPr>
              <a:tblGrid>
                <a:gridCol w="3056966">
                  <a:extLst>
                    <a:ext uri="{9D8B030D-6E8A-4147-A177-3AD203B41FA5}">
                      <a16:colId xmlns:a16="http://schemas.microsoft.com/office/drawing/2014/main" val="2563268523"/>
                    </a:ext>
                  </a:extLst>
                </a:gridCol>
                <a:gridCol w="2435410">
                  <a:extLst>
                    <a:ext uri="{9D8B030D-6E8A-4147-A177-3AD203B41FA5}">
                      <a16:colId xmlns:a16="http://schemas.microsoft.com/office/drawing/2014/main" val="2089377196"/>
                    </a:ext>
                  </a:extLst>
                </a:gridCol>
                <a:gridCol w="2746188">
                  <a:extLst>
                    <a:ext uri="{9D8B030D-6E8A-4147-A177-3AD203B41FA5}">
                      <a16:colId xmlns:a16="http://schemas.microsoft.com/office/drawing/2014/main" val="1629991231"/>
                    </a:ext>
                  </a:extLst>
                </a:gridCol>
              </a:tblGrid>
              <a:tr h="492810">
                <a:tc>
                  <a:txBody>
                    <a:bodyPr/>
                    <a:lstStyle/>
                    <a:p>
                      <a:r>
                        <a:rPr lang="en-US" sz="2000" dirty="0">
                          <a:latin typeface="Times New Roman" panose="02020603050405020304" pitchFamily="18" charset="0"/>
                          <a:cs typeface="Times New Roman" panose="02020603050405020304" pitchFamily="18" charset="0"/>
                        </a:rPr>
                        <a:t>Existing Findings</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Limitations</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Research Gap</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76633816"/>
                  </a:ext>
                </a:extLst>
              </a:tr>
              <a:tr h="492810">
                <a:tc>
                  <a:txBody>
                    <a:bodyPr/>
                    <a:lstStyle/>
                    <a:p>
                      <a:pPr marL="0" marR="0">
                        <a:lnSpc>
                          <a:spcPct val="107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Existing legal AI systems effectively perform tasks such as legal question answering, contract review, clause extraction, and document summarization.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They focus on isolated tasks rather than the complete legal document review process.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A unified end-to-end legal document review framework is needed.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558744182"/>
                  </a:ext>
                </a:extLst>
              </a:tr>
              <a:tr h="492810">
                <a:tc>
                  <a:txBody>
                    <a:bodyPr/>
                    <a:lstStyle/>
                    <a:p>
                      <a:pPr marL="0" marR="0">
                        <a:lnSpc>
                          <a:spcPct val="107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Multi-agent AI frameworks improve collaboration among AI agents for complex tasks.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They are general-purpose and do not simulate specialized legal professionals or legal workflows.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A legal-specific multi-agent system with specialized legal roles is required.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573194546"/>
                  </a:ext>
                </a:extLst>
              </a:tr>
              <a:tr h="492810">
                <a:tc>
                  <a:txBody>
                    <a:bodyPr/>
                    <a:lstStyle/>
                    <a:p>
                      <a:pPr marL="0" marR="0">
                        <a:lnSpc>
                          <a:spcPct val="107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Legal NLP models can classify clauses, retrieve legal information, and perform legal reasoning.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They do not perform adversarial analysis to identify loopholes, litigation risks, or exploitable weaknesses.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An adversarial legal document stress-testing framework is needed.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25215930"/>
                  </a:ext>
                </a:extLst>
              </a:tr>
              <a:tr h="492810">
                <a:tc>
                  <a:txBody>
                    <a:bodyPr/>
                    <a:lstStyle/>
                    <a:p>
                      <a:pPr marL="0" marR="0">
                        <a:lnSpc>
                          <a:spcPct val="107000"/>
                        </a:lnSpc>
                        <a:spcBef>
                          <a:spcPts val="0"/>
                        </a:spcBef>
                        <a:spcAft>
                          <a:spcPts val="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Explainable AI techniques improve transparency and model interpretability.</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Existing legal AI systems provide limited evidence-backed explanations, consensus generation, and confidence estimation.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An explainable legal AI system with consensus-based decision-making is needed.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881091722"/>
                  </a:ext>
                </a:extLst>
              </a:tr>
              <a:tr h="492810">
                <a:tc>
                  <a:txBody>
                    <a:bodyPr/>
                    <a:lstStyle/>
                    <a:p>
                      <a:pPr marL="0" marR="0">
                        <a:lnSpc>
                          <a:spcPct val="107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Legal benchmarks and datasets enable evaluation of Legal NLP models.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They evaluate individual tasks rather than assessing overall document quality and legal risk.</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A comprehensive legal risk assessment framework with document strength scoring and actionable recommendations is required.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249890358"/>
                  </a:ext>
                </a:extLst>
              </a:tr>
            </a:tbl>
          </a:graphicData>
        </a:graphic>
      </p:graphicFrame>
    </p:spTree>
    <p:extLst>
      <p:ext uri="{BB962C8B-B14F-4D97-AF65-F5344CB8AC3E}">
        <p14:creationId xmlns:p14="http://schemas.microsoft.com/office/powerpoint/2010/main" val="25320879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Problem Statement</a:t>
            </a:r>
          </a:p>
        </p:txBody>
      </p:sp>
      <p:sp>
        <p:nvSpPr>
          <p:cNvPr id="2" name="Rectangle 1"/>
          <p:cNvSpPr/>
          <p:nvPr/>
        </p:nvSpPr>
        <p:spPr>
          <a:xfrm>
            <a:off x="111760" y="781921"/>
            <a:ext cx="8920480" cy="3785652"/>
          </a:xfrm>
          <a:prstGeom prst="rect">
            <a:avLst/>
          </a:prstGeom>
        </p:spPr>
        <p:txBody>
          <a:bodyPr wrap="square">
            <a:spAutoFit/>
          </a:bodyPr>
          <a:lstStyle/>
          <a:p>
            <a:pPr algn="just"/>
            <a:r>
              <a:rPr lang="en-US" sz="2000" b="1" dirty="0">
                <a:latin typeface="Times New Roman" panose="02020603050405020304" pitchFamily="18" charset="0"/>
                <a:ea typeface="Times New Roman" panose="02020603050405020304" pitchFamily="18" charset="0"/>
              </a:rPr>
              <a:t>1. Background of the Problem: </a:t>
            </a:r>
            <a:r>
              <a:rPr lang="en-US" sz="2000" dirty="0">
                <a:latin typeface="Times New Roman" panose="02020603050405020304" pitchFamily="18" charset="0"/>
                <a:ea typeface="Times New Roman" panose="02020603050405020304" pitchFamily="18" charset="0"/>
              </a:rPr>
              <a:t>Legal documents such as contracts, agreements, and court filings require thorough review by multiple legal experts to identify ambiguities, inconsistencies, compliance issues, and potential litigation risks, making the review process both time-consuming and expensive. </a:t>
            </a:r>
          </a:p>
          <a:p>
            <a:pPr marL="457200" indent="-457200" algn="just">
              <a:buFont typeface="+mj-lt"/>
              <a:buAutoNum type="arabicPeriod"/>
            </a:pPr>
            <a:endParaRPr lang="en-US" sz="2000" dirty="0">
              <a:latin typeface="Times New Roman" panose="02020603050405020304" pitchFamily="18" charset="0"/>
              <a:ea typeface="Times New Roman" panose="02020603050405020304" pitchFamily="18" charset="0"/>
            </a:endParaRPr>
          </a:p>
          <a:p>
            <a:pPr lvl="1" algn="just"/>
            <a:r>
              <a:rPr lang="en-US" sz="2000" b="1" dirty="0">
                <a:latin typeface="Times New Roman" panose="02020603050405020304" pitchFamily="18" charset="0"/>
                <a:ea typeface="Times New Roman" panose="02020603050405020304" pitchFamily="18" charset="0"/>
              </a:rPr>
              <a:t>2. Current Challenges: </a:t>
            </a:r>
            <a:r>
              <a:rPr lang="en-US" sz="2000" dirty="0">
                <a:latin typeface="Times New Roman" panose="02020603050405020304" pitchFamily="18" charset="0"/>
                <a:ea typeface="Times New Roman" panose="02020603050405020304" pitchFamily="18" charset="0"/>
              </a:rPr>
              <a:t>Existing AI-based legal tools primarily focus on tasks such as document summarization, clause extraction, contract comparison, and legal research, but fail to analyze documents from multiple legal perspectives.</a:t>
            </a:r>
          </a:p>
          <a:p>
            <a:pPr lvl="1" algn="just"/>
            <a:endParaRPr lang="en-US" sz="2000" dirty="0">
              <a:latin typeface="Times New Roman" panose="02020603050405020304" pitchFamily="18" charset="0"/>
              <a:ea typeface="Times New Roman" panose="02020603050405020304" pitchFamily="18" charset="0"/>
            </a:endParaRPr>
          </a:p>
          <a:p>
            <a:pPr algn="just"/>
            <a:r>
              <a:rPr lang="en-US" sz="2000" b="1" dirty="0">
                <a:latin typeface="Times New Roman" panose="02020603050405020304" pitchFamily="18" charset="0"/>
                <a:ea typeface="Times New Roman" panose="02020603050405020304" pitchFamily="18" charset="0"/>
              </a:rPr>
              <a:t>3. Impact of the Problem: </a:t>
            </a:r>
            <a:r>
              <a:rPr lang="en-US" sz="2000" dirty="0">
                <a:latin typeface="Times New Roman" panose="02020603050405020304" pitchFamily="18" charset="0"/>
                <a:ea typeface="Times New Roman" panose="02020603050405020304" pitchFamily="18" charset="0"/>
              </a:rPr>
              <a:t>Undetected weaknesses in legal documents can lead to contract disputes, regulatory violations, etc. while the high cost of expert legal review limits access to comprehensive document analysis for many organizations. </a:t>
            </a:r>
            <a:r>
              <a:rPr lang="en-US" sz="2000" dirty="0">
                <a:latin typeface="Calibri" panose="020F0502020204030204" pitchFamily="34" charset="0"/>
                <a:ea typeface="Calibri" panose="020F0502020204030204" pitchFamily="34" charset="0"/>
                <a:cs typeface="Times New Roman" panose="02020603050405020304" pitchFamily="18" charset="0"/>
              </a:rPr>
              <a:t>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0983953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Problem Statement</a:t>
            </a:r>
          </a:p>
        </p:txBody>
      </p:sp>
      <p:sp>
        <p:nvSpPr>
          <p:cNvPr id="2" name="Rectangle 1"/>
          <p:cNvSpPr/>
          <p:nvPr/>
        </p:nvSpPr>
        <p:spPr>
          <a:xfrm>
            <a:off x="111760" y="913941"/>
            <a:ext cx="8920480" cy="2862322"/>
          </a:xfrm>
          <a:prstGeom prst="rect">
            <a:avLst/>
          </a:prstGeom>
        </p:spPr>
        <p:txBody>
          <a:bodyPr wrap="square">
            <a:spAutoFit/>
          </a:bodyPr>
          <a:lstStyle/>
          <a:p>
            <a:pPr algn="just"/>
            <a:r>
              <a:rPr lang="en-US" sz="2000" b="1" dirty="0">
                <a:latin typeface="Times New Roman" panose="02020603050405020304" pitchFamily="18" charset="0"/>
                <a:ea typeface="Times New Roman" panose="02020603050405020304" pitchFamily="18" charset="0"/>
              </a:rPr>
              <a:t>4. Why Existing Methods are Insufficient: </a:t>
            </a:r>
            <a:r>
              <a:rPr lang="en-US" sz="2000" dirty="0">
                <a:latin typeface="Times New Roman" panose="02020603050405020304" pitchFamily="18" charset="0"/>
                <a:ea typeface="Times New Roman" panose="02020603050405020304" pitchFamily="18" charset="0"/>
              </a:rPr>
              <a:t>Current legal AI systems do not simulate collaborative legal review, adversarial analysis, or consensus-based reasoning among multiple experts, and therefore cannot provide transparent, evidence-backed identification.</a:t>
            </a:r>
          </a:p>
          <a:p>
            <a:pPr algn="just"/>
            <a:endParaRPr lang="en-US" sz="2000" dirty="0">
              <a:latin typeface="Times New Roman" panose="02020603050405020304" pitchFamily="18" charset="0"/>
              <a:ea typeface="Times New Roman" panose="02020603050405020304" pitchFamily="18" charset="0"/>
            </a:endParaRPr>
          </a:p>
          <a:p>
            <a:pPr algn="just"/>
            <a:r>
              <a:rPr lang="en-US" sz="2000" b="1" dirty="0">
                <a:latin typeface="Times New Roman" panose="02020603050405020304" pitchFamily="18" charset="0"/>
                <a:ea typeface="Times New Roman" panose="02020603050405020304" pitchFamily="18" charset="0"/>
              </a:rPr>
              <a:t>5. Problem to be Addressed: </a:t>
            </a:r>
            <a:r>
              <a:rPr lang="en-US" sz="2000" dirty="0">
                <a:latin typeface="Times New Roman" panose="02020603050405020304" pitchFamily="18" charset="0"/>
                <a:ea typeface="Times New Roman" panose="02020603050405020304" pitchFamily="18" charset="0"/>
              </a:rPr>
              <a:t>The proposed project aims to develop an explainable Multi-Agent AI system that simulates a complete legal review team to perform adversarial legal document stress testing, identify vulnerabilities from multiple perspectives.</a:t>
            </a:r>
          </a:p>
        </p:txBody>
      </p:sp>
    </p:spTree>
    <p:extLst>
      <p:ext uri="{BB962C8B-B14F-4D97-AF65-F5344CB8AC3E}">
        <p14:creationId xmlns:p14="http://schemas.microsoft.com/office/powerpoint/2010/main" val="24315589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Objectives of  the Proposed Work</a:t>
            </a:r>
          </a:p>
        </p:txBody>
      </p:sp>
      <p:sp>
        <p:nvSpPr>
          <p:cNvPr id="4" name="Google Shape;55;p13">
            <a:extLst>
              <a:ext uri="{FF2B5EF4-FFF2-40B4-BE49-F238E27FC236}">
                <a16:creationId xmlns:a16="http://schemas.microsoft.com/office/drawing/2014/main" id="{02A6B061-580E-44CA-A7DA-E7D66321B948}"/>
              </a:ext>
            </a:extLst>
          </p:cNvPr>
          <p:cNvSpPr txBox="1">
            <a:spLocks/>
          </p:cNvSpPr>
          <p:nvPr/>
        </p:nvSpPr>
        <p:spPr>
          <a:xfrm>
            <a:off x="73980" y="781921"/>
            <a:ext cx="8691239" cy="418631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368300" algn="just">
              <a:buFont typeface="Arial" panose="020B0604020202020204" pitchFamily="34" charset="0"/>
              <a:buChar char="•"/>
            </a:pPr>
            <a:r>
              <a:rPr lang="en-US" sz="2400" dirty="0">
                <a:solidFill>
                  <a:schemeClr val="tx1"/>
                </a:solidFill>
                <a:latin typeface="Times New Roman" panose="02020603050405020304" pitchFamily="18" charset="0"/>
                <a:cs typeface="Times New Roman" panose="02020603050405020304" pitchFamily="18" charset="0"/>
              </a:rPr>
              <a:t>To implement an Explainable Multi-Agent Artificial Intelligence system for adversarial legal document review and vulnerability analysis.</a:t>
            </a:r>
          </a:p>
          <a:p>
            <a:pPr marL="368300" algn="just">
              <a:buFont typeface="Arial" panose="020B0604020202020204" pitchFamily="34" charset="0"/>
              <a:buChar char="•"/>
            </a:pPr>
            <a:endParaRPr lang="en-US" sz="2400" dirty="0">
              <a:solidFill>
                <a:schemeClr val="tx1"/>
              </a:solidFill>
              <a:latin typeface="Times New Roman" panose="02020603050405020304" pitchFamily="18" charset="0"/>
              <a:cs typeface="Times New Roman" panose="02020603050405020304" pitchFamily="18" charset="0"/>
            </a:endParaRPr>
          </a:p>
          <a:p>
            <a:pPr marL="368300" algn="just">
              <a:buFont typeface="Arial" panose="020B0604020202020204" pitchFamily="34" charset="0"/>
              <a:buChar char="•"/>
            </a:pPr>
            <a:r>
              <a:rPr lang="en-US" sz="2400" dirty="0">
                <a:solidFill>
                  <a:schemeClr val="tx1"/>
                </a:solidFill>
                <a:latin typeface="Times New Roman" panose="02020603050405020304" pitchFamily="18" charset="0"/>
                <a:cs typeface="Times New Roman" panose="02020603050405020304" pitchFamily="18" charset="0"/>
              </a:rPr>
              <a:t>To simulate multiple legal experts using specialized AI agents and consolidate their findings through a Consensus Engine for comprehensive document evaluation.</a:t>
            </a:r>
          </a:p>
          <a:p>
            <a:pPr marL="368300" algn="just">
              <a:buFont typeface="Arial" panose="020B0604020202020204" pitchFamily="34" charset="0"/>
              <a:buChar char="•"/>
            </a:pPr>
            <a:endParaRPr lang="en-US" sz="2400" dirty="0">
              <a:solidFill>
                <a:schemeClr val="tx1"/>
              </a:solidFill>
              <a:latin typeface="Times New Roman" panose="02020603050405020304" pitchFamily="18" charset="0"/>
              <a:cs typeface="Times New Roman" panose="02020603050405020304" pitchFamily="18" charset="0"/>
            </a:endParaRPr>
          </a:p>
          <a:p>
            <a:pPr marL="368300" algn="just">
              <a:buFont typeface="Arial" panose="020B0604020202020204" pitchFamily="34" charset="0"/>
              <a:buChar char="•"/>
            </a:pPr>
            <a:r>
              <a:rPr lang="en-US" sz="2400" dirty="0">
                <a:solidFill>
                  <a:schemeClr val="tx1"/>
                </a:solidFill>
                <a:latin typeface="Times New Roman" panose="02020603050405020304" pitchFamily="18" charset="0"/>
                <a:cs typeface="Times New Roman" panose="02020603050405020304" pitchFamily="18" charset="0"/>
              </a:rPr>
              <a:t>To generate transparent legal risk scores and comprehensive vulnerability reports that help strengthen legal documents before filing, negotiation, or execution.</a:t>
            </a:r>
            <a:endParaRPr lang="en-IN" sz="2400" dirty="0">
              <a:solidFill>
                <a:schemeClr val="tx1"/>
              </a:solidFill>
              <a:latin typeface="Times New Roman" panose="02020603050405020304" pitchFamily="18" charset="0"/>
              <a:cs typeface="Times New Roman" panose="02020603050405020304" pitchFamily="18" charset="0"/>
            </a:endParaRPr>
          </a:p>
          <a:p>
            <a:pPr marL="825500" lvl="1" indent="-342900" algn="just">
              <a:buFont typeface="Arial" panose="020B0604020202020204" pitchFamily="34" charset="0"/>
              <a:buChar char="•"/>
            </a:pPr>
            <a:endParaRPr lang="en-IN" sz="2400" dirty="0">
              <a:solidFill>
                <a:schemeClr val="tx1"/>
              </a:solidFill>
              <a:latin typeface="Times New Roman" panose="02020603050405020304" pitchFamily="18" charset="0"/>
              <a:cs typeface="Times New Roman" panose="02020603050405020304" pitchFamily="18" charset="0"/>
            </a:endParaRPr>
          </a:p>
          <a:p>
            <a:pPr marL="825500" lvl="1" indent="-342900" algn="just">
              <a:buFont typeface="Arial" panose="020B0604020202020204" pitchFamily="34" charset="0"/>
              <a:buChar char="•"/>
            </a:pPr>
            <a:endParaRPr lang="en-IN"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024816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Software &amp; Hardware Requirements</a:t>
            </a:r>
          </a:p>
        </p:txBody>
      </p:sp>
      <p:graphicFrame>
        <p:nvGraphicFramePr>
          <p:cNvPr id="2" name="Table 4">
            <a:extLst>
              <a:ext uri="{FF2B5EF4-FFF2-40B4-BE49-F238E27FC236}">
                <a16:creationId xmlns:a16="http://schemas.microsoft.com/office/drawing/2014/main" id="{719EA98D-6D75-48DE-816E-3703372A751C}"/>
              </a:ext>
            </a:extLst>
          </p:cNvPr>
          <p:cNvGraphicFramePr>
            <a:graphicFrameLocks noGrp="1"/>
          </p:cNvGraphicFramePr>
          <p:nvPr>
            <p:extLst>
              <p:ext uri="{D42A27DB-BD31-4B8C-83A1-F6EECF244321}">
                <p14:modId xmlns:p14="http://schemas.microsoft.com/office/powerpoint/2010/main" val="2422775560"/>
              </p:ext>
            </p:extLst>
          </p:nvPr>
        </p:nvGraphicFramePr>
        <p:xfrm>
          <a:off x="461682" y="606660"/>
          <a:ext cx="8220636" cy="2195510"/>
        </p:xfrm>
        <a:graphic>
          <a:graphicData uri="http://schemas.openxmlformats.org/drawingml/2006/table">
            <a:tbl>
              <a:tblPr firstRow="1" bandRow="1">
                <a:tableStyleId>{5C22544A-7EE6-4342-B048-85BDC9FD1C3A}</a:tableStyleId>
              </a:tblPr>
              <a:tblGrid>
                <a:gridCol w="4110318">
                  <a:extLst>
                    <a:ext uri="{9D8B030D-6E8A-4147-A177-3AD203B41FA5}">
                      <a16:colId xmlns:a16="http://schemas.microsoft.com/office/drawing/2014/main" val="2165162916"/>
                    </a:ext>
                  </a:extLst>
                </a:gridCol>
                <a:gridCol w="4110318">
                  <a:extLst>
                    <a:ext uri="{9D8B030D-6E8A-4147-A177-3AD203B41FA5}">
                      <a16:colId xmlns:a16="http://schemas.microsoft.com/office/drawing/2014/main" val="3782162276"/>
                    </a:ext>
                  </a:extLst>
                </a:gridCol>
              </a:tblGrid>
              <a:tr h="396299">
                <a:tc>
                  <a:txBody>
                    <a:bodyPr/>
                    <a:lstStyle/>
                    <a:p>
                      <a:r>
                        <a:rPr lang="en-US" sz="2000" dirty="0">
                          <a:latin typeface="Times New Roman" panose="02020603050405020304" pitchFamily="18" charset="0"/>
                          <a:cs typeface="Times New Roman" panose="02020603050405020304" pitchFamily="18" charset="0"/>
                        </a:rPr>
                        <a:t>Name of the Software (with version)</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Purpose</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06788789"/>
                  </a:ext>
                </a:extLst>
              </a:tr>
              <a:tr h="396299">
                <a:tc>
                  <a:txBody>
                    <a:bodyPr/>
                    <a:lstStyle/>
                    <a:p>
                      <a:pPr marL="0" marR="0">
                        <a:lnSpc>
                          <a:spcPct val="107000"/>
                        </a:lnSpc>
                        <a:spcBef>
                          <a:spcPts val="0"/>
                        </a:spcBef>
                        <a:spcAft>
                          <a:spcPts val="0"/>
                        </a:spcAft>
                      </a:pPr>
                      <a:r>
                        <a:rPr lang="en-US" sz="1200" b="1">
                          <a:effectLst/>
                          <a:latin typeface="Times New Roman" panose="02020603050405020304" pitchFamily="18" charset="0"/>
                          <a:ea typeface="Times New Roman" panose="02020603050405020304" pitchFamily="18" charset="0"/>
                          <a:cs typeface="Times New Roman" panose="02020603050405020304" pitchFamily="18" charset="0"/>
                        </a:rPr>
                        <a:t>Python 3.11+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Used for backend development, AI model integration, and implementing the multi-agent system.</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031497746"/>
                  </a:ext>
                </a:extLst>
              </a:tr>
              <a:tr h="396299">
                <a:tc>
                  <a:txBody>
                    <a:bodyPr/>
                    <a:lstStyle/>
                    <a:p>
                      <a:pPr marL="0" marR="0">
                        <a:lnSpc>
                          <a:spcPct val="107000"/>
                        </a:lnSpc>
                        <a:spcBef>
                          <a:spcPts val="0"/>
                        </a:spcBef>
                        <a:spcAft>
                          <a:spcPts val="0"/>
                        </a:spcAft>
                      </a:pPr>
                      <a:r>
                        <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rPr>
                        <a:t>PostgreSQL</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Stores user information, document metadata, analysis results, and application data.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002"/>
                  </a:ext>
                </a:extLst>
              </a:tr>
              <a:tr h="396299">
                <a:tc>
                  <a:txBody>
                    <a:bodyPr/>
                    <a:lstStyle/>
                    <a:p>
                      <a:pPr marL="0" marR="0">
                        <a:lnSpc>
                          <a:spcPct val="107000"/>
                        </a:lnSpc>
                        <a:spcBef>
                          <a:spcPts val="0"/>
                        </a:spcBef>
                        <a:spcAft>
                          <a:spcPts val="0"/>
                        </a:spcAft>
                      </a:pPr>
                      <a:r>
                        <a:rPr lang="en-US" sz="1200" b="1">
                          <a:effectLst/>
                          <a:latin typeface="Times New Roman" panose="02020603050405020304" pitchFamily="18" charset="0"/>
                          <a:ea typeface="Times New Roman" panose="02020603050405020304" pitchFamily="18" charset="0"/>
                          <a:cs typeface="Times New Roman" panose="02020603050405020304" pitchFamily="18" charset="0"/>
                        </a:rPr>
                        <a:t>OCR (Tesseract OCR)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Extracts text from scanned PDF documents for further legal analysis.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853662978"/>
                  </a:ext>
                </a:extLst>
              </a:tr>
              <a:tr h="396299">
                <a:tc>
                  <a:txBody>
                    <a:bodyPr/>
                    <a:lstStyle/>
                    <a:p>
                      <a:pPr marL="0" marR="0">
                        <a:lnSpc>
                          <a:spcPct val="107000"/>
                        </a:lnSpc>
                        <a:spcBef>
                          <a:spcPts val="0"/>
                        </a:spcBef>
                        <a:spcAft>
                          <a:spcPts val="0"/>
                        </a:spcAft>
                      </a:pPr>
                      <a:r>
                        <a:rPr lang="en-US" sz="1200" b="1">
                          <a:effectLst/>
                          <a:latin typeface="Times New Roman" panose="02020603050405020304" pitchFamily="18" charset="0"/>
                          <a:ea typeface="Times New Roman" panose="02020603050405020304" pitchFamily="18" charset="0"/>
                          <a:cs typeface="Times New Roman" panose="02020603050405020304" pitchFamily="18" charset="0"/>
                        </a:rPr>
                        <a:t>Hugging Face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Provides pre-trained language models and embedding models used for legal document analysis and Retrieval-Augmented Generation (RAG).</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09655673"/>
                  </a:ext>
                </a:extLst>
              </a:tr>
            </a:tbl>
          </a:graphicData>
        </a:graphic>
      </p:graphicFrame>
      <p:graphicFrame>
        <p:nvGraphicFramePr>
          <p:cNvPr id="5" name="Table 4">
            <a:extLst>
              <a:ext uri="{FF2B5EF4-FFF2-40B4-BE49-F238E27FC236}">
                <a16:creationId xmlns:a16="http://schemas.microsoft.com/office/drawing/2014/main" id="{D2D865DE-80C3-4DF5-BEEC-770CF187596D}"/>
              </a:ext>
            </a:extLst>
          </p:cNvPr>
          <p:cNvGraphicFramePr>
            <a:graphicFrameLocks noGrp="1"/>
          </p:cNvGraphicFramePr>
          <p:nvPr>
            <p:extLst>
              <p:ext uri="{D42A27DB-BD31-4B8C-83A1-F6EECF244321}">
                <p14:modId xmlns:p14="http://schemas.microsoft.com/office/powerpoint/2010/main" val="3299805995"/>
              </p:ext>
            </p:extLst>
          </p:nvPr>
        </p:nvGraphicFramePr>
        <p:xfrm>
          <a:off x="461682" y="2952945"/>
          <a:ext cx="8220636" cy="1999803"/>
        </p:xfrm>
        <a:graphic>
          <a:graphicData uri="http://schemas.openxmlformats.org/drawingml/2006/table">
            <a:tbl>
              <a:tblPr firstRow="1" bandRow="1">
                <a:tableStyleId>{5C22544A-7EE6-4342-B048-85BDC9FD1C3A}</a:tableStyleId>
              </a:tblPr>
              <a:tblGrid>
                <a:gridCol w="4110318">
                  <a:extLst>
                    <a:ext uri="{9D8B030D-6E8A-4147-A177-3AD203B41FA5}">
                      <a16:colId xmlns:a16="http://schemas.microsoft.com/office/drawing/2014/main" val="2165162916"/>
                    </a:ext>
                  </a:extLst>
                </a:gridCol>
                <a:gridCol w="4110318">
                  <a:extLst>
                    <a:ext uri="{9D8B030D-6E8A-4147-A177-3AD203B41FA5}">
                      <a16:colId xmlns:a16="http://schemas.microsoft.com/office/drawing/2014/main" val="3782162276"/>
                    </a:ext>
                  </a:extLst>
                </a:gridCol>
              </a:tblGrid>
              <a:tr h="396299">
                <a:tc>
                  <a:txBody>
                    <a:bodyPr/>
                    <a:lstStyle/>
                    <a:p>
                      <a:r>
                        <a:rPr lang="en-US" sz="2000" dirty="0">
                          <a:latin typeface="Times New Roman" panose="02020603050405020304" pitchFamily="18" charset="0"/>
                          <a:cs typeface="Times New Roman" panose="02020603050405020304" pitchFamily="18" charset="0"/>
                        </a:rPr>
                        <a:t>Name of the Hardware</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Purpose</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06788789"/>
                  </a:ext>
                </a:extLst>
              </a:tr>
              <a:tr h="396299">
                <a:tc>
                  <a:txBody>
                    <a:bodyPr/>
                    <a:lstStyle/>
                    <a:p>
                      <a:pPr marL="0" marR="0">
                        <a:lnSpc>
                          <a:spcPct val="107000"/>
                        </a:lnSpc>
                        <a:spcBef>
                          <a:spcPts val="0"/>
                        </a:spcBef>
                        <a:spcAft>
                          <a:spcPts val="0"/>
                        </a:spcAft>
                      </a:pPr>
                      <a:r>
                        <a:rPr lang="en-US" sz="1200" b="1">
                          <a:effectLst/>
                          <a:latin typeface="Times New Roman" panose="02020603050405020304" pitchFamily="18" charset="0"/>
                          <a:ea typeface="Times New Roman" panose="02020603050405020304" pitchFamily="18" charset="0"/>
                          <a:cs typeface="Times New Roman" panose="02020603050405020304" pitchFamily="18" charset="0"/>
                        </a:rPr>
                        <a:t>Intel Core i5 (8th Gen) / AMD Ryzen 5 or higher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Provides sufficient processing power for document processing and AI model execution.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031497746"/>
                  </a:ext>
                </a:extLst>
              </a:tr>
              <a:tr h="396299">
                <a:tc>
                  <a:txBody>
                    <a:bodyPr/>
                    <a:lstStyle/>
                    <a:p>
                      <a:pPr marL="0" marR="0">
                        <a:lnSpc>
                          <a:spcPct val="107000"/>
                        </a:lnSpc>
                        <a:spcBef>
                          <a:spcPts val="0"/>
                        </a:spcBef>
                        <a:spcAft>
                          <a:spcPts val="0"/>
                        </a:spcAft>
                      </a:pPr>
                      <a:r>
                        <a:rPr lang="en-US" sz="1200" b="1">
                          <a:effectLst/>
                          <a:latin typeface="Times New Roman" panose="02020603050405020304" pitchFamily="18" charset="0"/>
                          <a:ea typeface="Times New Roman" panose="02020603050405020304" pitchFamily="18" charset="0"/>
                          <a:cs typeface="Times New Roman" panose="02020603050405020304" pitchFamily="18" charset="0"/>
                        </a:rPr>
                        <a:t>8 GB RAM (16 GB Recommended)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Supports efficient execution of the application, database, and AI models simultaneously.</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002"/>
                  </a:ext>
                </a:extLst>
              </a:tr>
              <a:tr h="396299">
                <a:tc>
                  <a:txBody>
                    <a:bodyPr/>
                    <a:lstStyle/>
                    <a:p>
                      <a:pPr marL="0" marR="0">
                        <a:lnSpc>
                          <a:spcPct val="107000"/>
                        </a:lnSpc>
                        <a:spcBef>
                          <a:spcPts val="0"/>
                        </a:spcBef>
                        <a:spcAft>
                          <a:spcPts val="0"/>
                        </a:spcAft>
                      </a:pPr>
                      <a:r>
                        <a:rPr lang="en-US" sz="1200" b="1">
                          <a:effectLst/>
                          <a:latin typeface="Times New Roman" panose="02020603050405020304" pitchFamily="18" charset="0"/>
                          <a:ea typeface="Times New Roman" panose="02020603050405020304" pitchFamily="18" charset="0"/>
                          <a:cs typeface="Times New Roman" panose="02020603050405020304" pitchFamily="18" charset="0"/>
                        </a:rPr>
                        <a:t>50 GB SSD (Recommended)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Stores project files, datasets, AI models, and generated reports while ensuring fast data access.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853662978"/>
                  </a:ext>
                </a:extLst>
              </a:tr>
              <a:tr h="396299">
                <a:tc>
                  <a:txBody>
                    <a:bodyPr/>
                    <a:lstStyle/>
                    <a:p>
                      <a:pPr marL="0" marR="0">
                        <a:lnSpc>
                          <a:spcPct val="107000"/>
                        </a:lnSpc>
                        <a:spcBef>
                          <a:spcPts val="0"/>
                        </a:spcBef>
                        <a:spcAft>
                          <a:spcPts val="0"/>
                        </a:spcAft>
                      </a:pPr>
                      <a:r>
                        <a:rPr lang="en-US" sz="1200" b="1">
                          <a:effectLst/>
                          <a:latin typeface="Times New Roman" panose="02020603050405020304" pitchFamily="18" charset="0"/>
                          <a:ea typeface="Times New Roman" panose="02020603050405020304" pitchFamily="18" charset="0"/>
                          <a:cs typeface="Times New Roman" panose="02020603050405020304" pitchFamily="18" charset="0"/>
                        </a:rPr>
                        <a:t>Internet Connection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Required for downloading dependencies, accessing Hugging Face models, and retrieving online legal resources when needed.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865015286"/>
                  </a:ext>
                </a:extLst>
              </a:tr>
            </a:tbl>
          </a:graphicData>
        </a:graphic>
      </p:graphicFrame>
    </p:spTree>
    <p:extLst>
      <p:ext uri="{BB962C8B-B14F-4D97-AF65-F5344CB8AC3E}">
        <p14:creationId xmlns:p14="http://schemas.microsoft.com/office/powerpoint/2010/main" val="235270434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Proposed Method: Architecture Diagram</a:t>
            </a:r>
          </a:p>
        </p:txBody>
      </p:sp>
      <p:sp>
        <p:nvSpPr>
          <p:cNvPr id="4" name="Google Shape;55;p13">
            <a:extLst>
              <a:ext uri="{FF2B5EF4-FFF2-40B4-BE49-F238E27FC236}">
                <a16:creationId xmlns:a16="http://schemas.microsoft.com/office/drawing/2014/main" id="{8406A9E1-421C-4ECE-9272-2E64B0B7B49B}"/>
              </a:ext>
            </a:extLst>
          </p:cNvPr>
          <p:cNvSpPr txBox="1">
            <a:spLocks/>
          </p:cNvSpPr>
          <p:nvPr/>
        </p:nvSpPr>
        <p:spPr>
          <a:xfrm>
            <a:off x="226380" y="781921"/>
            <a:ext cx="8691239" cy="372793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368300" algn="l">
              <a:buFont typeface="Arial" panose="020B0604020202020204" pitchFamily="34" charset="0"/>
              <a:buChar char="•"/>
            </a:pPr>
            <a:endParaRPr lang="en-IN" sz="2400" b="1" dirty="0">
              <a:solidFill>
                <a:schemeClr val="tx1"/>
              </a:solidFill>
              <a:latin typeface="Times New Roman" panose="02020603050405020304" pitchFamily="18" charset="0"/>
              <a:cs typeface="Times New Roman" panose="02020603050405020304" pitchFamily="18" charset="0"/>
            </a:endParaRPr>
          </a:p>
          <a:p>
            <a:pPr marL="800100" lvl="1" algn="l">
              <a:buFont typeface="Arial" panose="020B0604020202020204" pitchFamily="34" charset="0"/>
              <a:buChar char="•"/>
            </a:pPr>
            <a:endParaRPr lang="en-IN" sz="2400" b="1" dirty="0">
              <a:solidFill>
                <a:schemeClr val="tx1"/>
              </a:solidFill>
              <a:latin typeface="Times New Roman" panose="02020603050405020304" pitchFamily="18" charset="0"/>
              <a:cs typeface="Times New Roman" panose="02020603050405020304" pitchFamily="18" charset="0"/>
            </a:endParaRPr>
          </a:p>
          <a:p>
            <a:pPr marL="800100" lvl="1" algn="l">
              <a:buFont typeface="Arial" panose="020B0604020202020204" pitchFamily="34" charset="0"/>
              <a:buChar char="•"/>
            </a:pPr>
            <a:endParaRPr lang="en-IN" sz="2400" b="1" dirty="0">
              <a:solidFill>
                <a:schemeClr val="tx1"/>
              </a:solidFill>
              <a:latin typeface="Times New Roman" panose="02020603050405020304" pitchFamily="18" charset="0"/>
              <a:cs typeface="Times New Roman" panose="02020603050405020304" pitchFamily="18" charset="0"/>
            </a:endParaRPr>
          </a:p>
        </p:txBody>
      </p:sp>
      <p:grpSp>
        <p:nvGrpSpPr>
          <p:cNvPr id="6" name="Group 5"/>
          <p:cNvGrpSpPr/>
          <p:nvPr/>
        </p:nvGrpSpPr>
        <p:grpSpPr>
          <a:xfrm>
            <a:off x="404327" y="652037"/>
            <a:ext cx="7937240" cy="4180315"/>
            <a:chOff x="1468581" y="652037"/>
            <a:chExt cx="6206837" cy="4180315"/>
          </a:xfrm>
        </p:grpSpPr>
        <p:pic>
          <p:nvPicPr>
            <p:cNvPr id="7" name="Picture 6"/>
            <p:cNvPicPr>
              <a:picLocks noChangeAspect="1"/>
            </p:cNvPicPr>
            <p:nvPr/>
          </p:nvPicPr>
          <p:blipFill rotWithShape="1">
            <a:blip r:embed="rId3">
              <a:extLst>
                <a:ext uri="{28A0092B-C50C-407E-A947-70E740481C1C}">
                  <a14:useLocalDpi xmlns:a14="http://schemas.microsoft.com/office/drawing/2010/main" val="0"/>
                </a:ext>
              </a:extLst>
            </a:blip>
            <a:srcRect l="746" t="2693" r="1549" b="1511"/>
            <a:stretch/>
          </p:blipFill>
          <p:spPr>
            <a:xfrm>
              <a:off x="1468581" y="781921"/>
              <a:ext cx="6206837" cy="4050431"/>
            </a:xfrm>
            <a:prstGeom prst="rect">
              <a:avLst/>
            </a:prstGeom>
          </p:spPr>
        </p:pic>
        <p:pic>
          <p:nvPicPr>
            <p:cNvPr id="8" name="Picture 7"/>
            <p:cNvPicPr>
              <a:picLocks noChangeAspect="1"/>
            </p:cNvPicPr>
            <p:nvPr/>
          </p:nvPicPr>
          <p:blipFill>
            <a:blip r:embed="rId4"/>
            <a:stretch>
              <a:fillRect/>
            </a:stretch>
          </p:blipFill>
          <p:spPr>
            <a:xfrm>
              <a:off x="1504602" y="652037"/>
              <a:ext cx="948484" cy="1181810"/>
            </a:xfrm>
            <a:prstGeom prst="rect">
              <a:avLst/>
            </a:prstGeom>
          </p:spPr>
        </p:pic>
        <p:pic>
          <p:nvPicPr>
            <p:cNvPr id="9" name="Picture 8"/>
            <p:cNvPicPr>
              <a:picLocks noChangeAspect="1"/>
            </p:cNvPicPr>
            <p:nvPr/>
          </p:nvPicPr>
          <p:blipFill>
            <a:blip r:embed="rId5"/>
            <a:stretch>
              <a:fillRect/>
            </a:stretch>
          </p:blipFill>
          <p:spPr>
            <a:xfrm>
              <a:off x="1660517" y="1189019"/>
              <a:ext cx="741810" cy="619802"/>
            </a:xfrm>
            <a:prstGeom prst="rect">
              <a:avLst/>
            </a:prstGeom>
          </p:spPr>
        </p:pic>
      </p:grpSp>
    </p:spTree>
    <p:extLst>
      <p:ext uri="{BB962C8B-B14F-4D97-AF65-F5344CB8AC3E}">
        <p14:creationId xmlns:p14="http://schemas.microsoft.com/office/powerpoint/2010/main" val="23527043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Proposed Method: Architecture Diagram</a:t>
            </a:r>
          </a:p>
        </p:txBody>
      </p:sp>
      <p:sp>
        <p:nvSpPr>
          <p:cNvPr id="4" name="Google Shape;55;p13">
            <a:extLst>
              <a:ext uri="{FF2B5EF4-FFF2-40B4-BE49-F238E27FC236}">
                <a16:creationId xmlns:a16="http://schemas.microsoft.com/office/drawing/2014/main" id="{8406A9E1-421C-4ECE-9272-2E64B0B7B49B}"/>
              </a:ext>
            </a:extLst>
          </p:cNvPr>
          <p:cNvSpPr txBox="1">
            <a:spLocks/>
          </p:cNvSpPr>
          <p:nvPr/>
        </p:nvSpPr>
        <p:spPr>
          <a:xfrm>
            <a:off x="226380" y="781921"/>
            <a:ext cx="8691239" cy="372793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368300" algn="l">
              <a:buFont typeface="Arial" panose="020B0604020202020204" pitchFamily="34" charset="0"/>
              <a:buChar char="•"/>
            </a:pPr>
            <a:endParaRPr lang="en-IN" sz="2400" b="1" dirty="0">
              <a:solidFill>
                <a:schemeClr val="tx1"/>
              </a:solidFill>
              <a:latin typeface="Times New Roman" panose="02020603050405020304" pitchFamily="18" charset="0"/>
              <a:cs typeface="Times New Roman" panose="02020603050405020304" pitchFamily="18" charset="0"/>
            </a:endParaRPr>
          </a:p>
          <a:p>
            <a:pPr marL="800100" lvl="1" algn="l">
              <a:buFont typeface="Arial" panose="020B0604020202020204" pitchFamily="34" charset="0"/>
              <a:buChar char="•"/>
            </a:pPr>
            <a:endParaRPr lang="en-IN" sz="2400" b="1" dirty="0">
              <a:solidFill>
                <a:schemeClr val="tx1"/>
              </a:solidFill>
              <a:latin typeface="Times New Roman" panose="02020603050405020304" pitchFamily="18" charset="0"/>
              <a:cs typeface="Times New Roman" panose="02020603050405020304" pitchFamily="18" charset="0"/>
            </a:endParaRPr>
          </a:p>
          <a:p>
            <a:pPr marL="800100" lvl="1" algn="l">
              <a:buFont typeface="Arial" panose="020B0604020202020204" pitchFamily="34" charset="0"/>
              <a:buChar char="•"/>
            </a:pPr>
            <a:endParaRPr lang="en-IN" sz="2400" b="1" dirty="0">
              <a:solidFill>
                <a:schemeClr val="tx1"/>
              </a:solidFill>
              <a:latin typeface="Times New Roman" panose="02020603050405020304" pitchFamily="18" charset="0"/>
              <a:cs typeface="Times New Roman" panose="02020603050405020304" pitchFamily="18" charset="0"/>
            </a:endParaRPr>
          </a:p>
        </p:txBody>
      </p:sp>
      <p:sp>
        <p:nvSpPr>
          <p:cNvPr id="6" name="Google Shape;55;p13">
            <a:extLst>
              <a:ext uri="{FF2B5EF4-FFF2-40B4-BE49-F238E27FC236}">
                <a16:creationId xmlns:a16="http://schemas.microsoft.com/office/drawing/2014/main" id="{7F1BDE3E-D4E8-4FE1-A017-84420C91E36E}"/>
              </a:ext>
            </a:extLst>
          </p:cNvPr>
          <p:cNvSpPr txBox="1">
            <a:spLocks/>
          </p:cNvSpPr>
          <p:nvPr/>
        </p:nvSpPr>
        <p:spPr>
          <a:xfrm>
            <a:off x="226380" y="709844"/>
            <a:ext cx="8691239" cy="450985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lvl="0" algn="just" eaLnBrk="0" fontAlgn="base" hangingPunct="0">
              <a:spcBef>
                <a:spcPct val="0"/>
              </a:spcBef>
              <a:spcAft>
                <a:spcPct val="0"/>
              </a:spcAft>
              <a:buClrTx/>
              <a:buFontTx/>
              <a:buChar char="•"/>
            </a:pPr>
            <a:r>
              <a:rPr lang="en-US" altLang="en-US" sz="2400" b="1" dirty="0">
                <a:solidFill>
                  <a:schemeClr val="tx1"/>
                </a:solidFill>
                <a:latin typeface="Times New Roman" panose="02020603050405020304" pitchFamily="18" charset="0"/>
                <a:cs typeface="Times New Roman" panose="02020603050405020304" pitchFamily="18" charset="0"/>
              </a:rPr>
              <a:t>Document Processing: </a:t>
            </a:r>
            <a:r>
              <a:rPr lang="en-US" sz="2400" dirty="0">
                <a:solidFill>
                  <a:schemeClr val="tx1"/>
                </a:solidFill>
                <a:latin typeface="Times New Roman" panose="02020603050405020304" pitchFamily="18" charset="0"/>
                <a:cs typeface="Times New Roman" panose="02020603050405020304" pitchFamily="18" charset="0"/>
              </a:rPr>
              <a:t>Legal documents are uploaded, processed using OCR and parsed into structured text. Relevant legal knowledge is retrieved from legal knowledge base.</a:t>
            </a:r>
          </a:p>
          <a:p>
            <a:pPr lvl="0" algn="just" eaLnBrk="0" fontAlgn="base" hangingPunct="0">
              <a:spcBef>
                <a:spcPct val="0"/>
              </a:spcBef>
              <a:spcAft>
                <a:spcPct val="0"/>
              </a:spcAft>
              <a:buClrTx/>
            </a:pPr>
            <a:endParaRPr lang="en-US" altLang="en-US" sz="2400" dirty="0">
              <a:solidFill>
                <a:schemeClr val="tx1"/>
              </a:solidFill>
              <a:latin typeface="Times New Roman" panose="02020603050405020304" pitchFamily="18" charset="0"/>
              <a:cs typeface="Times New Roman" panose="02020603050405020304" pitchFamily="18" charset="0"/>
            </a:endParaRPr>
          </a:p>
          <a:p>
            <a:pPr lvl="0" algn="just" eaLnBrk="0" fontAlgn="base" hangingPunct="0">
              <a:spcBef>
                <a:spcPct val="0"/>
              </a:spcBef>
              <a:spcAft>
                <a:spcPct val="0"/>
              </a:spcAft>
              <a:buClrTx/>
              <a:buFontTx/>
              <a:buChar char="•"/>
            </a:pPr>
            <a:r>
              <a:rPr lang="en-US" altLang="en-US" sz="2400" b="1" dirty="0">
                <a:solidFill>
                  <a:schemeClr val="tx1"/>
                </a:solidFill>
                <a:latin typeface="Times New Roman" panose="02020603050405020304" pitchFamily="18" charset="0"/>
                <a:cs typeface="Times New Roman" panose="02020603050405020304" pitchFamily="18" charset="0"/>
              </a:rPr>
              <a:t>Multi-Agent Analysis: </a:t>
            </a:r>
            <a:r>
              <a:rPr lang="en-US" sz="2400" dirty="0">
                <a:solidFill>
                  <a:schemeClr val="tx1"/>
                </a:solidFill>
                <a:latin typeface="Times New Roman" panose="02020603050405020304" pitchFamily="18" charset="0"/>
                <a:cs typeface="Times New Roman" panose="02020603050405020304" pitchFamily="18" charset="0"/>
              </a:rPr>
              <a:t>Multiple AI agents independently review the document to identify legal weaknesses, improve drafting, verify compliance, evaluate reasoning, and validate citations.</a:t>
            </a:r>
          </a:p>
          <a:p>
            <a:pPr lvl="0" algn="just" eaLnBrk="0" fontAlgn="base" hangingPunct="0">
              <a:spcBef>
                <a:spcPct val="0"/>
              </a:spcBef>
              <a:spcAft>
                <a:spcPct val="0"/>
              </a:spcAft>
              <a:buClrTx/>
            </a:pPr>
            <a:endParaRPr lang="en-US" sz="2400" dirty="0">
              <a:solidFill>
                <a:schemeClr val="tx1"/>
              </a:solidFill>
              <a:latin typeface="Times New Roman" panose="02020603050405020304" pitchFamily="18" charset="0"/>
              <a:cs typeface="Times New Roman" panose="02020603050405020304" pitchFamily="18" charset="0"/>
            </a:endParaRPr>
          </a:p>
          <a:p>
            <a:pPr lvl="0" algn="just" eaLnBrk="0" fontAlgn="base" hangingPunct="0">
              <a:spcBef>
                <a:spcPct val="0"/>
              </a:spcBef>
              <a:spcAft>
                <a:spcPct val="0"/>
              </a:spcAft>
              <a:buClrTx/>
              <a:buFontTx/>
              <a:buChar char="•"/>
            </a:pPr>
            <a:r>
              <a:rPr lang="en-US" altLang="en-US" sz="2400" b="1" dirty="0">
                <a:solidFill>
                  <a:schemeClr val="tx1"/>
                </a:solidFill>
                <a:latin typeface="Times New Roman" panose="02020603050405020304" pitchFamily="18" charset="0"/>
                <a:cs typeface="Times New Roman" panose="02020603050405020304" pitchFamily="18" charset="0"/>
              </a:rPr>
              <a:t>Consensus &amp; Risk Scoring: </a:t>
            </a:r>
            <a:r>
              <a:rPr lang="en-US" sz="2400" dirty="0">
                <a:solidFill>
                  <a:schemeClr val="tx1"/>
                </a:solidFill>
                <a:latin typeface="Times New Roman" panose="02020603050405020304" pitchFamily="18" charset="0"/>
                <a:cs typeface="Times New Roman" panose="02020603050405020304" pitchFamily="18" charset="0"/>
              </a:rPr>
              <a:t>The system combines all agent findings, resolves conflicts, prioritizes issues, and calculates the document's overall legal strength and risk scores.</a:t>
            </a:r>
          </a:p>
          <a:p>
            <a:pPr lvl="0" algn="just" eaLnBrk="0" fontAlgn="base" hangingPunct="0">
              <a:spcBef>
                <a:spcPct val="0"/>
              </a:spcBef>
              <a:spcAft>
                <a:spcPct val="0"/>
              </a:spcAft>
              <a:buClrTx/>
            </a:pPr>
            <a:endParaRPr lang="en-US" altLang="en-US"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0733630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55;p13">
            <a:extLst>
              <a:ext uri="{FF2B5EF4-FFF2-40B4-BE49-F238E27FC236}">
                <a16:creationId xmlns:a16="http://schemas.microsoft.com/office/drawing/2014/main" id="{8406A9E1-421C-4ECE-9272-2E64B0B7B49B}"/>
              </a:ext>
            </a:extLst>
          </p:cNvPr>
          <p:cNvSpPr txBox="1">
            <a:spLocks/>
          </p:cNvSpPr>
          <p:nvPr/>
        </p:nvSpPr>
        <p:spPr>
          <a:xfrm>
            <a:off x="226380" y="781921"/>
            <a:ext cx="8691239" cy="372793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lvl="0" algn="just" eaLnBrk="0" fontAlgn="base" hangingPunct="0">
              <a:spcBef>
                <a:spcPct val="0"/>
              </a:spcBef>
              <a:spcAft>
                <a:spcPct val="0"/>
              </a:spcAft>
              <a:buClrTx/>
              <a:buFontTx/>
              <a:buChar char="•"/>
            </a:pPr>
            <a:r>
              <a:rPr lang="en-US" altLang="en-US" sz="2400" b="1" dirty="0">
                <a:solidFill>
                  <a:schemeClr val="tx1"/>
                </a:solidFill>
                <a:latin typeface="Times New Roman" panose="02020603050405020304" pitchFamily="18" charset="0"/>
                <a:cs typeface="Times New Roman" panose="02020603050405020304" pitchFamily="18" charset="0"/>
              </a:rPr>
              <a:t>Results Generation: </a:t>
            </a:r>
            <a:r>
              <a:rPr lang="en-US" sz="2400" dirty="0">
                <a:solidFill>
                  <a:schemeClr val="tx1"/>
                </a:solidFill>
                <a:latin typeface="Times New Roman" panose="02020603050405020304" pitchFamily="18" charset="0"/>
                <a:cs typeface="Times New Roman" panose="02020603050405020304" pitchFamily="18" charset="0"/>
              </a:rPr>
              <a:t>The platform generates key findings, recommendations and evidence backed insights for every identified issue.</a:t>
            </a:r>
          </a:p>
          <a:p>
            <a:pPr lvl="0" algn="just" eaLnBrk="0" fontAlgn="base" hangingPunct="0">
              <a:spcBef>
                <a:spcPct val="0"/>
              </a:spcBef>
              <a:spcAft>
                <a:spcPct val="0"/>
              </a:spcAft>
              <a:buClrTx/>
            </a:pPr>
            <a:endParaRPr lang="en-US" altLang="en-US" sz="2400" dirty="0">
              <a:solidFill>
                <a:schemeClr val="tx1"/>
              </a:solidFill>
              <a:latin typeface="Times New Roman" panose="02020603050405020304" pitchFamily="18" charset="0"/>
              <a:cs typeface="Times New Roman" panose="02020603050405020304" pitchFamily="18" charset="0"/>
            </a:endParaRPr>
          </a:p>
          <a:p>
            <a:pPr lvl="0" algn="just" eaLnBrk="0" fontAlgn="base" hangingPunct="0">
              <a:spcBef>
                <a:spcPct val="0"/>
              </a:spcBef>
              <a:spcAft>
                <a:spcPct val="0"/>
              </a:spcAft>
              <a:buClrTx/>
              <a:buFontTx/>
              <a:buChar char="•"/>
            </a:pPr>
            <a:r>
              <a:rPr lang="en-US" altLang="en-US" sz="2400" b="1" dirty="0">
                <a:solidFill>
                  <a:schemeClr val="tx1"/>
                </a:solidFill>
                <a:latin typeface="Times New Roman" panose="02020603050405020304" pitchFamily="18" charset="0"/>
                <a:cs typeface="Times New Roman" panose="02020603050405020304" pitchFamily="18" charset="0"/>
              </a:rPr>
              <a:t>Reports &amp; User Review: </a:t>
            </a:r>
            <a:r>
              <a:rPr lang="en-US" sz="2400" dirty="0">
                <a:solidFill>
                  <a:schemeClr val="tx1"/>
                </a:solidFill>
                <a:latin typeface="Times New Roman" panose="02020603050405020304" pitchFamily="18" charset="0"/>
                <a:cs typeface="Times New Roman" panose="02020603050405020304" pitchFamily="18" charset="0"/>
              </a:rPr>
              <a:t>A comprehensive PDF report is generated, allowing users to review the analysis and improve the document before filing or execution.</a:t>
            </a:r>
            <a:endParaRPr lang="en-US" altLang="en-US"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9862961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Proposed Method: Module Connectivity Diagram</a:t>
            </a:r>
          </a:p>
        </p:txBody>
      </p:sp>
      <p:sp>
        <p:nvSpPr>
          <p:cNvPr id="4" name="Google Shape;55;p13">
            <a:extLst>
              <a:ext uri="{FF2B5EF4-FFF2-40B4-BE49-F238E27FC236}">
                <a16:creationId xmlns:a16="http://schemas.microsoft.com/office/drawing/2014/main" id="{7795385E-399B-4A50-8CAD-30132567A358}"/>
              </a:ext>
            </a:extLst>
          </p:cNvPr>
          <p:cNvSpPr txBox="1">
            <a:spLocks/>
          </p:cNvSpPr>
          <p:nvPr/>
        </p:nvSpPr>
        <p:spPr>
          <a:xfrm>
            <a:off x="567756" y="781921"/>
            <a:ext cx="8691239" cy="372793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25400" indent="0" algn="l"/>
            <a:endParaRPr lang="en-IN" sz="2400" b="1" dirty="0">
              <a:solidFill>
                <a:schemeClr val="tx1"/>
              </a:solidFill>
              <a:latin typeface="Times New Roman" panose="02020603050405020304" pitchFamily="18" charset="0"/>
              <a:cs typeface="Times New Roman" panose="02020603050405020304" pitchFamily="18" charset="0"/>
            </a:endParaRPr>
          </a:p>
          <a:p>
            <a:pPr marL="800100" lvl="1" algn="l">
              <a:buFont typeface="Arial" panose="020B0604020202020204" pitchFamily="34" charset="0"/>
              <a:buChar char="•"/>
            </a:pPr>
            <a:endParaRPr lang="en-IN" sz="2400" b="1" dirty="0">
              <a:solidFill>
                <a:schemeClr val="tx1"/>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A2F3A2E6-8599-3380-DFE4-664687078284}"/>
              </a:ext>
            </a:extLst>
          </p:cNvPr>
          <p:cNvPicPr>
            <a:picLocks noChangeAspect="1"/>
          </p:cNvPicPr>
          <p:nvPr/>
        </p:nvPicPr>
        <p:blipFill>
          <a:blip r:embed="rId3"/>
          <a:stretch>
            <a:fillRect/>
          </a:stretch>
        </p:blipFill>
        <p:spPr>
          <a:xfrm>
            <a:off x="114995" y="781921"/>
            <a:ext cx="8776757" cy="4192100"/>
          </a:xfrm>
          <a:prstGeom prst="rect">
            <a:avLst/>
          </a:prstGeom>
        </p:spPr>
      </p:pic>
    </p:spTree>
    <p:extLst>
      <p:ext uri="{BB962C8B-B14F-4D97-AF65-F5344CB8AC3E}">
        <p14:creationId xmlns:p14="http://schemas.microsoft.com/office/powerpoint/2010/main" val="10958231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Proposed Method: Module Connectivity Diagram</a:t>
            </a:r>
          </a:p>
        </p:txBody>
      </p:sp>
      <p:sp>
        <p:nvSpPr>
          <p:cNvPr id="4" name="Google Shape;55;p13">
            <a:extLst>
              <a:ext uri="{FF2B5EF4-FFF2-40B4-BE49-F238E27FC236}">
                <a16:creationId xmlns:a16="http://schemas.microsoft.com/office/drawing/2014/main" id="{7795385E-399B-4A50-8CAD-30132567A358}"/>
              </a:ext>
            </a:extLst>
          </p:cNvPr>
          <p:cNvSpPr txBox="1">
            <a:spLocks/>
          </p:cNvSpPr>
          <p:nvPr/>
        </p:nvSpPr>
        <p:spPr>
          <a:xfrm>
            <a:off x="226380" y="781921"/>
            <a:ext cx="8691239" cy="372793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25400" indent="0" algn="l"/>
            <a:endParaRPr lang="en-IN" sz="2400" b="1" dirty="0">
              <a:solidFill>
                <a:schemeClr val="tx1"/>
              </a:solidFill>
              <a:latin typeface="Times New Roman" panose="02020603050405020304" pitchFamily="18" charset="0"/>
              <a:cs typeface="Times New Roman" panose="02020603050405020304" pitchFamily="18" charset="0"/>
            </a:endParaRPr>
          </a:p>
          <a:p>
            <a:pPr marL="800100" lvl="1" algn="l">
              <a:buFont typeface="Arial" panose="020B0604020202020204" pitchFamily="34" charset="0"/>
              <a:buChar char="•"/>
            </a:pPr>
            <a:endParaRPr lang="en-IN" sz="2400" b="1" dirty="0">
              <a:solidFill>
                <a:schemeClr val="tx1"/>
              </a:solidFill>
              <a:latin typeface="Times New Roman" panose="02020603050405020304" pitchFamily="18" charset="0"/>
              <a:cs typeface="Times New Roman" panose="02020603050405020304" pitchFamily="18" charset="0"/>
            </a:endParaRPr>
          </a:p>
        </p:txBody>
      </p:sp>
      <p:sp>
        <p:nvSpPr>
          <p:cNvPr id="5" name="Google Shape;55;p13">
            <a:extLst>
              <a:ext uri="{FF2B5EF4-FFF2-40B4-BE49-F238E27FC236}">
                <a16:creationId xmlns:a16="http://schemas.microsoft.com/office/drawing/2014/main" id="{0DEAB912-14E7-4B8B-B3E4-CCA3A9904746}"/>
              </a:ext>
            </a:extLst>
          </p:cNvPr>
          <p:cNvSpPr txBox="1">
            <a:spLocks/>
          </p:cNvSpPr>
          <p:nvPr/>
        </p:nvSpPr>
        <p:spPr>
          <a:xfrm>
            <a:off x="-39211" y="656504"/>
            <a:ext cx="9222420" cy="44869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algn="just" eaLnBrk="0" fontAlgn="base" hangingPunct="0">
              <a:spcBef>
                <a:spcPct val="0"/>
              </a:spcBef>
              <a:spcAft>
                <a:spcPct val="0"/>
              </a:spcAft>
              <a:buClrTx/>
              <a:buFont typeface="Arial" panose="020B0604020202020204" pitchFamily="34" charset="0"/>
              <a:buChar char="•"/>
            </a:pPr>
            <a:r>
              <a:rPr lang="en-US" sz="2400" b="1" dirty="0">
                <a:solidFill>
                  <a:schemeClr val="tx1"/>
                </a:solidFill>
                <a:latin typeface="Times New Roman" panose="02020603050405020304" pitchFamily="18" charset="0"/>
                <a:cs typeface="Times New Roman" panose="02020603050405020304" pitchFamily="18" charset="0"/>
              </a:rPr>
              <a:t>Document Processing: </a:t>
            </a:r>
            <a:r>
              <a:rPr lang="en-US" sz="2400" dirty="0">
                <a:solidFill>
                  <a:schemeClr val="tx1"/>
                </a:solidFill>
                <a:latin typeface="Times New Roman" panose="02020603050405020304" pitchFamily="18" charset="0"/>
                <a:cs typeface="Times New Roman" panose="02020603050405020304" pitchFamily="18" charset="0"/>
              </a:rPr>
              <a:t>The uploaded legal document undergoes OCR, text extraction, parsing, clause detection, entity recognition, and chunking.</a:t>
            </a:r>
          </a:p>
          <a:p>
            <a:pPr algn="just" eaLnBrk="0" fontAlgn="base" hangingPunct="0">
              <a:spcBef>
                <a:spcPct val="0"/>
              </a:spcBef>
              <a:spcAft>
                <a:spcPct val="0"/>
              </a:spcAft>
              <a:buClrTx/>
              <a:buFont typeface="Arial" panose="020B0604020202020204" pitchFamily="34" charset="0"/>
              <a:buChar char="•"/>
            </a:pPr>
            <a:endParaRPr lang="en-US" sz="2400" dirty="0">
              <a:solidFill>
                <a:schemeClr val="tx1"/>
              </a:solidFill>
              <a:latin typeface="Times New Roman" panose="02020603050405020304" pitchFamily="18" charset="0"/>
              <a:cs typeface="Times New Roman" panose="02020603050405020304" pitchFamily="18" charset="0"/>
            </a:endParaRPr>
          </a:p>
          <a:p>
            <a:pPr algn="just" eaLnBrk="0" fontAlgn="base" hangingPunct="0">
              <a:spcBef>
                <a:spcPct val="0"/>
              </a:spcBef>
              <a:spcAft>
                <a:spcPct val="0"/>
              </a:spcAft>
              <a:buClrTx/>
              <a:buFont typeface="Arial" panose="020B0604020202020204" pitchFamily="34" charset="0"/>
              <a:buChar char="•"/>
            </a:pPr>
            <a:r>
              <a:rPr lang="en-US" sz="2400" b="1" dirty="0">
                <a:solidFill>
                  <a:schemeClr val="tx1"/>
                </a:solidFill>
                <a:latin typeface="Times New Roman" panose="02020603050405020304" pitchFamily="18" charset="0"/>
                <a:cs typeface="Times New Roman" panose="02020603050405020304" pitchFamily="18" charset="0"/>
              </a:rPr>
              <a:t>Knowledge Retrieval (RAG): </a:t>
            </a:r>
            <a:r>
              <a:rPr lang="en-US" sz="2400" dirty="0">
                <a:solidFill>
                  <a:schemeClr val="tx1"/>
                </a:solidFill>
                <a:latin typeface="Times New Roman" panose="02020603050405020304" pitchFamily="18" charset="0"/>
                <a:cs typeface="Times New Roman" panose="02020603050405020304" pitchFamily="18" charset="0"/>
              </a:rPr>
              <a:t>The Retrieval Module fetches relevant information from both the vector database and the legal knowledge base to provide contextual information for analysis.</a:t>
            </a:r>
          </a:p>
          <a:p>
            <a:pPr algn="just" eaLnBrk="0" fontAlgn="base" hangingPunct="0">
              <a:spcBef>
                <a:spcPct val="0"/>
              </a:spcBef>
              <a:spcAft>
                <a:spcPct val="0"/>
              </a:spcAft>
              <a:buClrTx/>
              <a:buFont typeface="Arial" panose="020B0604020202020204" pitchFamily="34" charset="0"/>
              <a:buChar char="•"/>
            </a:pPr>
            <a:endParaRPr lang="en-US" sz="2400" dirty="0">
              <a:solidFill>
                <a:schemeClr val="tx1"/>
              </a:solidFill>
              <a:latin typeface="Times New Roman" panose="02020603050405020304" pitchFamily="18" charset="0"/>
              <a:cs typeface="Times New Roman" panose="02020603050405020304" pitchFamily="18" charset="0"/>
            </a:endParaRPr>
          </a:p>
          <a:p>
            <a:pPr algn="just" eaLnBrk="0" fontAlgn="base" hangingPunct="0">
              <a:spcBef>
                <a:spcPct val="0"/>
              </a:spcBef>
              <a:spcAft>
                <a:spcPct val="0"/>
              </a:spcAft>
              <a:buClrTx/>
              <a:buFont typeface="Arial" panose="020B0604020202020204" pitchFamily="34" charset="0"/>
              <a:buChar char="•"/>
            </a:pPr>
            <a:r>
              <a:rPr lang="en-US" sz="2400" b="1" dirty="0">
                <a:solidFill>
                  <a:schemeClr val="tx1"/>
                </a:solidFill>
                <a:latin typeface="Times New Roman" panose="02020603050405020304" pitchFamily="18" charset="0"/>
                <a:cs typeface="Times New Roman" panose="02020603050405020304" pitchFamily="18" charset="0"/>
              </a:rPr>
              <a:t>Multi-Agent Legal Analysis: </a:t>
            </a:r>
            <a:r>
              <a:rPr lang="en-US" sz="2400" dirty="0">
                <a:solidFill>
                  <a:schemeClr val="tx1"/>
                </a:solidFill>
                <a:latin typeface="Times New Roman" panose="02020603050405020304" pitchFamily="18" charset="0"/>
                <a:cs typeface="Times New Roman" panose="02020603050405020304" pitchFamily="18" charset="0"/>
              </a:rPr>
              <a:t>The retrieved context is analyzed by multiple AI agents (defense counsel, plaintiff counsel, judge etc.), each evaluating the document from a unique legal perspective.</a:t>
            </a:r>
          </a:p>
        </p:txBody>
      </p:sp>
    </p:spTree>
    <p:extLst>
      <p:ext uri="{BB962C8B-B14F-4D97-AF65-F5344CB8AC3E}">
        <p14:creationId xmlns:p14="http://schemas.microsoft.com/office/powerpoint/2010/main" val="20119911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55;p13">
            <a:extLst>
              <a:ext uri="{FF2B5EF4-FFF2-40B4-BE49-F238E27FC236}">
                <a16:creationId xmlns:a16="http://schemas.microsoft.com/office/drawing/2014/main" id="{0DEAB912-14E7-4B8B-B3E4-CCA3A9904746}"/>
              </a:ext>
            </a:extLst>
          </p:cNvPr>
          <p:cNvSpPr txBox="1">
            <a:spLocks/>
          </p:cNvSpPr>
          <p:nvPr/>
        </p:nvSpPr>
        <p:spPr>
          <a:xfrm>
            <a:off x="0" y="995281"/>
            <a:ext cx="9052560" cy="372793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368300" algn="just">
              <a:buFont typeface="Arial" panose="020B0604020202020204" pitchFamily="34" charset="0"/>
              <a:buChar char="•"/>
            </a:pPr>
            <a:r>
              <a:rPr lang="en-US" sz="2400" b="1" dirty="0">
                <a:solidFill>
                  <a:schemeClr val="tx1"/>
                </a:solidFill>
                <a:latin typeface="Times New Roman" panose="02020603050405020304" pitchFamily="18" charset="0"/>
                <a:cs typeface="Times New Roman" panose="02020603050405020304" pitchFamily="18" charset="0"/>
              </a:rPr>
              <a:t>Consensus &amp; Risk Assessment: </a:t>
            </a:r>
            <a:r>
              <a:rPr lang="en-US" sz="2400" dirty="0">
                <a:solidFill>
                  <a:schemeClr val="tx1"/>
                </a:solidFill>
                <a:latin typeface="Times New Roman" panose="02020603050405020304" pitchFamily="18" charset="0"/>
                <a:cs typeface="Times New Roman" panose="02020603050405020304" pitchFamily="18" charset="0"/>
              </a:rPr>
              <a:t>The consensus engine combines the findings from all agents, removes duplicate observations, prioritizes critical issues, and generates an overall legal risk assessment.</a:t>
            </a:r>
          </a:p>
          <a:p>
            <a:pPr marL="368300" algn="just">
              <a:buFont typeface="Arial" panose="020B0604020202020204" pitchFamily="34" charset="0"/>
              <a:buChar char="•"/>
            </a:pPr>
            <a:endParaRPr lang="en-US" sz="2400" dirty="0">
              <a:solidFill>
                <a:schemeClr val="tx1"/>
              </a:solidFill>
              <a:latin typeface="Times New Roman" panose="02020603050405020304" pitchFamily="18" charset="0"/>
              <a:cs typeface="Times New Roman" panose="02020603050405020304" pitchFamily="18" charset="0"/>
            </a:endParaRPr>
          </a:p>
          <a:p>
            <a:pPr marL="368300" algn="just">
              <a:buFont typeface="Arial" panose="020B0604020202020204" pitchFamily="34" charset="0"/>
              <a:buChar char="•"/>
            </a:pPr>
            <a:r>
              <a:rPr lang="en-US" sz="2400" b="1" dirty="0">
                <a:solidFill>
                  <a:schemeClr val="tx1"/>
                </a:solidFill>
                <a:latin typeface="Times New Roman" panose="02020603050405020304" pitchFamily="18" charset="0"/>
                <a:cs typeface="Times New Roman" panose="02020603050405020304" pitchFamily="18" charset="0"/>
              </a:rPr>
              <a:t>Report Generation &amp; Storage: </a:t>
            </a:r>
            <a:r>
              <a:rPr lang="en-US" sz="2400" dirty="0">
                <a:solidFill>
                  <a:schemeClr val="tx1"/>
                </a:solidFill>
                <a:latin typeface="Times New Roman" panose="02020603050405020304" pitchFamily="18" charset="0"/>
                <a:cs typeface="Times New Roman" panose="02020603050405020304" pitchFamily="18" charset="0"/>
              </a:rPr>
              <a:t>The system generates a comprehensive legal vulnerability report containing identified issues, risk scores, and supporting explanations, which is then stored.</a:t>
            </a:r>
            <a:endParaRPr lang="en-IN"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6026140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73421"/>
            <a:ext cx="9144000" cy="955342"/>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3200" b="1" dirty="0">
                <a:latin typeface="Times New Roman" panose="02020603050405020304" pitchFamily="18" charset="0"/>
                <a:cs typeface="Times New Roman" panose="02020603050405020304" pitchFamily="18" charset="0"/>
              </a:rPr>
              <a:t>References</a:t>
            </a:r>
          </a:p>
        </p:txBody>
      </p:sp>
      <p:sp>
        <p:nvSpPr>
          <p:cNvPr id="5" name="Rectangle 4"/>
          <p:cNvSpPr/>
          <p:nvPr/>
        </p:nvSpPr>
        <p:spPr>
          <a:xfrm>
            <a:off x="238848" y="781921"/>
            <a:ext cx="8666304" cy="3539430"/>
          </a:xfrm>
          <a:prstGeom prst="rect">
            <a:avLst/>
          </a:prstGeom>
        </p:spPr>
        <p:txBody>
          <a:bodyPr wrap="square">
            <a:spAutoFit/>
          </a:bodyPr>
          <a:lstStyle/>
          <a:p>
            <a:r>
              <a:rPr lang="en-IN" dirty="0">
                <a:latin typeface="Times New Roman" panose="02020603050405020304" pitchFamily="18" charset="0"/>
                <a:cs typeface="Times New Roman" panose="02020603050405020304" pitchFamily="18" charset="0"/>
              </a:rPr>
              <a:t>[1]</a:t>
            </a:r>
            <a:r>
              <a:rPr lang="en-IN" dirty="0"/>
              <a:t> </a:t>
            </a:r>
            <a:r>
              <a:rPr lang="en-IN" dirty="0">
                <a:latin typeface="Times New Roman" panose="02020603050405020304" pitchFamily="18" charset="0"/>
                <a:cs typeface="Times New Roman" panose="02020603050405020304" pitchFamily="18" charset="0"/>
              </a:rPr>
              <a:t>D. Deepanshu, D. Saxena, D. Rana, A. Varshney and S. R. Laskar, “</a:t>
            </a:r>
            <a:r>
              <a:rPr lang="en-IN" dirty="0" err="1">
                <a:latin typeface="Times New Roman" panose="02020603050405020304" pitchFamily="18" charset="0"/>
                <a:cs typeface="Times New Roman" panose="02020603050405020304" pitchFamily="18" charset="0"/>
              </a:rPr>
              <a:t>NyayaAI</a:t>
            </a:r>
            <a:r>
              <a:rPr lang="en-IN" dirty="0">
                <a:latin typeface="Times New Roman" panose="02020603050405020304" pitchFamily="18" charset="0"/>
                <a:cs typeface="Times New Roman" panose="02020603050405020304" pitchFamily="18" charset="0"/>
              </a:rPr>
              <a:t>: An AI-Powered Legal              Assistant Using Multi-Agent Architecture and Retrieval-Augmented Generation,” </a:t>
            </a:r>
            <a:r>
              <a:rPr lang="en-IN" i="1" dirty="0" err="1">
                <a:latin typeface="Times New Roman" panose="02020603050405020304" pitchFamily="18" charset="0"/>
                <a:cs typeface="Times New Roman" panose="02020603050405020304" pitchFamily="18" charset="0"/>
              </a:rPr>
              <a:t>arXiv</a:t>
            </a:r>
            <a:r>
              <a:rPr lang="en-IN" i="1" dirty="0">
                <a:latin typeface="Times New Roman" panose="02020603050405020304" pitchFamily="18" charset="0"/>
                <a:cs typeface="Times New Roman" panose="02020603050405020304" pitchFamily="18" charset="0"/>
              </a:rPr>
              <a:t> preprint</a:t>
            </a:r>
            <a:r>
              <a:rPr lang="en-IN" dirty="0">
                <a:latin typeface="Times New Roman" panose="02020603050405020304" pitchFamily="18" charset="0"/>
                <a:cs typeface="Times New Roman" panose="02020603050405020304" pitchFamily="18" charset="0"/>
              </a:rPr>
              <a:t>,    arXiv:2605.10155, 2026, </a:t>
            </a:r>
            <a:r>
              <a:rPr lang="en-IN" dirty="0">
                <a:latin typeface="Times New Roman" panose="02020603050405020304" pitchFamily="18" charset="0"/>
                <a:cs typeface="Times New Roman" panose="02020603050405020304" pitchFamily="18" charset="0"/>
                <a:hlinkClick r:id="rId2"/>
              </a:rPr>
              <a:t>https://arxiv.org/abs/2605.10155</a:t>
            </a:r>
            <a:r>
              <a:rPr lang="en-US" dirty="0"/>
              <a:t>	</a:t>
            </a:r>
          </a:p>
          <a:p>
            <a:endParaRPr lang="en-US" dirty="0"/>
          </a:p>
          <a:p>
            <a:r>
              <a:rPr lang="en-IN" dirty="0">
                <a:latin typeface="Times New Roman" panose="02020603050405020304" pitchFamily="18" charset="0"/>
                <a:cs typeface="Times New Roman" panose="02020603050405020304" pitchFamily="18" charset="0"/>
              </a:rPr>
              <a:t>[2] P. </a:t>
            </a:r>
            <a:r>
              <a:rPr lang="en-IN" dirty="0" err="1">
                <a:latin typeface="Times New Roman" panose="02020603050405020304" pitchFamily="18" charset="0"/>
                <a:cs typeface="Times New Roman" panose="02020603050405020304" pitchFamily="18" charset="0"/>
              </a:rPr>
              <a:t>Raptopoulos</a:t>
            </a:r>
            <a:r>
              <a:rPr lang="en-IN" dirty="0">
                <a:latin typeface="Times New Roman" panose="02020603050405020304" pitchFamily="18" charset="0"/>
                <a:cs typeface="Times New Roman" panose="02020603050405020304" pitchFamily="18" charset="0"/>
              </a:rPr>
              <a:t>, G. </a:t>
            </a:r>
            <a:r>
              <a:rPr lang="en-IN" dirty="0" err="1">
                <a:latin typeface="Times New Roman" panose="02020603050405020304" pitchFamily="18" charset="0"/>
                <a:cs typeface="Times New Roman" panose="02020603050405020304" pitchFamily="18" charset="0"/>
              </a:rPr>
              <a:t>Filandrianos</a:t>
            </a:r>
            <a:r>
              <a:rPr lang="en-IN" dirty="0">
                <a:latin typeface="Times New Roman" panose="02020603050405020304" pitchFamily="18" charset="0"/>
                <a:cs typeface="Times New Roman" panose="02020603050405020304" pitchFamily="18" charset="0"/>
              </a:rPr>
              <a:t>, M. </a:t>
            </a:r>
            <a:r>
              <a:rPr lang="en-IN" dirty="0" err="1">
                <a:latin typeface="Times New Roman" panose="02020603050405020304" pitchFamily="18" charset="0"/>
                <a:cs typeface="Times New Roman" panose="02020603050405020304" pitchFamily="18" charset="0"/>
              </a:rPr>
              <a:t>Lymperaiou</a:t>
            </a:r>
            <a:r>
              <a:rPr lang="en-IN" dirty="0">
                <a:latin typeface="Times New Roman" panose="02020603050405020304" pitchFamily="18" charset="0"/>
                <a:cs typeface="Times New Roman" panose="02020603050405020304" pitchFamily="18" charset="0"/>
              </a:rPr>
              <a:t> and G. Stamou, “PAKTON: A Multi-Agent Framework for Question Answering in Long Legal Agreements,” </a:t>
            </a:r>
            <a:r>
              <a:rPr lang="en-IN" i="1" dirty="0">
                <a:latin typeface="Times New Roman" panose="02020603050405020304" pitchFamily="18" charset="0"/>
                <a:cs typeface="Times New Roman" panose="02020603050405020304" pitchFamily="18" charset="0"/>
              </a:rPr>
              <a:t>Proceedings of the 2025 Conference on Empirical Methods in Natural Language Processing (EMNLP)</a:t>
            </a:r>
            <a:r>
              <a:rPr lang="en-IN" dirty="0">
                <a:latin typeface="Times New Roman" panose="02020603050405020304" pitchFamily="18" charset="0"/>
                <a:cs typeface="Times New Roman" panose="02020603050405020304" pitchFamily="18" charset="0"/>
              </a:rPr>
              <a:t>, pp. 7948–7984, 2025, </a:t>
            </a:r>
            <a:r>
              <a:rPr lang="en-IN" u="sng" dirty="0">
                <a:latin typeface="Times New Roman" panose="02020603050405020304" pitchFamily="18" charset="0"/>
                <a:cs typeface="Times New Roman" panose="02020603050405020304" pitchFamily="18" charset="0"/>
                <a:hlinkClick r:id="rId3"/>
              </a:rPr>
              <a:t>https://aclanthology.org/2025.emnlp-main.403/</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[3] N. Guha, J. Nyarko, D. E. Ho, C. </a:t>
            </a:r>
            <a:r>
              <a:rPr lang="en-IN" dirty="0" err="1">
                <a:latin typeface="Times New Roman" panose="02020603050405020304" pitchFamily="18" charset="0"/>
                <a:cs typeface="Times New Roman" panose="02020603050405020304" pitchFamily="18" charset="0"/>
              </a:rPr>
              <a:t>Ré</a:t>
            </a:r>
            <a:r>
              <a:rPr lang="en-IN" dirty="0">
                <a:latin typeface="Times New Roman" panose="02020603050405020304" pitchFamily="18" charset="0"/>
                <a:cs typeface="Times New Roman" panose="02020603050405020304" pitchFamily="18" charset="0"/>
              </a:rPr>
              <a:t> </a:t>
            </a:r>
            <a:r>
              <a:rPr lang="en-IN" i="1" dirty="0">
                <a:latin typeface="Times New Roman" panose="02020603050405020304" pitchFamily="18" charset="0"/>
                <a:cs typeface="Times New Roman" panose="02020603050405020304" pitchFamily="18" charset="0"/>
              </a:rPr>
              <a:t>et al</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LegalBench</a:t>
            </a:r>
            <a:r>
              <a:rPr lang="en-IN" dirty="0">
                <a:latin typeface="Times New Roman" panose="02020603050405020304" pitchFamily="18" charset="0"/>
                <a:cs typeface="Times New Roman" panose="02020603050405020304" pitchFamily="18" charset="0"/>
              </a:rPr>
              <a:t>: A Collaboratively Built Benchmark for Measuring Legal Reasoning in Large Language Models,” </a:t>
            </a:r>
            <a:r>
              <a:rPr lang="en-IN" i="1" dirty="0" err="1">
                <a:latin typeface="Times New Roman" panose="02020603050405020304" pitchFamily="18" charset="0"/>
                <a:cs typeface="Times New Roman" panose="02020603050405020304" pitchFamily="18" charset="0"/>
              </a:rPr>
              <a:t>arXiv</a:t>
            </a:r>
            <a:r>
              <a:rPr lang="en-IN" i="1" dirty="0">
                <a:latin typeface="Times New Roman" panose="02020603050405020304" pitchFamily="18" charset="0"/>
                <a:cs typeface="Times New Roman" panose="02020603050405020304" pitchFamily="18" charset="0"/>
              </a:rPr>
              <a:t> preprint</a:t>
            </a:r>
            <a:r>
              <a:rPr lang="en-IN" dirty="0">
                <a:latin typeface="Times New Roman" panose="02020603050405020304" pitchFamily="18" charset="0"/>
                <a:cs typeface="Times New Roman" panose="02020603050405020304" pitchFamily="18" charset="0"/>
              </a:rPr>
              <a:t>, arXiv:2308.11462, 2023, </a:t>
            </a:r>
            <a:r>
              <a:rPr lang="en-IN" dirty="0">
                <a:latin typeface="Times New Roman" panose="02020603050405020304" pitchFamily="18" charset="0"/>
                <a:cs typeface="Times New Roman" panose="02020603050405020304" pitchFamily="18" charset="0"/>
                <a:hlinkClick r:id="rId4"/>
              </a:rPr>
              <a:t>https://arxiv.org/abs/2308.11462</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[4] N. Pipitone and G. </a:t>
            </a:r>
            <a:r>
              <a:rPr lang="en-IN" dirty="0" err="1">
                <a:latin typeface="Times New Roman" panose="02020603050405020304" pitchFamily="18" charset="0"/>
                <a:cs typeface="Times New Roman" panose="02020603050405020304" pitchFamily="18" charset="0"/>
              </a:rPr>
              <a:t>Houir</a:t>
            </a:r>
            <a:r>
              <a:rPr lang="en-IN" dirty="0">
                <a:latin typeface="Times New Roman" panose="02020603050405020304" pitchFamily="18" charset="0"/>
                <a:cs typeface="Times New Roman" panose="02020603050405020304" pitchFamily="18" charset="0"/>
              </a:rPr>
              <a:t> Alami, “</a:t>
            </a:r>
            <a:r>
              <a:rPr lang="en-IN" dirty="0" err="1">
                <a:latin typeface="Times New Roman" panose="02020603050405020304" pitchFamily="18" charset="0"/>
                <a:cs typeface="Times New Roman" panose="02020603050405020304" pitchFamily="18" charset="0"/>
              </a:rPr>
              <a:t>LegalBench</a:t>
            </a:r>
            <a:r>
              <a:rPr lang="en-IN" dirty="0">
                <a:latin typeface="Times New Roman" panose="02020603050405020304" pitchFamily="18" charset="0"/>
                <a:cs typeface="Times New Roman" panose="02020603050405020304" pitchFamily="18" charset="0"/>
              </a:rPr>
              <a:t>-RAG: A Benchmark for Retrieval-Augmented Generation in the Legal Domain,” </a:t>
            </a:r>
            <a:r>
              <a:rPr lang="en-IN" i="1" dirty="0" err="1">
                <a:latin typeface="Times New Roman" panose="02020603050405020304" pitchFamily="18" charset="0"/>
                <a:cs typeface="Times New Roman" panose="02020603050405020304" pitchFamily="18" charset="0"/>
              </a:rPr>
              <a:t>arXiv</a:t>
            </a:r>
            <a:r>
              <a:rPr lang="en-IN" i="1" dirty="0">
                <a:latin typeface="Times New Roman" panose="02020603050405020304" pitchFamily="18" charset="0"/>
                <a:cs typeface="Times New Roman" panose="02020603050405020304" pitchFamily="18" charset="0"/>
              </a:rPr>
              <a:t> preprint</a:t>
            </a:r>
            <a:r>
              <a:rPr lang="en-IN" dirty="0">
                <a:latin typeface="Times New Roman" panose="02020603050405020304" pitchFamily="18" charset="0"/>
                <a:cs typeface="Times New Roman" panose="02020603050405020304" pitchFamily="18" charset="0"/>
              </a:rPr>
              <a:t>, arXiv:2408.10343, 2024, </a:t>
            </a:r>
            <a:r>
              <a:rPr lang="en-IN" dirty="0">
                <a:latin typeface="Times New Roman" panose="02020603050405020304" pitchFamily="18" charset="0"/>
                <a:cs typeface="Times New Roman" panose="02020603050405020304" pitchFamily="18" charset="0"/>
                <a:hlinkClick r:id="rId5"/>
              </a:rPr>
              <a:t>https://arxiv.org/abs/2408.10343</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[5] D. Hendrycks, C. Burns, A. Chen and S. Ball, “CUAD: An Expert-Annotated NLP Dataset for Legal Contract Review,” </a:t>
            </a:r>
            <a:r>
              <a:rPr lang="en-IN" i="1" dirty="0" err="1">
                <a:latin typeface="Times New Roman" panose="02020603050405020304" pitchFamily="18" charset="0"/>
                <a:cs typeface="Times New Roman" panose="02020603050405020304" pitchFamily="18" charset="0"/>
              </a:rPr>
              <a:t>arXiv</a:t>
            </a:r>
            <a:r>
              <a:rPr lang="en-IN" i="1" dirty="0">
                <a:latin typeface="Times New Roman" panose="02020603050405020304" pitchFamily="18" charset="0"/>
                <a:cs typeface="Times New Roman" panose="02020603050405020304" pitchFamily="18" charset="0"/>
              </a:rPr>
              <a:t> preprint</a:t>
            </a:r>
            <a:r>
              <a:rPr lang="en-IN" dirty="0">
                <a:latin typeface="Times New Roman" panose="02020603050405020304" pitchFamily="18" charset="0"/>
                <a:cs typeface="Times New Roman" panose="02020603050405020304" pitchFamily="18" charset="0"/>
              </a:rPr>
              <a:t>, arXiv:2103.06268, 2021, </a:t>
            </a:r>
            <a:r>
              <a:rPr lang="en-IN" dirty="0">
                <a:latin typeface="Times New Roman" panose="02020603050405020304" pitchFamily="18" charset="0"/>
                <a:cs typeface="Times New Roman" panose="02020603050405020304" pitchFamily="18" charset="0"/>
                <a:hlinkClick r:id="rId6"/>
              </a:rPr>
              <a:t>https://arxiv.org/abs/2103.06268</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5270434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15DBC-044B-8080-ADD0-6D88CEA4D90F}"/>
            </a:ext>
          </a:extLst>
        </p:cNvPr>
        <p:cNvGrpSpPr/>
        <p:nvPr/>
      </p:nvGrpSpPr>
      <p:grpSpPr>
        <a:xfrm>
          <a:off x="0" y="0"/>
          <a:ext cx="0" cy="0"/>
          <a:chOff x="0" y="0"/>
          <a:chExt cx="0" cy="0"/>
        </a:xfrm>
      </p:grpSpPr>
      <p:sp>
        <p:nvSpPr>
          <p:cNvPr id="3" name="Google Shape;55;p13">
            <a:extLst>
              <a:ext uri="{FF2B5EF4-FFF2-40B4-BE49-F238E27FC236}">
                <a16:creationId xmlns:a16="http://schemas.microsoft.com/office/drawing/2014/main" id="{EB588134-2D16-6C21-E5A7-31F9AA23454E}"/>
              </a:ext>
            </a:extLst>
          </p:cNvPr>
          <p:cNvSpPr txBox="1">
            <a:spLocks/>
          </p:cNvSpPr>
          <p:nvPr/>
        </p:nvSpPr>
        <p:spPr>
          <a:xfrm>
            <a:off x="0" y="-173421"/>
            <a:ext cx="9144000" cy="955342"/>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3200" b="1" dirty="0">
                <a:latin typeface="Times New Roman" panose="02020603050405020304" pitchFamily="18" charset="0"/>
                <a:cs typeface="Times New Roman" panose="02020603050405020304" pitchFamily="18" charset="0"/>
              </a:rPr>
              <a:t>References</a:t>
            </a:r>
          </a:p>
        </p:txBody>
      </p:sp>
      <p:sp>
        <p:nvSpPr>
          <p:cNvPr id="5" name="Rectangle 4">
            <a:extLst>
              <a:ext uri="{FF2B5EF4-FFF2-40B4-BE49-F238E27FC236}">
                <a16:creationId xmlns:a16="http://schemas.microsoft.com/office/drawing/2014/main" id="{2D371DFB-FC41-070D-6532-8F63F3261693}"/>
              </a:ext>
            </a:extLst>
          </p:cNvPr>
          <p:cNvSpPr/>
          <p:nvPr/>
        </p:nvSpPr>
        <p:spPr>
          <a:xfrm>
            <a:off x="229914" y="586591"/>
            <a:ext cx="8684172" cy="3970318"/>
          </a:xfrm>
          <a:prstGeom prst="rect">
            <a:avLst/>
          </a:prstGeom>
        </p:spPr>
        <p:txBody>
          <a:bodyPr wrap="square">
            <a:spAutoFit/>
          </a:bodyPr>
          <a:lstStyle/>
          <a:p>
            <a:r>
              <a:rPr lang="en-IN" dirty="0">
                <a:latin typeface="Times New Roman" panose="02020603050405020304" pitchFamily="18" charset="0"/>
                <a:cs typeface="Times New Roman" panose="02020603050405020304" pitchFamily="18" charset="0"/>
              </a:rPr>
              <a:t>[6] Y. </a:t>
            </a:r>
            <a:r>
              <a:rPr lang="en-IN" dirty="0" err="1">
                <a:latin typeface="Times New Roman" panose="02020603050405020304" pitchFamily="18" charset="0"/>
                <a:cs typeface="Times New Roman" panose="02020603050405020304" pitchFamily="18" charset="0"/>
              </a:rPr>
              <a:t>Koreeda</a:t>
            </a:r>
            <a:r>
              <a:rPr lang="en-IN" dirty="0">
                <a:latin typeface="Times New Roman" panose="02020603050405020304" pitchFamily="18" charset="0"/>
                <a:cs typeface="Times New Roman" panose="02020603050405020304" pitchFamily="18" charset="0"/>
              </a:rPr>
              <a:t> and C. D. Manning, “</a:t>
            </a:r>
            <a:r>
              <a:rPr lang="en-IN" dirty="0" err="1">
                <a:latin typeface="Times New Roman" panose="02020603050405020304" pitchFamily="18" charset="0"/>
                <a:cs typeface="Times New Roman" panose="02020603050405020304" pitchFamily="18" charset="0"/>
              </a:rPr>
              <a:t>ContractNLI</a:t>
            </a:r>
            <a:r>
              <a:rPr lang="en-IN" dirty="0">
                <a:latin typeface="Times New Roman" panose="02020603050405020304" pitchFamily="18" charset="0"/>
                <a:cs typeface="Times New Roman" panose="02020603050405020304" pitchFamily="18" charset="0"/>
              </a:rPr>
              <a:t>: A Dataset for Document-Level Natural Language Inference for Contracts,” </a:t>
            </a:r>
            <a:r>
              <a:rPr lang="en-IN" i="1" dirty="0">
                <a:latin typeface="Times New Roman" panose="02020603050405020304" pitchFamily="18" charset="0"/>
                <a:cs typeface="Times New Roman" panose="02020603050405020304" pitchFamily="18" charset="0"/>
              </a:rPr>
              <a:t>Findings of the Association for Computational Linguistics: ACL-IJCNLP</a:t>
            </a:r>
            <a:r>
              <a:rPr lang="en-IN" dirty="0">
                <a:latin typeface="Times New Roman" panose="02020603050405020304" pitchFamily="18" charset="0"/>
                <a:cs typeface="Times New Roman" panose="02020603050405020304" pitchFamily="18" charset="0"/>
              </a:rPr>
              <a:t>, 2021, </a:t>
            </a:r>
            <a:r>
              <a:rPr lang="en-IN" dirty="0">
                <a:latin typeface="Times New Roman" panose="02020603050405020304" pitchFamily="18" charset="0"/>
                <a:cs typeface="Times New Roman" panose="02020603050405020304" pitchFamily="18" charset="0"/>
                <a:hlinkClick r:id="rId2"/>
              </a:rPr>
              <a:t>https://arxiv.org/abs/2106.01869</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[7] S. H. Wang, A. </a:t>
            </a:r>
            <a:r>
              <a:rPr lang="en-IN" dirty="0" err="1">
                <a:latin typeface="Times New Roman" panose="02020603050405020304" pitchFamily="18" charset="0"/>
                <a:cs typeface="Times New Roman" panose="02020603050405020304" pitchFamily="18" charset="0"/>
              </a:rPr>
              <a:t>Scardigli</a:t>
            </a:r>
            <a:r>
              <a:rPr lang="en-IN" dirty="0">
                <a:latin typeface="Times New Roman" panose="02020603050405020304" pitchFamily="18" charset="0"/>
                <a:cs typeface="Times New Roman" panose="02020603050405020304" pitchFamily="18" charset="0"/>
              </a:rPr>
              <a:t>, L. Tang </a:t>
            </a:r>
            <a:r>
              <a:rPr lang="en-IN" i="1" dirty="0">
                <a:latin typeface="Times New Roman" panose="02020603050405020304" pitchFamily="18" charset="0"/>
                <a:cs typeface="Times New Roman" panose="02020603050405020304" pitchFamily="18" charset="0"/>
              </a:rPr>
              <a:t>et al</a:t>
            </a:r>
            <a:r>
              <a:rPr lang="en-IN" dirty="0">
                <a:latin typeface="Times New Roman" panose="02020603050405020304" pitchFamily="18" charset="0"/>
                <a:cs typeface="Times New Roman" panose="02020603050405020304" pitchFamily="18" charset="0"/>
              </a:rPr>
              <a:t>., “MAUD: An Expert-Annotated Legal NLP Dataset for Merger Agreement Understanding,” </a:t>
            </a:r>
            <a:r>
              <a:rPr lang="en-IN" i="1" dirty="0" err="1">
                <a:latin typeface="Times New Roman" panose="02020603050405020304" pitchFamily="18" charset="0"/>
                <a:cs typeface="Times New Roman" panose="02020603050405020304" pitchFamily="18" charset="0"/>
              </a:rPr>
              <a:t>NeurIPS</a:t>
            </a:r>
            <a:r>
              <a:rPr lang="en-IN" i="1" dirty="0">
                <a:latin typeface="Times New Roman" panose="02020603050405020304" pitchFamily="18" charset="0"/>
                <a:cs typeface="Times New Roman" panose="02020603050405020304" pitchFamily="18" charset="0"/>
              </a:rPr>
              <a:t> Datasets and Benchmarks Track</a:t>
            </a:r>
            <a:r>
              <a:rPr lang="en-IN" dirty="0">
                <a:latin typeface="Times New Roman" panose="02020603050405020304" pitchFamily="18" charset="0"/>
                <a:cs typeface="Times New Roman" panose="02020603050405020304" pitchFamily="18" charset="0"/>
              </a:rPr>
              <a:t>, 2021, </a:t>
            </a:r>
            <a:r>
              <a:rPr lang="en-IN" dirty="0">
                <a:latin typeface="Times New Roman" panose="02020603050405020304" pitchFamily="18" charset="0"/>
                <a:cs typeface="Times New Roman" panose="02020603050405020304" pitchFamily="18" charset="0"/>
                <a:hlinkClick r:id="rId3"/>
              </a:rPr>
              <a:t>https://arxiv.org/abs/2101.00859</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[8] I. Chalkidis, A. Jana, D. Hartung </a:t>
            </a:r>
            <a:r>
              <a:rPr lang="en-IN" i="1" dirty="0">
                <a:latin typeface="Times New Roman" panose="02020603050405020304" pitchFamily="18" charset="0"/>
                <a:cs typeface="Times New Roman" panose="02020603050405020304" pitchFamily="18" charset="0"/>
              </a:rPr>
              <a:t>et al</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LexGLUE</a:t>
            </a:r>
            <a:r>
              <a:rPr lang="en-IN" dirty="0">
                <a:latin typeface="Times New Roman" panose="02020603050405020304" pitchFamily="18" charset="0"/>
                <a:cs typeface="Times New Roman" panose="02020603050405020304" pitchFamily="18" charset="0"/>
              </a:rPr>
              <a:t>: A Benchmark Dataset for Legal Language Understanding in English,” </a:t>
            </a:r>
            <a:r>
              <a:rPr lang="en-IN" i="1" dirty="0">
                <a:latin typeface="Times New Roman" panose="02020603050405020304" pitchFamily="18" charset="0"/>
                <a:cs typeface="Times New Roman" panose="02020603050405020304" pitchFamily="18" charset="0"/>
              </a:rPr>
              <a:t>Proceedings of the 60th Annual Meeting of the Association for Computational Linguistics (ACL)</a:t>
            </a:r>
            <a:r>
              <a:rPr lang="en-IN" dirty="0">
                <a:latin typeface="Times New Roman" panose="02020603050405020304" pitchFamily="18" charset="0"/>
                <a:cs typeface="Times New Roman" panose="02020603050405020304" pitchFamily="18" charset="0"/>
              </a:rPr>
              <a:t>, 2022, </a:t>
            </a:r>
            <a:r>
              <a:rPr lang="en-IN" dirty="0">
                <a:latin typeface="Times New Roman" panose="02020603050405020304" pitchFamily="18" charset="0"/>
                <a:cs typeface="Times New Roman" panose="02020603050405020304" pitchFamily="18" charset="0"/>
                <a:hlinkClick r:id="rId4"/>
              </a:rPr>
              <a:t>https://arxiv.org/abs/2110.00976</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[9] D. </a:t>
            </a:r>
            <a:r>
              <a:rPr lang="en-IN" dirty="0" err="1">
                <a:latin typeface="Times New Roman" panose="02020603050405020304" pitchFamily="18" charset="0"/>
                <a:cs typeface="Times New Roman" panose="02020603050405020304" pitchFamily="18" charset="0"/>
              </a:rPr>
              <a:t>Tuggener</a:t>
            </a:r>
            <a:r>
              <a:rPr lang="en-IN" dirty="0">
                <a:latin typeface="Times New Roman" panose="02020603050405020304" pitchFamily="18" charset="0"/>
                <a:cs typeface="Times New Roman" panose="02020603050405020304" pitchFamily="18" charset="0"/>
              </a:rPr>
              <a:t>, P. von </a:t>
            </a:r>
            <a:r>
              <a:rPr lang="en-IN" dirty="0" err="1">
                <a:latin typeface="Times New Roman" panose="02020603050405020304" pitchFamily="18" charset="0"/>
                <a:cs typeface="Times New Roman" panose="02020603050405020304" pitchFamily="18" charset="0"/>
              </a:rPr>
              <a:t>Däniken</a:t>
            </a:r>
            <a:r>
              <a:rPr lang="en-IN" dirty="0">
                <a:latin typeface="Times New Roman" panose="02020603050405020304" pitchFamily="18" charset="0"/>
                <a:cs typeface="Times New Roman" panose="02020603050405020304" pitchFamily="18" charset="0"/>
              </a:rPr>
              <a:t>, T. Peetz and M. </a:t>
            </a:r>
            <a:r>
              <a:rPr lang="en-IN" dirty="0" err="1">
                <a:latin typeface="Times New Roman" panose="02020603050405020304" pitchFamily="18" charset="0"/>
                <a:cs typeface="Times New Roman" panose="02020603050405020304" pitchFamily="18" charset="0"/>
              </a:rPr>
              <a:t>Cieliebak</a:t>
            </a:r>
            <a:r>
              <a:rPr lang="en-IN" dirty="0">
                <a:latin typeface="Times New Roman" panose="02020603050405020304" pitchFamily="18" charset="0"/>
                <a:cs typeface="Times New Roman" panose="02020603050405020304" pitchFamily="18" charset="0"/>
              </a:rPr>
              <a:t>, “LEDGAR: A Large-Scale Multilabel Corpus for Text Classification of Legal Provisions in Contracts,” </a:t>
            </a:r>
            <a:r>
              <a:rPr lang="en-IN" i="1" dirty="0">
                <a:latin typeface="Times New Roman" panose="02020603050405020304" pitchFamily="18" charset="0"/>
                <a:cs typeface="Times New Roman" panose="02020603050405020304" pitchFamily="18" charset="0"/>
              </a:rPr>
              <a:t>Proceedings of the Language Resources and Evaluation Conference (LREC)</a:t>
            </a:r>
            <a:r>
              <a:rPr lang="en-IN" dirty="0">
                <a:latin typeface="Times New Roman" panose="02020603050405020304" pitchFamily="18" charset="0"/>
                <a:cs typeface="Times New Roman" panose="02020603050405020304" pitchFamily="18" charset="0"/>
              </a:rPr>
              <a:t>, pp. 1235–1241, 2020, </a:t>
            </a:r>
            <a:r>
              <a:rPr lang="en-IN" dirty="0">
                <a:latin typeface="Times New Roman" panose="02020603050405020304" pitchFamily="18" charset="0"/>
                <a:cs typeface="Times New Roman" panose="02020603050405020304" pitchFamily="18" charset="0"/>
                <a:hlinkClick r:id="rId5"/>
              </a:rPr>
              <a:t>https://aclanthology.org/2020.lrec-1.155/</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[10] L. Zheng, N. Guha, B. R. Anderson </a:t>
            </a:r>
            <a:r>
              <a:rPr lang="en-IN" i="1" dirty="0">
                <a:latin typeface="Times New Roman" panose="02020603050405020304" pitchFamily="18" charset="0"/>
                <a:cs typeface="Times New Roman" panose="02020603050405020304" pitchFamily="18" charset="0"/>
              </a:rPr>
              <a:t>et al</a:t>
            </a:r>
            <a:r>
              <a:rPr lang="en-IN" dirty="0">
                <a:latin typeface="Times New Roman" panose="02020603050405020304" pitchFamily="18" charset="0"/>
                <a:cs typeface="Times New Roman" panose="02020603050405020304" pitchFamily="18" charset="0"/>
              </a:rPr>
              <a:t>., “When Does Pretraining Help? Assessing Self-Supervised Learning for Law and the </a:t>
            </a:r>
            <a:r>
              <a:rPr lang="en-IN" dirty="0" err="1">
                <a:latin typeface="Times New Roman" panose="02020603050405020304" pitchFamily="18" charset="0"/>
                <a:cs typeface="Times New Roman" panose="02020603050405020304" pitchFamily="18" charset="0"/>
              </a:rPr>
              <a:t>CaseHOLD</a:t>
            </a:r>
            <a:r>
              <a:rPr lang="en-IN" dirty="0">
                <a:latin typeface="Times New Roman" panose="02020603050405020304" pitchFamily="18" charset="0"/>
                <a:cs typeface="Times New Roman" panose="02020603050405020304" pitchFamily="18" charset="0"/>
              </a:rPr>
              <a:t> Dataset of 53,000+ Legal Holdings,” </a:t>
            </a:r>
            <a:r>
              <a:rPr lang="en-IN" i="1" dirty="0">
                <a:latin typeface="Times New Roman" panose="02020603050405020304" pitchFamily="18" charset="0"/>
                <a:cs typeface="Times New Roman" panose="02020603050405020304" pitchFamily="18" charset="0"/>
              </a:rPr>
              <a:t>Proceedings of the International Conference on Artificial Intelligence and Law (ICAIL)</a:t>
            </a:r>
            <a:r>
              <a:rPr lang="en-IN" dirty="0">
                <a:latin typeface="Times New Roman" panose="02020603050405020304" pitchFamily="18" charset="0"/>
                <a:cs typeface="Times New Roman" panose="02020603050405020304" pitchFamily="18" charset="0"/>
              </a:rPr>
              <a:t>, 2021, </a:t>
            </a:r>
            <a:r>
              <a:rPr lang="en-IN" dirty="0">
                <a:latin typeface="Times New Roman" panose="02020603050405020304" pitchFamily="18" charset="0"/>
                <a:cs typeface="Times New Roman" panose="02020603050405020304" pitchFamily="18" charset="0"/>
                <a:hlinkClick r:id="rId6"/>
              </a:rPr>
              <a:t>https://arxiv.org/abs/2104.08671</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863753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2A932A-C995-AE75-F7B5-A61DEBB4E8A1}"/>
            </a:ext>
          </a:extLst>
        </p:cNvPr>
        <p:cNvGrpSpPr/>
        <p:nvPr/>
      </p:nvGrpSpPr>
      <p:grpSpPr>
        <a:xfrm>
          <a:off x="0" y="0"/>
          <a:ext cx="0" cy="0"/>
          <a:chOff x="0" y="0"/>
          <a:chExt cx="0" cy="0"/>
        </a:xfrm>
      </p:grpSpPr>
      <p:sp>
        <p:nvSpPr>
          <p:cNvPr id="3" name="Google Shape;55;p13">
            <a:extLst>
              <a:ext uri="{FF2B5EF4-FFF2-40B4-BE49-F238E27FC236}">
                <a16:creationId xmlns:a16="http://schemas.microsoft.com/office/drawing/2014/main" id="{391D2D30-9464-DBE9-157A-C438DCF83308}"/>
              </a:ext>
            </a:extLst>
          </p:cNvPr>
          <p:cNvSpPr txBox="1">
            <a:spLocks/>
          </p:cNvSpPr>
          <p:nvPr/>
        </p:nvSpPr>
        <p:spPr>
          <a:xfrm>
            <a:off x="0" y="-173421"/>
            <a:ext cx="9144000" cy="955342"/>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3200" b="1" dirty="0">
                <a:latin typeface="Times New Roman" panose="02020603050405020304" pitchFamily="18" charset="0"/>
                <a:cs typeface="Times New Roman" panose="02020603050405020304" pitchFamily="18" charset="0"/>
              </a:rPr>
              <a:t>References</a:t>
            </a:r>
          </a:p>
        </p:txBody>
      </p:sp>
      <p:sp>
        <p:nvSpPr>
          <p:cNvPr id="5" name="Rectangle 4">
            <a:extLst>
              <a:ext uri="{FF2B5EF4-FFF2-40B4-BE49-F238E27FC236}">
                <a16:creationId xmlns:a16="http://schemas.microsoft.com/office/drawing/2014/main" id="{259B8250-1B05-DEE5-BE59-8461149B6C20}"/>
              </a:ext>
            </a:extLst>
          </p:cNvPr>
          <p:cNvSpPr/>
          <p:nvPr/>
        </p:nvSpPr>
        <p:spPr>
          <a:xfrm>
            <a:off x="229914" y="881331"/>
            <a:ext cx="8684172" cy="3108543"/>
          </a:xfrm>
          <a:prstGeom prst="rect">
            <a:avLst/>
          </a:prstGeom>
        </p:spPr>
        <p:txBody>
          <a:bodyPr wrap="square">
            <a:spAutoFit/>
          </a:bodyPr>
          <a:lstStyle/>
          <a:p>
            <a:r>
              <a:rPr lang="en-IN" dirty="0">
                <a:latin typeface="Times New Roman" panose="02020603050405020304" pitchFamily="18" charset="0"/>
                <a:cs typeface="Times New Roman" panose="02020603050405020304" pitchFamily="18" charset="0"/>
              </a:rPr>
              <a:t>[11] Q. Wu, G. Bansal, J. Zhang </a:t>
            </a:r>
            <a:r>
              <a:rPr lang="en-IN" i="1" dirty="0">
                <a:latin typeface="Times New Roman" panose="02020603050405020304" pitchFamily="18" charset="0"/>
                <a:cs typeface="Times New Roman" panose="02020603050405020304" pitchFamily="18" charset="0"/>
              </a:rPr>
              <a:t>et al</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AutoGen</a:t>
            </a:r>
            <a:r>
              <a:rPr lang="en-IN" dirty="0">
                <a:latin typeface="Times New Roman" panose="02020603050405020304" pitchFamily="18" charset="0"/>
                <a:cs typeface="Times New Roman" panose="02020603050405020304" pitchFamily="18" charset="0"/>
              </a:rPr>
              <a:t>: Enabling Next-Gen LLM Applications via Multi-Agent Conversation,” </a:t>
            </a:r>
            <a:r>
              <a:rPr lang="en-IN" i="1" dirty="0" err="1">
                <a:latin typeface="Times New Roman" panose="02020603050405020304" pitchFamily="18" charset="0"/>
                <a:cs typeface="Times New Roman" panose="02020603050405020304" pitchFamily="18" charset="0"/>
              </a:rPr>
              <a:t>arXiv</a:t>
            </a:r>
            <a:r>
              <a:rPr lang="en-IN" i="1" dirty="0">
                <a:latin typeface="Times New Roman" panose="02020603050405020304" pitchFamily="18" charset="0"/>
                <a:cs typeface="Times New Roman" panose="02020603050405020304" pitchFamily="18" charset="0"/>
              </a:rPr>
              <a:t> preprint</a:t>
            </a:r>
            <a:r>
              <a:rPr lang="en-IN" dirty="0">
                <a:latin typeface="Times New Roman" panose="02020603050405020304" pitchFamily="18" charset="0"/>
                <a:cs typeface="Times New Roman" panose="02020603050405020304" pitchFamily="18" charset="0"/>
              </a:rPr>
              <a:t>, arXiv:2308.08155, 2023, </a:t>
            </a:r>
            <a:r>
              <a:rPr lang="en-IN" dirty="0">
                <a:latin typeface="Times New Roman" panose="02020603050405020304" pitchFamily="18" charset="0"/>
                <a:cs typeface="Times New Roman" panose="02020603050405020304" pitchFamily="18" charset="0"/>
                <a:hlinkClick r:id="rId2"/>
              </a:rPr>
              <a:t>https://arxiv.org/abs/2308.08155</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[12] G. Li, H. A. K. Hammoud, H. Itani </a:t>
            </a:r>
            <a:r>
              <a:rPr lang="en-IN" i="1" dirty="0">
                <a:latin typeface="Times New Roman" panose="02020603050405020304" pitchFamily="18" charset="0"/>
                <a:cs typeface="Times New Roman" panose="02020603050405020304" pitchFamily="18" charset="0"/>
              </a:rPr>
              <a:t>et al</a:t>
            </a:r>
            <a:r>
              <a:rPr lang="en-IN" dirty="0">
                <a:latin typeface="Times New Roman" panose="02020603050405020304" pitchFamily="18" charset="0"/>
                <a:cs typeface="Times New Roman" panose="02020603050405020304" pitchFamily="18" charset="0"/>
              </a:rPr>
              <a:t>., “CAMEL: Communicative Agents for ‘Mind’ Exploration of Large Language Model Society,” </a:t>
            </a:r>
            <a:r>
              <a:rPr lang="en-IN" i="1" dirty="0" err="1">
                <a:latin typeface="Times New Roman" panose="02020603050405020304" pitchFamily="18" charset="0"/>
                <a:cs typeface="Times New Roman" panose="02020603050405020304" pitchFamily="18" charset="0"/>
              </a:rPr>
              <a:t>arXiv</a:t>
            </a:r>
            <a:r>
              <a:rPr lang="en-IN" i="1" dirty="0">
                <a:latin typeface="Times New Roman" panose="02020603050405020304" pitchFamily="18" charset="0"/>
                <a:cs typeface="Times New Roman" panose="02020603050405020304" pitchFamily="18" charset="0"/>
              </a:rPr>
              <a:t> preprint</a:t>
            </a:r>
            <a:r>
              <a:rPr lang="en-IN" dirty="0">
                <a:latin typeface="Times New Roman" panose="02020603050405020304" pitchFamily="18" charset="0"/>
                <a:cs typeface="Times New Roman" panose="02020603050405020304" pitchFamily="18" charset="0"/>
              </a:rPr>
              <a:t>, arXiv:2303.17760, 2023, </a:t>
            </a:r>
            <a:r>
              <a:rPr lang="en-IN" dirty="0">
                <a:latin typeface="Times New Roman" panose="02020603050405020304" pitchFamily="18" charset="0"/>
                <a:cs typeface="Times New Roman" panose="02020603050405020304" pitchFamily="18" charset="0"/>
                <a:hlinkClick r:id="rId3"/>
              </a:rPr>
              <a:t>https://arxiv.org/abs/2303.17760</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[13] S. Hong, M. Zhuge, J. Chen </a:t>
            </a:r>
            <a:r>
              <a:rPr lang="en-IN" i="1" dirty="0">
                <a:latin typeface="Times New Roman" panose="02020603050405020304" pitchFamily="18" charset="0"/>
                <a:cs typeface="Times New Roman" panose="02020603050405020304" pitchFamily="18" charset="0"/>
              </a:rPr>
              <a:t>et al</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MetaGPT</a:t>
            </a:r>
            <a:r>
              <a:rPr lang="en-IN" dirty="0">
                <a:latin typeface="Times New Roman" panose="02020603050405020304" pitchFamily="18" charset="0"/>
                <a:cs typeface="Times New Roman" panose="02020603050405020304" pitchFamily="18" charset="0"/>
              </a:rPr>
              <a:t>: Meta Programming for A Multi-Agent Collaborative Framework,” </a:t>
            </a:r>
            <a:r>
              <a:rPr lang="en-IN" i="1" dirty="0">
                <a:latin typeface="Times New Roman" panose="02020603050405020304" pitchFamily="18" charset="0"/>
                <a:cs typeface="Times New Roman" panose="02020603050405020304" pitchFamily="18" charset="0"/>
              </a:rPr>
              <a:t>International Conference on Learning Representations (ICLR)</a:t>
            </a:r>
            <a:r>
              <a:rPr lang="en-IN" dirty="0">
                <a:latin typeface="Times New Roman" panose="02020603050405020304" pitchFamily="18" charset="0"/>
                <a:cs typeface="Times New Roman" panose="02020603050405020304" pitchFamily="18" charset="0"/>
              </a:rPr>
              <a:t>, 2024, </a:t>
            </a:r>
            <a:r>
              <a:rPr lang="en-IN" dirty="0">
                <a:latin typeface="Times New Roman" panose="02020603050405020304" pitchFamily="18" charset="0"/>
                <a:cs typeface="Times New Roman" panose="02020603050405020304" pitchFamily="18" charset="0"/>
                <a:hlinkClick r:id="rId4"/>
              </a:rPr>
              <a:t>https://arxiv.org/abs/2308.00352</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[14] S. Yao, J. Zhao, D. Yu </a:t>
            </a:r>
            <a:r>
              <a:rPr lang="en-IN" i="1" dirty="0">
                <a:latin typeface="Times New Roman" panose="02020603050405020304" pitchFamily="18" charset="0"/>
                <a:cs typeface="Times New Roman" panose="02020603050405020304" pitchFamily="18" charset="0"/>
              </a:rPr>
              <a:t>et al</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ReAct</a:t>
            </a:r>
            <a:r>
              <a:rPr lang="en-IN" dirty="0">
                <a:latin typeface="Times New Roman" panose="02020603050405020304" pitchFamily="18" charset="0"/>
                <a:cs typeface="Times New Roman" panose="02020603050405020304" pitchFamily="18" charset="0"/>
              </a:rPr>
              <a:t>: Synergizing Reasoning and Acting in Language Models,” </a:t>
            </a:r>
            <a:r>
              <a:rPr lang="en-IN" i="1" dirty="0">
                <a:latin typeface="Times New Roman" panose="02020603050405020304" pitchFamily="18" charset="0"/>
                <a:cs typeface="Times New Roman" panose="02020603050405020304" pitchFamily="18" charset="0"/>
              </a:rPr>
              <a:t>International Conference on Learning Representations (ICLR)</a:t>
            </a:r>
            <a:r>
              <a:rPr lang="en-IN" dirty="0">
                <a:latin typeface="Times New Roman" panose="02020603050405020304" pitchFamily="18" charset="0"/>
                <a:cs typeface="Times New Roman" panose="02020603050405020304" pitchFamily="18" charset="0"/>
              </a:rPr>
              <a:t>, 2023, </a:t>
            </a:r>
            <a:r>
              <a:rPr lang="en-IN" dirty="0">
                <a:latin typeface="Times New Roman" panose="02020603050405020304" pitchFamily="18" charset="0"/>
                <a:cs typeface="Times New Roman" panose="02020603050405020304" pitchFamily="18" charset="0"/>
                <a:hlinkClick r:id="rId5"/>
              </a:rPr>
              <a:t>https://arxiv.org/abs/2210.03629</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[15] N. Shinn, F. Cassano, E. Berman </a:t>
            </a:r>
            <a:r>
              <a:rPr lang="en-IN" i="1" dirty="0">
                <a:latin typeface="Times New Roman" panose="02020603050405020304" pitchFamily="18" charset="0"/>
                <a:cs typeface="Times New Roman" panose="02020603050405020304" pitchFamily="18" charset="0"/>
              </a:rPr>
              <a:t>et al</a:t>
            </a:r>
            <a:r>
              <a:rPr lang="en-IN" dirty="0">
                <a:latin typeface="Times New Roman" panose="02020603050405020304" pitchFamily="18" charset="0"/>
                <a:cs typeface="Times New Roman" panose="02020603050405020304" pitchFamily="18" charset="0"/>
              </a:rPr>
              <a:t>., “Reflexion: Language Agents with Verbal Reinforcement Learning,” </a:t>
            </a:r>
            <a:r>
              <a:rPr lang="en-IN" i="1" dirty="0">
                <a:latin typeface="Times New Roman" panose="02020603050405020304" pitchFamily="18" charset="0"/>
                <a:cs typeface="Times New Roman" panose="02020603050405020304" pitchFamily="18" charset="0"/>
              </a:rPr>
              <a:t>Advances in Neural Information Processing Systems (</a:t>
            </a:r>
            <a:r>
              <a:rPr lang="en-IN" i="1" dirty="0" err="1">
                <a:latin typeface="Times New Roman" panose="02020603050405020304" pitchFamily="18" charset="0"/>
                <a:cs typeface="Times New Roman" panose="02020603050405020304" pitchFamily="18" charset="0"/>
              </a:rPr>
              <a:t>NeurIPS</a:t>
            </a:r>
            <a:r>
              <a:rPr lang="en-IN" i="1" dirty="0">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 2023, </a:t>
            </a:r>
            <a:r>
              <a:rPr lang="en-IN" dirty="0">
                <a:latin typeface="Times New Roman" panose="02020603050405020304" pitchFamily="18" charset="0"/>
                <a:cs typeface="Times New Roman" panose="02020603050405020304" pitchFamily="18" charset="0"/>
                <a:hlinkClick r:id="rId6"/>
              </a:rPr>
              <a:t>https://arxiv.org/abs/2303.11366</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8259230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4A4C4-67E7-BC3F-C028-E48F6A5C8A91}"/>
            </a:ext>
          </a:extLst>
        </p:cNvPr>
        <p:cNvGrpSpPr/>
        <p:nvPr/>
      </p:nvGrpSpPr>
      <p:grpSpPr>
        <a:xfrm>
          <a:off x="0" y="0"/>
          <a:ext cx="0" cy="0"/>
          <a:chOff x="0" y="0"/>
          <a:chExt cx="0" cy="0"/>
        </a:xfrm>
      </p:grpSpPr>
      <p:sp>
        <p:nvSpPr>
          <p:cNvPr id="3" name="Google Shape;55;p13">
            <a:extLst>
              <a:ext uri="{FF2B5EF4-FFF2-40B4-BE49-F238E27FC236}">
                <a16:creationId xmlns:a16="http://schemas.microsoft.com/office/drawing/2014/main" id="{C67871CD-6D06-DE18-0B04-438412BCF198}"/>
              </a:ext>
            </a:extLst>
          </p:cNvPr>
          <p:cNvSpPr txBox="1">
            <a:spLocks/>
          </p:cNvSpPr>
          <p:nvPr/>
        </p:nvSpPr>
        <p:spPr>
          <a:xfrm>
            <a:off x="0" y="-173421"/>
            <a:ext cx="9144000" cy="955342"/>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3200" b="1" dirty="0">
                <a:latin typeface="Times New Roman" panose="02020603050405020304" pitchFamily="18" charset="0"/>
                <a:cs typeface="Times New Roman" panose="02020603050405020304" pitchFamily="18" charset="0"/>
              </a:rPr>
              <a:t>References</a:t>
            </a:r>
          </a:p>
        </p:txBody>
      </p:sp>
      <p:sp>
        <p:nvSpPr>
          <p:cNvPr id="5" name="Rectangle 4">
            <a:extLst>
              <a:ext uri="{FF2B5EF4-FFF2-40B4-BE49-F238E27FC236}">
                <a16:creationId xmlns:a16="http://schemas.microsoft.com/office/drawing/2014/main" id="{EA64297E-426A-0681-7D99-11E65E463E68}"/>
              </a:ext>
            </a:extLst>
          </p:cNvPr>
          <p:cNvSpPr/>
          <p:nvPr/>
        </p:nvSpPr>
        <p:spPr>
          <a:xfrm>
            <a:off x="229914" y="657811"/>
            <a:ext cx="8684172" cy="3323987"/>
          </a:xfrm>
          <a:prstGeom prst="rect">
            <a:avLst/>
          </a:prstGeom>
        </p:spPr>
        <p:txBody>
          <a:bodyPr wrap="square">
            <a:spAutoFit/>
          </a:bodyPr>
          <a:lstStyle/>
          <a:p>
            <a:r>
              <a:rPr lang="en-IN" dirty="0">
                <a:latin typeface="Times New Roman" panose="02020603050405020304" pitchFamily="18" charset="0"/>
                <a:cs typeface="Times New Roman" panose="02020603050405020304" pitchFamily="18" charset="0"/>
              </a:rPr>
              <a:t>[16] A. Asai, Z. Wu, Y. Wang </a:t>
            </a:r>
            <a:r>
              <a:rPr lang="en-IN" i="1" dirty="0">
                <a:latin typeface="Times New Roman" panose="02020603050405020304" pitchFamily="18" charset="0"/>
                <a:cs typeface="Times New Roman" panose="02020603050405020304" pitchFamily="18" charset="0"/>
              </a:rPr>
              <a:t>et al</a:t>
            </a:r>
            <a:r>
              <a:rPr lang="en-IN" dirty="0">
                <a:latin typeface="Times New Roman" panose="02020603050405020304" pitchFamily="18" charset="0"/>
                <a:cs typeface="Times New Roman" panose="02020603050405020304" pitchFamily="18" charset="0"/>
              </a:rPr>
              <a:t>., “SELF-RAG: Learning to Retrieve, Generate, and Critique through Self-Reflection,” </a:t>
            </a:r>
            <a:r>
              <a:rPr lang="en-IN" i="1" dirty="0">
                <a:latin typeface="Times New Roman" panose="02020603050405020304" pitchFamily="18" charset="0"/>
                <a:cs typeface="Times New Roman" panose="02020603050405020304" pitchFamily="18" charset="0"/>
              </a:rPr>
              <a:t>International Conference on Learning Representations (ICLR)</a:t>
            </a:r>
            <a:r>
              <a:rPr lang="en-IN" dirty="0">
                <a:latin typeface="Times New Roman" panose="02020603050405020304" pitchFamily="18" charset="0"/>
                <a:cs typeface="Times New Roman" panose="02020603050405020304" pitchFamily="18" charset="0"/>
              </a:rPr>
              <a:t>, 2024, </a:t>
            </a:r>
            <a:r>
              <a:rPr lang="en-IN" dirty="0">
                <a:latin typeface="Times New Roman" panose="02020603050405020304" pitchFamily="18" charset="0"/>
                <a:cs typeface="Times New Roman" panose="02020603050405020304" pitchFamily="18" charset="0"/>
                <a:hlinkClick r:id="rId2"/>
              </a:rPr>
              <a:t>https://arxiv.org/abs/2310.11511</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[17] S.-Q. Yan, J.-C. Gu, Y. Zhu and Z.-H. Ling, “Corrective Retrieval-Augmented Generation,” </a:t>
            </a:r>
            <a:r>
              <a:rPr lang="en-IN" i="1" dirty="0" err="1">
                <a:latin typeface="Times New Roman" panose="02020603050405020304" pitchFamily="18" charset="0"/>
                <a:cs typeface="Times New Roman" panose="02020603050405020304" pitchFamily="18" charset="0"/>
              </a:rPr>
              <a:t>arXiv</a:t>
            </a:r>
            <a:r>
              <a:rPr lang="en-IN" i="1" dirty="0">
                <a:latin typeface="Times New Roman" panose="02020603050405020304" pitchFamily="18" charset="0"/>
                <a:cs typeface="Times New Roman" panose="02020603050405020304" pitchFamily="18" charset="0"/>
              </a:rPr>
              <a:t> preprint</a:t>
            </a:r>
            <a:r>
              <a:rPr lang="en-IN" dirty="0">
                <a:latin typeface="Times New Roman" panose="02020603050405020304" pitchFamily="18" charset="0"/>
                <a:cs typeface="Times New Roman" panose="02020603050405020304" pitchFamily="18" charset="0"/>
              </a:rPr>
              <a:t>, arXiv:2401.15884, 2024, </a:t>
            </a:r>
            <a:r>
              <a:rPr lang="en-IN" dirty="0">
                <a:latin typeface="Times New Roman" panose="02020603050405020304" pitchFamily="18" charset="0"/>
                <a:cs typeface="Times New Roman" panose="02020603050405020304" pitchFamily="18" charset="0"/>
                <a:hlinkClick r:id="rId3"/>
              </a:rPr>
              <a:t>https://arxiv.org/abs/2401.15884</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[18] P. </a:t>
            </a:r>
            <a:r>
              <a:rPr lang="en-IN" dirty="0" err="1">
                <a:latin typeface="Times New Roman" panose="02020603050405020304" pitchFamily="18" charset="0"/>
                <a:cs typeface="Times New Roman" panose="02020603050405020304" pitchFamily="18" charset="0"/>
              </a:rPr>
              <a:t>Sarthi</a:t>
            </a:r>
            <a:r>
              <a:rPr lang="en-IN" dirty="0">
                <a:latin typeface="Times New Roman" panose="02020603050405020304" pitchFamily="18" charset="0"/>
                <a:cs typeface="Times New Roman" panose="02020603050405020304" pitchFamily="18" charset="0"/>
              </a:rPr>
              <a:t>, S. Abdullah, A. Tuli </a:t>
            </a:r>
            <a:r>
              <a:rPr lang="en-IN" i="1" dirty="0">
                <a:latin typeface="Times New Roman" panose="02020603050405020304" pitchFamily="18" charset="0"/>
                <a:cs typeface="Times New Roman" panose="02020603050405020304" pitchFamily="18" charset="0"/>
              </a:rPr>
              <a:t>et al</a:t>
            </a:r>
            <a:r>
              <a:rPr lang="en-IN" dirty="0">
                <a:latin typeface="Times New Roman" panose="02020603050405020304" pitchFamily="18" charset="0"/>
                <a:cs typeface="Times New Roman" panose="02020603050405020304" pitchFamily="18" charset="0"/>
              </a:rPr>
              <a:t>., “RAPTOR: Recursive Abstractive Processing for Tree-Organized Retrieval,” </a:t>
            </a:r>
            <a:r>
              <a:rPr lang="en-IN" i="1" dirty="0">
                <a:latin typeface="Times New Roman" panose="02020603050405020304" pitchFamily="18" charset="0"/>
                <a:cs typeface="Times New Roman" panose="02020603050405020304" pitchFamily="18" charset="0"/>
              </a:rPr>
              <a:t>International Conference on Learning Representations (ICLR)</a:t>
            </a:r>
            <a:r>
              <a:rPr lang="en-IN" dirty="0">
                <a:latin typeface="Times New Roman" panose="02020603050405020304" pitchFamily="18" charset="0"/>
                <a:cs typeface="Times New Roman" panose="02020603050405020304" pitchFamily="18" charset="0"/>
              </a:rPr>
              <a:t>, 2024, </a:t>
            </a:r>
            <a:r>
              <a:rPr lang="en-IN" dirty="0">
                <a:latin typeface="Times New Roman" panose="02020603050405020304" pitchFamily="18" charset="0"/>
                <a:cs typeface="Times New Roman" panose="02020603050405020304" pitchFamily="18" charset="0"/>
                <a:hlinkClick r:id="rId4"/>
              </a:rPr>
              <a:t>https://arxiv.org/abs/2401.18059</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[19] A. Barredo Arrieta, N. Díaz-Rodríguez, J. Del Ser </a:t>
            </a:r>
            <a:r>
              <a:rPr lang="en-IN" i="1" dirty="0">
                <a:latin typeface="Times New Roman" panose="02020603050405020304" pitchFamily="18" charset="0"/>
                <a:cs typeface="Times New Roman" panose="02020603050405020304" pitchFamily="18" charset="0"/>
              </a:rPr>
              <a:t>et al</a:t>
            </a:r>
            <a:r>
              <a:rPr lang="en-IN" dirty="0">
                <a:latin typeface="Times New Roman" panose="02020603050405020304" pitchFamily="18" charset="0"/>
                <a:cs typeface="Times New Roman" panose="02020603050405020304" pitchFamily="18" charset="0"/>
              </a:rPr>
              <a:t>., “Explainable Artificial Intelligence (XAI): Concepts, Taxonomies, Opportunities and Challenges toward Responsible AI,” </a:t>
            </a:r>
            <a:r>
              <a:rPr lang="en-IN" i="1" dirty="0">
                <a:latin typeface="Times New Roman" panose="02020603050405020304" pitchFamily="18" charset="0"/>
                <a:cs typeface="Times New Roman" panose="02020603050405020304" pitchFamily="18" charset="0"/>
              </a:rPr>
              <a:t>Information Fusion</a:t>
            </a:r>
            <a:r>
              <a:rPr lang="en-IN" dirty="0">
                <a:latin typeface="Times New Roman" panose="02020603050405020304" pitchFamily="18" charset="0"/>
                <a:cs typeface="Times New Roman" panose="02020603050405020304" pitchFamily="18" charset="0"/>
              </a:rPr>
              <a:t>, vol. 58, pp. 82–115, 2020, </a:t>
            </a:r>
            <a:r>
              <a:rPr lang="en-IN" dirty="0">
                <a:latin typeface="Times New Roman" panose="02020603050405020304" pitchFamily="18" charset="0"/>
                <a:cs typeface="Times New Roman" panose="02020603050405020304" pitchFamily="18" charset="0"/>
                <a:hlinkClick r:id="rId5"/>
              </a:rPr>
              <a:t>https://arxiv.org/abs/1910.10045</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[20] F. Doshi-Velez and B. Kim, “Towards A Rigorous Science of Interpretable Machine Learning,” </a:t>
            </a:r>
            <a:r>
              <a:rPr lang="en-IN" i="1" dirty="0" err="1">
                <a:latin typeface="Times New Roman" panose="02020603050405020304" pitchFamily="18" charset="0"/>
                <a:cs typeface="Times New Roman" panose="02020603050405020304" pitchFamily="18" charset="0"/>
              </a:rPr>
              <a:t>arXiv</a:t>
            </a:r>
            <a:r>
              <a:rPr lang="en-IN" i="1" dirty="0">
                <a:latin typeface="Times New Roman" panose="02020603050405020304" pitchFamily="18" charset="0"/>
                <a:cs typeface="Times New Roman" panose="02020603050405020304" pitchFamily="18" charset="0"/>
              </a:rPr>
              <a:t> preprint</a:t>
            </a:r>
            <a:r>
              <a:rPr lang="en-IN" dirty="0">
                <a:latin typeface="Times New Roman" panose="02020603050405020304" pitchFamily="18" charset="0"/>
                <a:cs typeface="Times New Roman" panose="02020603050405020304" pitchFamily="18" charset="0"/>
              </a:rPr>
              <a:t>, arXiv:1702.08608, 2017, </a:t>
            </a:r>
            <a:r>
              <a:rPr lang="en-IN" dirty="0">
                <a:latin typeface="Times New Roman" panose="02020603050405020304" pitchFamily="18" charset="0"/>
                <a:cs typeface="Times New Roman" panose="02020603050405020304" pitchFamily="18" charset="0"/>
                <a:hlinkClick r:id="rId6"/>
              </a:rPr>
              <a:t>https://arxiv.org/abs/1702.08608</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9763190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1AFF59-787F-3BF9-7BA6-89455D7E4A1E}"/>
            </a:ext>
          </a:extLst>
        </p:cNvPr>
        <p:cNvGrpSpPr/>
        <p:nvPr/>
      </p:nvGrpSpPr>
      <p:grpSpPr>
        <a:xfrm>
          <a:off x="0" y="0"/>
          <a:ext cx="0" cy="0"/>
          <a:chOff x="0" y="0"/>
          <a:chExt cx="0" cy="0"/>
        </a:xfrm>
      </p:grpSpPr>
      <p:sp>
        <p:nvSpPr>
          <p:cNvPr id="3" name="Google Shape;55;p13">
            <a:extLst>
              <a:ext uri="{FF2B5EF4-FFF2-40B4-BE49-F238E27FC236}">
                <a16:creationId xmlns:a16="http://schemas.microsoft.com/office/drawing/2014/main" id="{9FE6924E-4589-A73A-DB03-0977D757A82E}"/>
              </a:ext>
            </a:extLst>
          </p:cNvPr>
          <p:cNvSpPr txBox="1">
            <a:spLocks/>
          </p:cNvSpPr>
          <p:nvPr/>
        </p:nvSpPr>
        <p:spPr>
          <a:xfrm>
            <a:off x="0" y="-173421"/>
            <a:ext cx="9144000" cy="955342"/>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3200" b="1" dirty="0">
                <a:latin typeface="Times New Roman" panose="02020603050405020304" pitchFamily="18" charset="0"/>
                <a:cs typeface="Times New Roman" panose="02020603050405020304" pitchFamily="18" charset="0"/>
              </a:rPr>
              <a:t>References</a:t>
            </a:r>
          </a:p>
        </p:txBody>
      </p:sp>
      <p:sp>
        <p:nvSpPr>
          <p:cNvPr id="5" name="Rectangle 4">
            <a:extLst>
              <a:ext uri="{FF2B5EF4-FFF2-40B4-BE49-F238E27FC236}">
                <a16:creationId xmlns:a16="http://schemas.microsoft.com/office/drawing/2014/main" id="{5993A29F-2C8F-2FE9-7502-A0D6B5B5FC57}"/>
              </a:ext>
            </a:extLst>
          </p:cNvPr>
          <p:cNvSpPr/>
          <p:nvPr/>
        </p:nvSpPr>
        <p:spPr>
          <a:xfrm>
            <a:off x="229914" y="657811"/>
            <a:ext cx="8684172" cy="3754874"/>
          </a:xfrm>
          <a:prstGeom prst="rect">
            <a:avLst/>
          </a:prstGeom>
        </p:spPr>
        <p:txBody>
          <a:bodyPr wrap="square">
            <a:spAutoFit/>
          </a:bodyPr>
          <a:lstStyle/>
          <a:p>
            <a:r>
              <a:rPr lang="en-IN" dirty="0">
                <a:latin typeface="Times New Roman" panose="02020603050405020304" pitchFamily="18" charset="0"/>
                <a:cs typeface="Times New Roman" panose="02020603050405020304" pitchFamily="18" charset="0"/>
              </a:rPr>
              <a:t>[16] A. Asai, Z. Wu, Y. Wang </a:t>
            </a:r>
            <a:r>
              <a:rPr lang="en-IN" i="1" dirty="0">
                <a:latin typeface="Times New Roman" panose="02020603050405020304" pitchFamily="18" charset="0"/>
                <a:cs typeface="Times New Roman" panose="02020603050405020304" pitchFamily="18" charset="0"/>
              </a:rPr>
              <a:t>et al</a:t>
            </a:r>
            <a:r>
              <a:rPr lang="en-IN" dirty="0">
                <a:latin typeface="Times New Roman" panose="02020603050405020304" pitchFamily="18" charset="0"/>
                <a:cs typeface="Times New Roman" panose="02020603050405020304" pitchFamily="18" charset="0"/>
              </a:rPr>
              <a:t>., “SELF-RAG: Learning to Retrieve, Generate, and Critique through Self-Reflection,” </a:t>
            </a:r>
            <a:r>
              <a:rPr lang="en-IN" i="1" dirty="0">
                <a:latin typeface="Times New Roman" panose="02020603050405020304" pitchFamily="18" charset="0"/>
                <a:cs typeface="Times New Roman" panose="02020603050405020304" pitchFamily="18" charset="0"/>
              </a:rPr>
              <a:t>International Conference on Learning Representations (ICLR)</a:t>
            </a:r>
            <a:r>
              <a:rPr lang="en-IN" dirty="0">
                <a:latin typeface="Times New Roman" panose="02020603050405020304" pitchFamily="18" charset="0"/>
                <a:cs typeface="Times New Roman" panose="02020603050405020304" pitchFamily="18" charset="0"/>
              </a:rPr>
              <a:t>, 2024, </a:t>
            </a:r>
            <a:r>
              <a:rPr lang="en-IN" dirty="0">
                <a:latin typeface="Times New Roman" panose="02020603050405020304" pitchFamily="18" charset="0"/>
                <a:cs typeface="Times New Roman" panose="02020603050405020304" pitchFamily="18" charset="0"/>
                <a:hlinkClick r:id="rId2"/>
              </a:rPr>
              <a:t>https://arxiv.org/abs/2310.11511</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[17] S.-Q. Yan, J.-C. Gu, Y. Zhu and Z.-H. Ling, “Corrective Retrieval-Augmented Generation,” </a:t>
            </a:r>
            <a:r>
              <a:rPr lang="en-IN" i="1" dirty="0" err="1">
                <a:latin typeface="Times New Roman" panose="02020603050405020304" pitchFamily="18" charset="0"/>
                <a:cs typeface="Times New Roman" panose="02020603050405020304" pitchFamily="18" charset="0"/>
              </a:rPr>
              <a:t>arXiv</a:t>
            </a:r>
            <a:r>
              <a:rPr lang="en-IN" i="1" dirty="0">
                <a:latin typeface="Times New Roman" panose="02020603050405020304" pitchFamily="18" charset="0"/>
                <a:cs typeface="Times New Roman" panose="02020603050405020304" pitchFamily="18" charset="0"/>
              </a:rPr>
              <a:t> preprint</a:t>
            </a:r>
            <a:r>
              <a:rPr lang="en-IN" dirty="0">
                <a:latin typeface="Times New Roman" panose="02020603050405020304" pitchFamily="18" charset="0"/>
                <a:cs typeface="Times New Roman" panose="02020603050405020304" pitchFamily="18" charset="0"/>
              </a:rPr>
              <a:t>, arXiv:2401.15884, 2024, </a:t>
            </a:r>
            <a:r>
              <a:rPr lang="en-IN" dirty="0">
                <a:latin typeface="Times New Roman" panose="02020603050405020304" pitchFamily="18" charset="0"/>
                <a:cs typeface="Times New Roman" panose="02020603050405020304" pitchFamily="18" charset="0"/>
                <a:hlinkClick r:id="rId3"/>
              </a:rPr>
              <a:t>https://arxiv.org/abs/2401.15884</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[18] P. </a:t>
            </a:r>
            <a:r>
              <a:rPr lang="en-IN" dirty="0" err="1">
                <a:latin typeface="Times New Roman" panose="02020603050405020304" pitchFamily="18" charset="0"/>
                <a:cs typeface="Times New Roman" panose="02020603050405020304" pitchFamily="18" charset="0"/>
              </a:rPr>
              <a:t>Sarthi</a:t>
            </a:r>
            <a:r>
              <a:rPr lang="en-IN" dirty="0">
                <a:latin typeface="Times New Roman" panose="02020603050405020304" pitchFamily="18" charset="0"/>
                <a:cs typeface="Times New Roman" panose="02020603050405020304" pitchFamily="18" charset="0"/>
              </a:rPr>
              <a:t>, S. Abdullah, A. Tuli </a:t>
            </a:r>
            <a:r>
              <a:rPr lang="en-IN" i="1" dirty="0">
                <a:latin typeface="Times New Roman" panose="02020603050405020304" pitchFamily="18" charset="0"/>
                <a:cs typeface="Times New Roman" panose="02020603050405020304" pitchFamily="18" charset="0"/>
              </a:rPr>
              <a:t>et al</a:t>
            </a:r>
            <a:r>
              <a:rPr lang="en-IN" dirty="0">
                <a:latin typeface="Times New Roman" panose="02020603050405020304" pitchFamily="18" charset="0"/>
                <a:cs typeface="Times New Roman" panose="02020603050405020304" pitchFamily="18" charset="0"/>
              </a:rPr>
              <a:t>., “RAPTOR: Recursive Abstractive Processing for Tree-Organized Retrieval,” </a:t>
            </a:r>
            <a:r>
              <a:rPr lang="en-IN" i="1" dirty="0">
                <a:latin typeface="Times New Roman" panose="02020603050405020304" pitchFamily="18" charset="0"/>
                <a:cs typeface="Times New Roman" panose="02020603050405020304" pitchFamily="18" charset="0"/>
              </a:rPr>
              <a:t>International Conference on Learning Representations (ICLR)</a:t>
            </a:r>
            <a:r>
              <a:rPr lang="en-IN" dirty="0">
                <a:latin typeface="Times New Roman" panose="02020603050405020304" pitchFamily="18" charset="0"/>
                <a:cs typeface="Times New Roman" panose="02020603050405020304" pitchFamily="18" charset="0"/>
              </a:rPr>
              <a:t>, 2024, </a:t>
            </a:r>
            <a:r>
              <a:rPr lang="en-IN" dirty="0">
                <a:latin typeface="Times New Roman" panose="02020603050405020304" pitchFamily="18" charset="0"/>
                <a:cs typeface="Times New Roman" panose="02020603050405020304" pitchFamily="18" charset="0"/>
                <a:hlinkClick r:id="rId4"/>
              </a:rPr>
              <a:t>https://arxiv.org/abs/2401.18059</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[19] Z. Sun, K. Zhang, W. Yu, H. Wang and J. Xu, “Logic Rules as Explanations for Legal Case Retrieval,” </a:t>
            </a:r>
            <a:r>
              <a:rPr lang="en-IN" i="1" dirty="0">
                <a:latin typeface="Times New Roman" panose="02020603050405020304" pitchFamily="18" charset="0"/>
                <a:cs typeface="Times New Roman" panose="02020603050405020304" pitchFamily="18" charset="0"/>
              </a:rPr>
              <a:t>Proceedings of the 2024 Joint International Conference on Computational Linguistics, Language Resources and Evaluation (LREC-COLING)</a:t>
            </a:r>
            <a:r>
              <a:rPr lang="en-IN" dirty="0">
                <a:latin typeface="Times New Roman" panose="02020603050405020304" pitchFamily="18" charset="0"/>
                <a:cs typeface="Times New Roman" panose="02020603050405020304" pitchFamily="18" charset="0"/>
              </a:rPr>
              <a:t>, pp. 10747–10759, 2024, </a:t>
            </a:r>
            <a:r>
              <a:rPr lang="en-IN" dirty="0">
                <a:latin typeface="Times New Roman" panose="02020603050405020304" pitchFamily="18" charset="0"/>
                <a:cs typeface="Times New Roman" panose="02020603050405020304" pitchFamily="18" charset="0"/>
                <a:hlinkClick r:id="rId5"/>
              </a:rPr>
              <a:t>https://aclanthology.org/2024.lrec-main.939/</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[20] V. Malik, R. Sanjay, S. K. Nigam et al., “ILDC for CJPE: Indian Legal Documents Corpus for Court Judgment Prediction and Explanation,” </a:t>
            </a:r>
            <a:r>
              <a:rPr lang="en-IN" i="1" dirty="0">
                <a:latin typeface="Times New Roman" panose="02020603050405020304" pitchFamily="18" charset="0"/>
                <a:cs typeface="Times New Roman" panose="02020603050405020304" pitchFamily="18" charset="0"/>
              </a:rPr>
              <a:t>Proceedings of the 59th Annual Meeting of the Association for Computational Linguistics and the 11th International Joint Conference on Natural Language Processing (ACL-IJCNLP)</a:t>
            </a:r>
            <a:r>
              <a:rPr lang="en-IN" dirty="0">
                <a:latin typeface="Times New Roman" panose="02020603050405020304" pitchFamily="18" charset="0"/>
                <a:cs typeface="Times New Roman" panose="02020603050405020304" pitchFamily="18" charset="0"/>
              </a:rPr>
              <a:t>, pp. 4046–4062, 2021, </a:t>
            </a:r>
            <a:r>
              <a:rPr lang="en-IN" dirty="0">
                <a:latin typeface="Times New Roman" panose="02020603050405020304" pitchFamily="18" charset="0"/>
                <a:cs typeface="Times New Roman" panose="02020603050405020304" pitchFamily="18" charset="0"/>
                <a:hlinkClick r:id="rId6"/>
              </a:rPr>
              <a:t>https://aclanthology.org/2021.acl-long.313/</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2381793"/>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8282</TotalTime>
  <Words>7825</Words>
  <Application>Microsoft Office PowerPoint</Application>
  <PresentationFormat>On-screen Show (16:9)</PresentationFormat>
  <Paragraphs>707</Paragraphs>
  <Slides>51</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51</vt:i4>
      </vt:variant>
    </vt:vector>
  </HeadingPairs>
  <TitlesOfParts>
    <vt:vector size="56" baseType="lpstr">
      <vt:lpstr>Arial</vt:lpstr>
      <vt:lpstr>Calibri</vt:lpstr>
      <vt:lpstr>Times New Roman</vt:lpstr>
      <vt:lpstr>Times New Roman </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Gokaraju Rangaraju Institute of Engineering and Technology (Autonomous) Department of Artificial Intelligence and Machine Learning Engineering</dc:title>
  <dc:creator>OM</dc:creator>
  <cp:lastModifiedBy>jayanth gorijala</cp:lastModifiedBy>
  <cp:revision>152</cp:revision>
  <dcterms:modified xsi:type="dcterms:W3CDTF">2026-08-14T02:29:21Z</dcterms:modified>
</cp:coreProperties>
</file>